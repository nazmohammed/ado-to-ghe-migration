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framing. Today we are walking through the detailed Phase 1 plan to migrate 100 Azure DevOps repositories to GitHub Enterprise, keeping Boards and release pipelines in Azure DevOps. Key message: this is the lowest-risk path. We move code only, and we preserve the existing release investment.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what is in and out. In scope: 100 repos with full history, PRs, commits, LFS; MoJ Entra SSO + SCIM; rulesets replacing ADO branch policies; ADO Pipelines re-pointed at GitHub source; Azure Boards GitHub App for AB#123 linking. Deferred to Phase 2: anything that touches CI/CD or work-item migration. Headline numbers: 10 weeks, 8 people, 5.3 peak FTE, 150 person-days.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deliberately hybrid. GitHub Enterprise (EMU) becomes the source of truth for code. Azure DevOps keeps work items, boards, pipelines, releases, service connections, artifacts, and wikis. MoJ Entra ID authenticates both ends. The Azure Boards GitHub App is the wire between the two systems and is what makes the hybrid feel seamless to developers.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integration is what removes the main objection to splitting code from work items. Developers type AB#123 in a commit, branch, or PR. The Boards App sees it, and both sides show the link. On PR merge, the linked work item auto-transitions state. We verify all five capabilities listed during the pilot wave before scaling.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pre-requisite category. Highlight commercial (EMU contract must be signed before Week 1), identity (book MoJ Entra admin now), source-side (PCA on all ADO orgs), target-side (orgs pre-created, ruleset JSON approved), tooling (gh-gei + gh-ado2gh installed), network (proxy whitelist), governance (sponsor + steering), and pipelines (Azure Pipelines GitHub App approval). If any of these slips, the program slips 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Gantt. Five stages over 10 weeks. M2 is the critical gate -- identity foundation -- because everything downstream depends on EMU + SAML + SCIM being live. Waves 1-4 overlap in weeks 7-9, with a hard cap of two waves in flight at any time to protect hypercare capacity.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people, 5.3 peak FTE. Note the gap between 217 capacity person-days and 150 effort person-days -- that's normal slack for change-heavy work. Tech Lead and the two Platform Engineers are the largest contributors. The IAM Engineer is the smallest contributor by p-days but the highest-risk single point of failure -- their availability in weeks 3-4 is non-negotiable. Roles outside the 8 (sponsor, ADO admins, repo owners) are on-demand consultees, not delivery headcount.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Heatmap shows when each role is hot. IAM peaks in Stage 1. Platform Eng pair peak in Stages 2 and 3. DevEx peaks in Stages 2 and 3 (pipeline re-pointing). Change Manager peaks at Stage 0 (comms plan + templates) and then settles to normal. Bottom strip: book a backup IAM resource for weeks 3-4.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Workstream breakdown. PMO and Repo Migration are the two largest cost centres at 25 p-days each. Pipeline re-pointing is 20 p-days and is the line item most likely to slip if the Classic-pipeline ratio is high. Comms and Training (15 p-days) is consistently underestimated in this kind of program -- be ruthless about not cutting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L1 milestones. Five gates, each with explicit exit criteria. The critical path runs through M2 (identity foundation). If M2 slips, everything slips. The mitigation -- book MoJ IAM resource at kickoff -- is on the next slide as Decision D8.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L2 breakdown for Stages 0 and 1. Stage 0 is parallel discovery streams (repos, pipelines, policies, identity). Stage 1 is identity foundation and migration factory build. The end-to-end factory smoke test against a throwaway repo is the gate that authorises the pilot.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L2 for the pilot wave. 17 activities. Two-thirds of the value of the pilot is in step 13 (smoke tests + sign-off by repo owners) and step 14 (3 days of hypercare). Do not skip them. The pilot retrospective at step 16 feeds runsheet updates that all four production waves consume.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L2 for production waves. Per-wave template is ~11 p-days, repeated four times. Two waves overlap in flight. Total Stage 3 effort is ~44 p-days in a 3-week calendar window. The strict 'no new wave during another wave's D-0 to D+3' rule is what stops hypercare from collapsing.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L3 cut for Stage 0 -- 19 tasks. The full L3 is ~80 tasks across all five stages. Each task has owner, effort, and predecessor. The CSV export of the full L3 is available alongside this deck for import into project tooling.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10 risks. R1 (IAM availability) and R2 (Classic pipelines) are the schedule risks. R5 (LFS / oversize repos) is the data-integrity risk -- audit early. R8 (concurrent waves overloading hypercare) is the operational risk that the wave cadence rule mitigates. R10 (pipeline secrets) is the silent risk -- builds will look fine until they try to deploy.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decisions for steering to close in week 1. D2 (GHAS in or out) drives security baseline. D3 (disable Issues) prevents work-item drift. D4 (mannequin policy) sets expectations for ex-staff. D7 (concurrent waves cap) protects hypercare. D8 (backup IAM) is the single most important risk mitigation.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is intentionally out of scope. CI/CD migration to GitHub Actions, runners on VMSS, OIDC to Azure, and Azure Pipelines decommission. Indicative 12-16 weeks and 200-250 p-days. The detailed Phase 2 estimate must be produced at M5 close, not now -- we won't know actual pipeline counts and complexity until we have walked through them in Phase 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next steps to authorise Week 1. The two that have lead time are step 3 (EMU procurement) and step 5 (booking MoJ Entra admin). Both must start now, before steering signs off scope, or they will become the schedule bottleneck.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54864"/>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114800"/>
            <a:ext cx="12191695" cy="54864"/>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oj-logo.png"/>
          <p:cNvPicPr>
            <a:picLocks noChangeAspect="1"/>
          </p:cNvPicPr>
          <p:nvPr/>
        </p:nvPicPr>
        <p:blipFill>
          <a:blip r:embed="rId2"/>
          <a:stretch>
            <a:fillRect/>
          </a:stretch>
        </p:blipFill>
        <p:spPr>
          <a:xfrm>
            <a:off x="457200" y="365760"/>
            <a:ext cx="3046095" cy="1188720"/>
          </a:xfrm>
          <a:prstGeom prst="rect">
            <a:avLst/>
          </a:prstGeom>
        </p:spPr>
      </p:pic>
      <p:sp>
        <p:nvSpPr>
          <p:cNvPr id="6" name="TextBox 5"/>
          <p:cNvSpPr txBox="1"/>
          <p:nvPr/>
        </p:nvSpPr>
        <p:spPr>
          <a:xfrm>
            <a:off x="548640" y="1783080"/>
            <a:ext cx="10972800" cy="914400"/>
          </a:xfrm>
          <a:prstGeom prst="rect">
            <a:avLst/>
          </a:prstGeom>
          <a:noFill/>
        </p:spPr>
        <p:txBody>
          <a:bodyPr wrap="square" lIns="45720" rIns="45720" tIns="18288" bIns="18288" anchor="t">
            <a:spAutoFit/>
          </a:bodyPr>
          <a:lstStyle/>
          <a:p>
            <a:pPr algn="l"/>
            <a:r>
              <a:rPr sz="4000" b="1">
                <a:solidFill>
                  <a:srgbClr val="FFFFFF"/>
                </a:solidFill>
                <a:latin typeface="Calibri"/>
              </a:rPr>
              <a:t>Azure DevOps -&gt; GitHub Enterprise</a:t>
            </a:r>
          </a:p>
        </p:txBody>
      </p:sp>
      <p:sp>
        <p:nvSpPr>
          <p:cNvPr id="7" name="TextBox 6"/>
          <p:cNvSpPr txBox="1"/>
          <p:nvPr/>
        </p:nvSpPr>
        <p:spPr>
          <a:xfrm>
            <a:off x="548640" y="2468880"/>
            <a:ext cx="10972800" cy="640080"/>
          </a:xfrm>
          <a:prstGeom prst="rect">
            <a:avLst/>
          </a:prstGeom>
          <a:noFill/>
        </p:spPr>
        <p:txBody>
          <a:bodyPr wrap="square" lIns="45720" rIns="45720" tIns="18288" bIns="18288" anchor="t">
            <a:spAutoFit/>
          </a:bodyPr>
          <a:lstStyle/>
          <a:p>
            <a:pPr algn="l"/>
            <a:r>
              <a:rPr sz="2600" b="0">
                <a:solidFill>
                  <a:srgbClr val="CBD2D9"/>
                </a:solidFill>
                <a:latin typeface="Calibri"/>
              </a:rPr>
              <a:t>Phase 1 Migration Plan &amp; Effort Estimation</a:t>
            </a:r>
          </a:p>
        </p:txBody>
      </p:sp>
      <p:sp>
        <p:nvSpPr>
          <p:cNvPr id="8" name="TextBox 7"/>
          <p:cNvSpPr txBox="1"/>
          <p:nvPr/>
        </p:nvSpPr>
        <p:spPr>
          <a:xfrm>
            <a:off x="548640" y="3246120"/>
            <a:ext cx="10972800" cy="457200"/>
          </a:xfrm>
          <a:prstGeom prst="rect">
            <a:avLst/>
          </a:prstGeom>
          <a:noFill/>
        </p:spPr>
        <p:txBody>
          <a:bodyPr wrap="square" lIns="45720" rIns="45720" tIns="18288" bIns="18288" anchor="t">
            <a:spAutoFit/>
          </a:bodyPr>
          <a:lstStyle/>
          <a:p>
            <a:pPr algn="l"/>
            <a:r>
              <a:rPr sz="1800" b="1">
                <a:solidFill>
                  <a:srgbClr val="D4A84B"/>
                </a:solidFill>
                <a:latin typeface="Calibri"/>
              </a:rPr>
              <a:t>100 Repositories  |  Repos + PRs + Commits  |  MoJ Entra ID</a:t>
            </a:r>
          </a:p>
        </p:txBody>
      </p:sp>
      <p:sp>
        <p:nvSpPr>
          <p:cNvPr id="9" name="TextBox 8"/>
          <p:cNvSpPr txBox="1"/>
          <p:nvPr/>
        </p:nvSpPr>
        <p:spPr>
          <a:xfrm>
            <a:off x="548640" y="4480560"/>
            <a:ext cx="10972800" cy="457200"/>
          </a:xfrm>
          <a:prstGeom prst="rect">
            <a:avLst/>
          </a:prstGeom>
          <a:noFill/>
        </p:spPr>
        <p:txBody>
          <a:bodyPr wrap="square" lIns="45720" rIns="45720" tIns="18288" bIns="18288" anchor="t">
            <a:spAutoFit/>
          </a:bodyPr>
          <a:lstStyle/>
          <a:p>
            <a:pPr algn="l"/>
            <a:r>
              <a:rPr sz="1600" b="0">
                <a:solidFill>
                  <a:srgbClr val="FFFFFF"/>
                </a:solidFill>
                <a:latin typeface="Calibri"/>
              </a:rPr>
              <a:t>Boards &amp; Release Pipelines remain in Azure DevOps</a:t>
            </a:r>
          </a:p>
        </p:txBody>
      </p:sp>
      <p:sp>
        <p:nvSpPr>
          <p:cNvPr id="10" name="TextBox 9"/>
          <p:cNvSpPr txBox="1"/>
          <p:nvPr/>
        </p:nvSpPr>
        <p:spPr>
          <a:xfrm>
            <a:off x="548640" y="4937760"/>
            <a:ext cx="10972800" cy="457200"/>
          </a:xfrm>
          <a:prstGeom prst="rect">
            <a:avLst/>
          </a:prstGeom>
          <a:noFill/>
        </p:spPr>
        <p:txBody>
          <a:bodyPr wrap="square" lIns="45720" rIns="45720" tIns="18288" bIns="18288" anchor="t">
            <a:spAutoFit/>
          </a:bodyPr>
          <a:lstStyle/>
          <a:p>
            <a:pPr algn="l"/>
            <a:r>
              <a:rPr sz="1600" b="0">
                <a:solidFill>
                  <a:srgbClr val="FFFFFF"/>
                </a:solidFill>
                <a:latin typeface="Calibri"/>
              </a:rPr>
              <a:t>Azure Boards GitHub App wires the two ends together</a:t>
            </a:r>
          </a:p>
        </p:txBody>
      </p:sp>
      <p:sp>
        <p:nvSpPr>
          <p:cNvPr id="11" name="TextBox 10"/>
          <p:cNvSpPr txBox="1"/>
          <p:nvPr/>
        </p:nvSpPr>
        <p:spPr>
          <a:xfrm>
            <a:off x="548640" y="5943600"/>
            <a:ext cx="10972800" cy="320040"/>
          </a:xfrm>
          <a:prstGeom prst="rect">
            <a:avLst/>
          </a:prstGeom>
          <a:noFill/>
        </p:spPr>
        <p:txBody>
          <a:bodyPr wrap="square" lIns="45720" rIns="45720" tIns="18288" bIns="18288" anchor="t">
            <a:spAutoFit/>
          </a:bodyPr>
          <a:lstStyle/>
          <a:p>
            <a:pPr algn="l"/>
            <a:r>
              <a:rPr sz="1200" b="1">
                <a:solidFill>
                  <a:srgbClr val="D4A84B"/>
                </a:solidFill>
                <a:latin typeface="Calibri"/>
              </a:rPr>
              <a:t>Saudi Arabia Ministry of Justice  |  Platform Engineering</a:t>
            </a:r>
          </a:p>
        </p:txBody>
      </p:sp>
      <p:sp>
        <p:nvSpPr>
          <p:cNvPr id="12" name="TextBox 11"/>
          <p:cNvSpPr txBox="1"/>
          <p:nvPr/>
        </p:nvSpPr>
        <p:spPr>
          <a:xfrm>
            <a:off x="548640" y="6263640"/>
            <a:ext cx="10972800" cy="320040"/>
          </a:xfrm>
          <a:prstGeom prst="rect">
            <a:avLst/>
          </a:prstGeom>
          <a:noFill/>
        </p:spPr>
        <p:txBody>
          <a:bodyPr wrap="square" lIns="45720" rIns="45720" tIns="18288" bIns="18288" anchor="t">
            <a:spAutoFit/>
          </a:bodyPr>
          <a:lstStyle/>
          <a:p>
            <a:pPr algn="l"/>
            <a:r>
              <a:rPr sz="1000" b="0">
                <a:solidFill>
                  <a:srgbClr val="CBD2D9"/>
                </a:solidFill>
                <a:latin typeface="Calibri"/>
              </a:rPr>
              <a:t>Version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Executive Summary</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What we are doing, and what we are deliberately not doing in Phase 1</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097280"/>
            <a:ext cx="5669280" cy="2468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097280"/>
            <a:ext cx="5669280" cy="41148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43000"/>
            <a:ext cx="5486400" cy="365760"/>
          </a:xfrm>
          <a:prstGeom prst="rect">
            <a:avLst/>
          </a:prstGeom>
          <a:noFill/>
        </p:spPr>
        <p:txBody>
          <a:bodyPr wrap="square" lIns="45720" rIns="45720" tIns="18288" bIns="18288" anchor="ctr">
            <a:spAutoFit/>
          </a:bodyPr>
          <a:lstStyle/>
          <a:p>
            <a:pPr algn="l"/>
            <a:r>
              <a:rPr sz="1300" b="1">
                <a:solidFill>
                  <a:srgbClr val="FFFFFF"/>
                </a:solidFill>
                <a:latin typeface="Calibri"/>
              </a:rPr>
              <a:t>IN SCOPE - PHASE 1</a:t>
            </a:r>
          </a:p>
        </p:txBody>
      </p:sp>
      <p:sp>
        <p:nvSpPr>
          <p:cNvPr id="10" name="TextBox 9"/>
          <p:cNvSpPr txBox="1"/>
          <p:nvPr/>
        </p:nvSpPr>
        <p:spPr>
          <a:xfrm>
            <a:off x="502920" y="1600200"/>
            <a:ext cx="5486400" cy="1920240"/>
          </a:xfrm>
          <a:prstGeom prst="rect">
            <a:avLst/>
          </a:prstGeom>
          <a:noFill/>
        </p:spPr>
        <p:txBody>
          <a:bodyPr wrap="square" lIns="45720" rIns="45720" tIns="18288" bIns="18288" anchor="t">
            <a:spAutoFit/>
          </a:bodyPr>
          <a:lstStyle/>
          <a:p>
            <a:pPr algn="l"/>
            <a:r>
              <a:rPr sz="1200" b="0">
                <a:solidFill>
                  <a:srgbClr val="101828"/>
                </a:solidFill>
                <a:latin typeface="Calibri"/>
              </a:rPr>
              <a:t>- 100 ADO repositories migrated to GHE (EMU)</a:t>
            </a:r>
          </a:p>
          <a:p>
            <a:pPr algn="l"/>
            <a:r>
              <a:rPr sz="1200" b="0">
                <a:solidFill>
                  <a:srgbClr val="101828"/>
                </a:solidFill>
                <a:latin typeface="Calibri"/>
              </a:rPr>
              <a:t>- Full commit history, all branches, all tags</a:t>
            </a:r>
          </a:p>
          <a:p>
            <a:pPr algn="l"/>
            <a:r>
              <a:rPr sz="1200" b="0">
                <a:solidFill>
                  <a:srgbClr val="101828"/>
                </a:solidFill>
                <a:latin typeface="Calibri"/>
              </a:rPr>
              <a:t>- Open + closed Pull Requests with comments</a:t>
            </a:r>
          </a:p>
          <a:p>
            <a:pPr algn="l"/>
            <a:r>
              <a:rPr sz="1200" b="0">
                <a:solidFill>
                  <a:srgbClr val="101828"/>
                </a:solidFill>
                <a:latin typeface="Calibri"/>
              </a:rPr>
              <a:t>- LFS objects and attachments</a:t>
            </a:r>
          </a:p>
          <a:p>
            <a:pPr algn="l"/>
            <a:r>
              <a:rPr sz="1200" b="0">
                <a:solidFill>
                  <a:srgbClr val="101828"/>
                </a:solidFill>
                <a:latin typeface="Calibri"/>
              </a:rPr>
              <a:t>- MoJ Entra ID SSO + SCIM provisioning</a:t>
            </a:r>
          </a:p>
          <a:p>
            <a:pPr algn="l"/>
            <a:r>
              <a:rPr sz="1200" b="0">
                <a:solidFill>
                  <a:srgbClr val="101828"/>
                </a:solidFill>
                <a:latin typeface="Calibri"/>
              </a:rPr>
              <a:t>- Branch protection re-implemented as GHE rulesets</a:t>
            </a:r>
          </a:p>
          <a:p>
            <a:pPr algn="l"/>
            <a:r>
              <a:rPr sz="1200" b="0">
                <a:solidFill>
                  <a:srgbClr val="101828"/>
                </a:solidFill>
                <a:latin typeface="Calibri"/>
              </a:rPr>
              <a:t>- Azure Pipelines re-pointed to GitHub source</a:t>
            </a:r>
          </a:p>
          <a:p>
            <a:pPr algn="l"/>
            <a:r>
              <a:rPr sz="1200" b="0">
                <a:solidFill>
                  <a:srgbClr val="101828"/>
                </a:solidFill>
                <a:latin typeface="Calibri"/>
              </a:rPr>
              <a:t>- Azure Boards GitHub App for AB#123 linking</a:t>
            </a:r>
          </a:p>
        </p:txBody>
      </p:sp>
      <p:sp>
        <p:nvSpPr>
          <p:cNvPr id="11" name="Rectangle 10"/>
          <p:cNvSpPr/>
          <p:nvPr/>
        </p:nvSpPr>
        <p:spPr>
          <a:xfrm>
            <a:off x="6217920" y="1097280"/>
            <a:ext cx="5669280" cy="2468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097280"/>
            <a:ext cx="5669280" cy="41148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143000"/>
            <a:ext cx="5486400" cy="365760"/>
          </a:xfrm>
          <a:prstGeom prst="rect">
            <a:avLst/>
          </a:prstGeom>
          <a:noFill/>
        </p:spPr>
        <p:txBody>
          <a:bodyPr wrap="square" lIns="45720" rIns="45720" tIns="18288" bIns="18288" anchor="ctr">
            <a:spAutoFit/>
          </a:bodyPr>
          <a:lstStyle/>
          <a:p>
            <a:pPr algn="l"/>
            <a:r>
              <a:rPr sz="1300" b="1">
                <a:solidFill>
                  <a:srgbClr val="101828"/>
                </a:solidFill>
                <a:latin typeface="Calibri"/>
              </a:rPr>
              <a:t>DEFERRED TO PHASE 2</a:t>
            </a:r>
          </a:p>
        </p:txBody>
      </p:sp>
      <p:sp>
        <p:nvSpPr>
          <p:cNvPr id="14" name="TextBox 13"/>
          <p:cNvSpPr txBox="1"/>
          <p:nvPr/>
        </p:nvSpPr>
        <p:spPr>
          <a:xfrm>
            <a:off x="6355080" y="1600200"/>
            <a:ext cx="5486400" cy="1920240"/>
          </a:xfrm>
          <a:prstGeom prst="rect">
            <a:avLst/>
          </a:prstGeom>
          <a:noFill/>
        </p:spPr>
        <p:txBody>
          <a:bodyPr wrap="square" lIns="45720" rIns="45720" tIns="18288" bIns="18288" anchor="t">
            <a:spAutoFit/>
          </a:bodyPr>
          <a:lstStyle/>
          <a:p>
            <a:pPr algn="l"/>
            <a:r>
              <a:rPr sz="1200" b="0">
                <a:solidFill>
                  <a:srgbClr val="101828"/>
                </a:solidFill>
                <a:latin typeface="Calibri"/>
              </a:rPr>
              <a:t>- Migrate CI / Build pipelines to GitHub Actions</a:t>
            </a:r>
          </a:p>
          <a:p>
            <a:pPr algn="l"/>
            <a:r>
              <a:rPr sz="1200" b="0">
                <a:solidFill>
                  <a:srgbClr val="101828"/>
                </a:solidFill>
                <a:latin typeface="Calibri"/>
              </a:rPr>
              <a:t>- Migrate Release pipelines to Actions Environments</a:t>
            </a:r>
          </a:p>
          <a:p>
            <a:pPr algn="l"/>
            <a:r>
              <a:rPr sz="1200" b="0">
                <a:solidFill>
                  <a:srgbClr val="101828"/>
                </a:solidFill>
                <a:latin typeface="Calibri"/>
              </a:rPr>
              <a:t>- Self-hosted runners (Azure VMSS) at scale</a:t>
            </a:r>
          </a:p>
          <a:p>
            <a:pPr algn="l"/>
            <a:r>
              <a:rPr sz="1200" b="0">
                <a:solidFill>
                  <a:srgbClr val="101828"/>
                </a:solidFill>
                <a:latin typeface="Calibri"/>
              </a:rPr>
              <a:t>- OIDC federation to Azure subscriptions</a:t>
            </a:r>
          </a:p>
          <a:p>
            <a:pPr algn="l"/>
            <a:r>
              <a:rPr sz="1200" b="0">
                <a:solidFill>
                  <a:srgbClr val="101828"/>
                </a:solidFill>
                <a:latin typeface="Calibri"/>
              </a:rPr>
              <a:t>- Decommission Azure Pipelines &amp; Releases</a:t>
            </a:r>
          </a:p>
          <a:p>
            <a:pPr algn="l"/>
            <a:r>
              <a:rPr sz="1200" b="0">
                <a:solidFill>
                  <a:srgbClr val="101828"/>
                </a:solidFill>
                <a:latin typeface="Calibri"/>
              </a:rPr>
              <a:t>- Migrate work items / Boards (only if requested)</a:t>
            </a:r>
          </a:p>
          <a:p>
            <a:pPr algn="l"/>
            <a:r>
              <a:rPr sz="1200" b="0">
                <a:solidFill>
                  <a:srgbClr val="101828"/>
                </a:solidFill>
                <a:latin typeface="Calibri"/>
              </a:rPr>
              <a:t>- Org consolidation (95 ADO -&gt; N GHE orgs)</a:t>
            </a:r>
          </a:p>
        </p:txBody>
      </p:sp>
      <p:sp>
        <p:nvSpPr>
          <p:cNvPr id="15" name="Rectangle 14"/>
          <p:cNvSpPr/>
          <p:nvPr/>
        </p:nvSpPr>
        <p:spPr>
          <a:xfrm>
            <a:off x="365760" y="3840480"/>
            <a:ext cx="1833829" cy="10972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3931920"/>
            <a:ext cx="1833829" cy="502920"/>
          </a:xfrm>
          <a:prstGeom prst="rect">
            <a:avLst/>
          </a:prstGeom>
          <a:noFill/>
        </p:spPr>
        <p:txBody>
          <a:bodyPr wrap="square" lIns="45720" rIns="45720" tIns="18288" bIns="18288" anchor="ctr">
            <a:spAutoFit/>
          </a:bodyPr>
          <a:lstStyle/>
          <a:p>
            <a:pPr algn="ctr"/>
            <a:r>
              <a:rPr sz="2800" b="1">
                <a:solidFill>
                  <a:srgbClr val="D4A84B"/>
                </a:solidFill>
                <a:latin typeface="Calibri"/>
              </a:rPr>
              <a:t>10</a:t>
            </a:r>
          </a:p>
        </p:txBody>
      </p:sp>
      <p:sp>
        <p:nvSpPr>
          <p:cNvPr id="17" name="TextBox 16"/>
          <p:cNvSpPr txBox="1"/>
          <p:nvPr/>
        </p:nvSpPr>
        <p:spPr>
          <a:xfrm>
            <a:off x="365760" y="4480560"/>
            <a:ext cx="1833829" cy="457200"/>
          </a:xfrm>
          <a:prstGeom prst="rect">
            <a:avLst/>
          </a:prstGeom>
          <a:noFill/>
        </p:spPr>
        <p:txBody>
          <a:bodyPr wrap="square" lIns="45720" rIns="45720" tIns="18288" bIns="18288" anchor="ctr">
            <a:spAutoFit/>
          </a:bodyPr>
          <a:lstStyle/>
          <a:p>
            <a:pPr algn="ctr"/>
            <a:r>
              <a:rPr sz="1100" b="0">
                <a:solidFill>
                  <a:srgbClr val="FFFFFF"/>
                </a:solidFill>
                <a:latin typeface="Calibri"/>
              </a:rPr>
              <a:t>weeks duration</a:t>
            </a:r>
          </a:p>
        </p:txBody>
      </p:sp>
      <p:sp>
        <p:nvSpPr>
          <p:cNvPr id="18" name="Rectangle 17"/>
          <p:cNvSpPr/>
          <p:nvPr/>
        </p:nvSpPr>
        <p:spPr>
          <a:xfrm>
            <a:off x="2291029" y="3840480"/>
            <a:ext cx="1833829" cy="10972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91029" y="3931920"/>
            <a:ext cx="1833829" cy="502920"/>
          </a:xfrm>
          <a:prstGeom prst="rect">
            <a:avLst/>
          </a:prstGeom>
          <a:noFill/>
        </p:spPr>
        <p:txBody>
          <a:bodyPr wrap="square" lIns="45720" rIns="45720" tIns="18288" bIns="18288" anchor="ctr">
            <a:spAutoFit/>
          </a:bodyPr>
          <a:lstStyle/>
          <a:p>
            <a:pPr algn="ctr"/>
            <a:r>
              <a:rPr sz="2800" b="1">
                <a:solidFill>
                  <a:srgbClr val="D4A84B"/>
                </a:solidFill>
                <a:latin typeface="Calibri"/>
              </a:rPr>
              <a:t>8</a:t>
            </a:r>
          </a:p>
        </p:txBody>
      </p:sp>
      <p:sp>
        <p:nvSpPr>
          <p:cNvPr id="20" name="TextBox 19"/>
          <p:cNvSpPr txBox="1"/>
          <p:nvPr/>
        </p:nvSpPr>
        <p:spPr>
          <a:xfrm>
            <a:off x="2291029" y="4480560"/>
            <a:ext cx="1833829" cy="457200"/>
          </a:xfrm>
          <a:prstGeom prst="rect">
            <a:avLst/>
          </a:prstGeom>
          <a:noFill/>
        </p:spPr>
        <p:txBody>
          <a:bodyPr wrap="square" lIns="45720" rIns="45720" tIns="18288" bIns="18288" anchor="ctr">
            <a:spAutoFit/>
          </a:bodyPr>
          <a:lstStyle/>
          <a:p>
            <a:pPr algn="ctr"/>
            <a:r>
              <a:rPr sz="1100" b="0">
                <a:solidFill>
                  <a:srgbClr val="FFFFFF"/>
                </a:solidFill>
                <a:latin typeface="Calibri"/>
              </a:rPr>
              <a:t>team members</a:t>
            </a:r>
          </a:p>
        </p:txBody>
      </p:sp>
      <p:sp>
        <p:nvSpPr>
          <p:cNvPr id="21" name="Rectangle 20"/>
          <p:cNvSpPr/>
          <p:nvPr/>
        </p:nvSpPr>
        <p:spPr>
          <a:xfrm>
            <a:off x="4216298" y="3840480"/>
            <a:ext cx="1833829" cy="10972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16298" y="3931920"/>
            <a:ext cx="1833829" cy="502920"/>
          </a:xfrm>
          <a:prstGeom prst="rect">
            <a:avLst/>
          </a:prstGeom>
          <a:noFill/>
        </p:spPr>
        <p:txBody>
          <a:bodyPr wrap="square" lIns="45720" rIns="45720" tIns="18288" bIns="18288" anchor="ctr">
            <a:spAutoFit/>
          </a:bodyPr>
          <a:lstStyle/>
          <a:p>
            <a:pPr algn="ctr"/>
            <a:r>
              <a:rPr sz="2800" b="1">
                <a:solidFill>
                  <a:srgbClr val="D4A84B"/>
                </a:solidFill>
                <a:latin typeface="Calibri"/>
              </a:rPr>
              <a:t>~5.3</a:t>
            </a:r>
          </a:p>
        </p:txBody>
      </p:sp>
      <p:sp>
        <p:nvSpPr>
          <p:cNvPr id="23" name="TextBox 22"/>
          <p:cNvSpPr txBox="1"/>
          <p:nvPr/>
        </p:nvSpPr>
        <p:spPr>
          <a:xfrm>
            <a:off x="4216298" y="4480560"/>
            <a:ext cx="1833829" cy="457200"/>
          </a:xfrm>
          <a:prstGeom prst="rect">
            <a:avLst/>
          </a:prstGeom>
          <a:noFill/>
        </p:spPr>
        <p:txBody>
          <a:bodyPr wrap="square" lIns="45720" rIns="45720" tIns="18288" bIns="18288" anchor="ctr">
            <a:spAutoFit/>
          </a:bodyPr>
          <a:lstStyle/>
          <a:p>
            <a:pPr algn="ctr"/>
            <a:r>
              <a:rPr sz="1100" b="0">
                <a:solidFill>
                  <a:srgbClr val="FFFFFF"/>
                </a:solidFill>
                <a:latin typeface="Calibri"/>
              </a:rPr>
              <a:t>peak FTE</a:t>
            </a:r>
          </a:p>
        </p:txBody>
      </p:sp>
      <p:sp>
        <p:nvSpPr>
          <p:cNvPr id="24" name="Rectangle 23"/>
          <p:cNvSpPr/>
          <p:nvPr/>
        </p:nvSpPr>
        <p:spPr>
          <a:xfrm>
            <a:off x="6141567" y="3840480"/>
            <a:ext cx="1833829" cy="10972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41567" y="3931920"/>
            <a:ext cx="1833829" cy="502920"/>
          </a:xfrm>
          <a:prstGeom prst="rect">
            <a:avLst/>
          </a:prstGeom>
          <a:noFill/>
        </p:spPr>
        <p:txBody>
          <a:bodyPr wrap="square" lIns="45720" rIns="45720" tIns="18288" bIns="18288" anchor="ctr">
            <a:spAutoFit/>
          </a:bodyPr>
          <a:lstStyle/>
          <a:p>
            <a:pPr algn="ctr"/>
            <a:r>
              <a:rPr sz="2800" b="1">
                <a:solidFill>
                  <a:srgbClr val="D4A84B"/>
                </a:solidFill>
                <a:latin typeface="Calibri"/>
              </a:rPr>
              <a:t>150</a:t>
            </a:r>
          </a:p>
        </p:txBody>
      </p:sp>
      <p:sp>
        <p:nvSpPr>
          <p:cNvPr id="26" name="TextBox 25"/>
          <p:cNvSpPr txBox="1"/>
          <p:nvPr/>
        </p:nvSpPr>
        <p:spPr>
          <a:xfrm>
            <a:off x="6141567" y="4480560"/>
            <a:ext cx="1833829" cy="457200"/>
          </a:xfrm>
          <a:prstGeom prst="rect">
            <a:avLst/>
          </a:prstGeom>
          <a:noFill/>
        </p:spPr>
        <p:txBody>
          <a:bodyPr wrap="square" lIns="45720" rIns="45720" tIns="18288" bIns="18288" anchor="ctr">
            <a:spAutoFit/>
          </a:bodyPr>
          <a:lstStyle/>
          <a:p>
            <a:pPr algn="ctr"/>
            <a:r>
              <a:rPr sz="1100" b="0">
                <a:solidFill>
                  <a:srgbClr val="FFFFFF"/>
                </a:solidFill>
                <a:latin typeface="Calibri"/>
              </a:rPr>
              <a:t>person-days effort</a:t>
            </a:r>
          </a:p>
        </p:txBody>
      </p:sp>
      <p:sp>
        <p:nvSpPr>
          <p:cNvPr id="27" name="Rectangle 26"/>
          <p:cNvSpPr/>
          <p:nvPr/>
        </p:nvSpPr>
        <p:spPr>
          <a:xfrm>
            <a:off x="8066836" y="3840480"/>
            <a:ext cx="1833829" cy="10972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66836" y="3931920"/>
            <a:ext cx="1833829" cy="502920"/>
          </a:xfrm>
          <a:prstGeom prst="rect">
            <a:avLst/>
          </a:prstGeom>
          <a:noFill/>
        </p:spPr>
        <p:txBody>
          <a:bodyPr wrap="square" lIns="45720" rIns="45720" tIns="18288" bIns="18288" anchor="ctr">
            <a:spAutoFit/>
          </a:bodyPr>
          <a:lstStyle/>
          <a:p>
            <a:pPr algn="ctr"/>
            <a:r>
              <a:rPr sz="2800" b="1">
                <a:solidFill>
                  <a:srgbClr val="D4A84B"/>
                </a:solidFill>
                <a:latin typeface="Calibri"/>
              </a:rPr>
              <a:t>4 + Pilot</a:t>
            </a:r>
          </a:p>
        </p:txBody>
      </p:sp>
      <p:sp>
        <p:nvSpPr>
          <p:cNvPr id="29" name="TextBox 28"/>
          <p:cNvSpPr txBox="1"/>
          <p:nvPr/>
        </p:nvSpPr>
        <p:spPr>
          <a:xfrm>
            <a:off x="8066836" y="4480560"/>
            <a:ext cx="1833829" cy="457200"/>
          </a:xfrm>
          <a:prstGeom prst="rect">
            <a:avLst/>
          </a:prstGeom>
          <a:noFill/>
        </p:spPr>
        <p:txBody>
          <a:bodyPr wrap="square" lIns="45720" rIns="45720" tIns="18288" bIns="18288" anchor="ctr">
            <a:spAutoFit/>
          </a:bodyPr>
          <a:lstStyle/>
          <a:p>
            <a:pPr algn="ctr"/>
            <a:r>
              <a:rPr sz="1100" b="0">
                <a:solidFill>
                  <a:srgbClr val="FFFFFF"/>
                </a:solidFill>
                <a:latin typeface="Calibri"/>
              </a:rPr>
              <a:t>migration waves</a:t>
            </a:r>
          </a:p>
        </p:txBody>
      </p:sp>
      <p:sp>
        <p:nvSpPr>
          <p:cNvPr id="30" name="Rectangle 29"/>
          <p:cNvSpPr/>
          <p:nvPr/>
        </p:nvSpPr>
        <p:spPr>
          <a:xfrm>
            <a:off x="9992105" y="3840480"/>
            <a:ext cx="1833829" cy="10972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92105" y="3931920"/>
            <a:ext cx="1833829" cy="502920"/>
          </a:xfrm>
          <a:prstGeom prst="rect">
            <a:avLst/>
          </a:prstGeom>
          <a:noFill/>
        </p:spPr>
        <p:txBody>
          <a:bodyPr wrap="square" lIns="45720" rIns="45720" tIns="18288" bIns="18288" anchor="ctr">
            <a:spAutoFit/>
          </a:bodyPr>
          <a:lstStyle/>
          <a:p>
            <a:pPr algn="ctr"/>
            <a:r>
              <a:rPr sz="2800" b="1">
                <a:solidFill>
                  <a:srgbClr val="D4A84B"/>
                </a:solidFill>
                <a:latin typeface="Calibri"/>
              </a:rPr>
              <a:t>5</a:t>
            </a:r>
          </a:p>
        </p:txBody>
      </p:sp>
      <p:sp>
        <p:nvSpPr>
          <p:cNvPr id="32" name="TextBox 31"/>
          <p:cNvSpPr txBox="1"/>
          <p:nvPr/>
        </p:nvSpPr>
        <p:spPr>
          <a:xfrm>
            <a:off x="9992105" y="4480560"/>
            <a:ext cx="1833829" cy="457200"/>
          </a:xfrm>
          <a:prstGeom prst="rect">
            <a:avLst/>
          </a:prstGeom>
          <a:noFill/>
        </p:spPr>
        <p:txBody>
          <a:bodyPr wrap="square" lIns="45720" rIns="45720" tIns="18288" bIns="18288" anchor="ctr">
            <a:spAutoFit/>
          </a:bodyPr>
          <a:lstStyle/>
          <a:p>
            <a:pPr algn="ctr"/>
            <a:r>
              <a:rPr sz="1100" b="0">
                <a:solidFill>
                  <a:srgbClr val="FFFFFF"/>
                </a:solidFill>
                <a:latin typeface="Calibri"/>
              </a:rPr>
              <a:t>L1 milestones</a:t>
            </a:r>
          </a:p>
        </p:txBody>
      </p:sp>
      <p:sp>
        <p:nvSpPr>
          <p:cNvPr id="33" name="Rectangle 32"/>
          <p:cNvSpPr/>
          <p:nvPr/>
        </p:nvSpPr>
        <p:spPr>
          <a:xfrm>
            <a:off x="365760" y="5120640"/>
            <a:ext cx="11430000"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5166360"/>
            <a:ext cx="11247120" cy="320040"/>
          </a:xfrm>
          <a:prstGeom prst="rect">
            <a:avLst/>
          </a:prstGeom>
          <a:noFill/>
        </p:spPr>
        <p:txBody>
          <a:bodyPr wrap="square" lIns="45720" rIns="45720" tIns="18288" bIns="18288" anchor="t">
            <a:spAutoFit/>
          </a:bodyPr>
          <a:lstStyle/>
          <a:p>
            <a:pPr algn="l"/>
            <a:r>
              <a:rPr sz="1100" b="1">
                <a:solidFill>
                  <a:srgbClr val="38796B"/>
                </a:solidFill>
                <a:latin typeface="Calibri"/>
              </a:rPr>
              <a:t>STRATEGIC POSITION</a:t>
            </a:r>
          </a:p>
        </p:txBody>
      </p:sp>
      <p:sp>
        <p:nvSpPr>
          <p:cNvPr id="35" name="TextBox 34"/>
          <p:cNvSpPr txBox="1"/>
          <p:nvPr/>
        </p:nvSpPr>
        <p:spPr>
          <a:xfrm>
            <a:off x="502920" y="5440680"/>
            <a:ext cx="11247120" cy="914400"/>
          </a:xfrm>
          <a:prstGeom prst="rect">
            <a:avLst/>
          </a:prstGeom>
          <a:noFill/>
        </p:spPr>
        <p:txBody>
          <a:bodyPr wrap="square" lIns="45720" rIns="45720" tIns="18288" bIns="18288" anchor="t">
            <a:spAutoFit/>
          </a:bodyPr>
          <a:lstStyle/>
          <a:p>
            <a:pPr algn="l"/>
            <a:r>
              <a:rPr sz="1200" b="0">
                <a:solidFill>
                  <a:srgbClr val="101828"/>
                </a:solidFill>
                <a:latin typeface="Calibri"/>
              </a:rPr>
              <a:t>Phase 1 is the lowest-risk path to land 100 repos behind MoJ SSO while preserving the existing CD investment.</a:t>
            </a:r>
          </a:p>
          <a:p>
            <a:pPr algn="l"/>
            <a:r>
              <a:rPr sz="1200" b="0">
                <a:solidFill>
                  <a:srgbClr val="101828"/>
                </a:solidFill>
                <a:latin typeface="Calibri"/>
              </a:rPr>
              <a:t>ADO Pipelines &amp; Releases continue unchanged; only the source repository is re-pointed to GitHub.</a:t>
            </a:r>
          </a:p>
          <a:p>
            <a:pPr algn="l"/>
            <a:r>
              <a:rPr sz="1200" b="0">
                <a:solidFill>
                  <a:srgbClr val="101828"/>
                </a:solidFill>
                <a:latin typeface="Calibri"/>
              </a:rPr>
              <a:t>Azure Boards stays as the work-management system of record; AB#123 references keep traceability intact.</a:t>
            </a:r>
          </a:p>
        </p:txBody>
      </p:sp>
      <p:sp>
        <p:nvSpPr>
          <p:cNvPr id="36" name="TextBox 35"/>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37" name="TextBox 36"/>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Target Architecture - Phase 1</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Hybrid model: code in GitHub, work items + releases in Azure</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0" y="1188720"/>
            <a:ext cx="3931920" cy="64008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0" y="1188720"/>
            <a:ext cx="3931920" cy="640080"/>
          </a:xfrm>
          <a:prstGeom prst="rect">
            <a:avLst/>
          </a:prstGeom>
          <a:noFill/>
        </p:spPr>
        <p:txBody>
          <a:bodyPr wrap="square" lIns="45720" rIns="45720" tIns="18288" bIns="18288" anchor="ctr">
            <a:spAutoFit/>
          </a:bodyPr>
          <a:lstStyle/>
          <a:p>
            <a:pPr algn="ctr"/>
            <a:r>
              <a:rPr sz="1400" b="1">
                <a:solidFill>
                  <a:srgbClr val="FFFFFF"/>
                </a:solidFill>
                <a:latin typeface="Calibri"/>
              </a:rPr>
              <a:t>MoJ Microsoft Entra ID</a:t>
            </a:r>
          </a:p>
        </p:txBody>
      </p:sp>
      <p:sp>
        <p:nvSpPr>
          <p:cNvPr id="9" name="Rectangle 8"/>
          <p:cNvSpPr/>
          <p:nvPr/>
        </p:nvSpPr>
        <p:spPr>
          <a:xfrm>
            <a:off x="457200" y="2194560"/>
            <a:ext cx="5303520" cy="3291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94560"/>
            <a:ext cx="5303520" cy="45720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94560"/>
            <a:ext cx="5303520" cy="457200"/>
          </a:xfrm>
          <a:prstGeom prst="rect">
            <a:avLst/>
          </a:prstGeom>
          <a:noFill/>
        </p:spPr>
        <p:txBody>
          <a:bodyPr wrap="square" lIns="45720" rIns="45720" tIns="18288" bIns="18288" anchor="ctr">
            <a:spAutoFit/>
          </a:bodyPr>
          <a:lstStyle/>
          <a:p>
            <a:pPr algn="ctr"/>
            <a:r>
              <a:rPr sz="1300" b="1">
                <a:solidFill>
                  <a:srgbClr val="FFFFFF"/>
                </a:solidFill>
                <a:latin typeface="Calibri"/>
              </a:rPr>
              <a:t>GitHub Enterprise (EMU)</a:t>
            </a:r>
          </a:p>
        </p:txBody>
      </p:sp>
      <p:sp>
        <p:nvSpPr>
          <p:cNvPr id="12" name="TextBox 11"/>
          <p:cNvSpPr txBox="1"/>
          <p:nvPr/>
        </p:nvSpPr>
        <p:spPr>
          <a:xfrm>
            <a:off x="640080" y="2743200"/>
            <a:ext cx="5029200" cy="2743200"/>
          </a:xfrm>
          <a:prstGeom prst="rect">
            <a:avLst/>
          </a:prstGeom>
          <a:noFill/>
        </p:spPr>
        <p:txBody>
          <a:bodyPr wrap="square" lIns="45720" rIns="45720" tIns="18288" bIns="18288" anchor="t">
            <a:spAutoFit/>
          </a:bodyPr>
          <a:lstStyle/>
          <a:p>
            <a:pPr algn="l"/>
            <a:r>
              <a:rPr sz="1200" b="0">
                <a:solidFill>
                  <a:srgbClr val="101828"/>
                </a:solidFill>
                <a:latin typeface="Calibri"/>
              </a:rPr>
              <a:t>- 100 repositories (1:1 with ADO orgs)</a:t>
            </a:r>
          </a:p>
          <a:p>
            <a:pPr algn="l"/>
            <a:r>
              <a:rPr sz="1200" b="0">
                <a:solidFill>
                  <a:srgbClr val="101828"/>
                </a:solidFill>
                <a:latin typeface="Calibri"/>
              </a:rPr>
              <a:t>- Commits, branches, tags, history</a:t>
            </a:r>
          </a:p>
          <a:p>
            <a:pPr algn="l"/>
            <a:r>
              <a:rPr sz="1200" b="0">
                <a:solidFill>
                  <a:srgbClr val="101828"/>
                </a:solidFill>
                <a:latin typeface="Calibri"/>
              </a:rPr>
              <a:t>- Pull Requests + comments</a:t>
            </a:r>
          </a:p>
          <a:p>
            <a:pPr algn="l"/>
            <a:r>
              <a:rPr sz="1200" b="0">
                <a:solidFill>
                  <a:srgbClr val="101828"/>
                </a:solidFill>
                <a:latin typeface="Calibri"/>
              </a:rPr>
              <a:t>- LFS + attachments</a:t>
            </a:r>
          </a:p>
          <a:p>
            <a:pPr algn="l"/>
            <a:r>
              <a:rPr sz="1200" b="0">
                <a:solidFill>
                  <a:srgbClr val="101828"/>
                </a:solidFill>
                <a:latin typeface="Calibri"/>
              </a:rPr>
              <a:t>- Rulesets (replicating ADO branch policies)</a:t>
            </a:r>
          </a:p>
          <a:p>
            <a:pPr algn="l"/>
            <a:r>
              <a:rPr sz="1200" b="0">
                <a:solidFill>
                  <a:srgbClr val="101828"/>
                </a:solidFill>
                <a:latin typeface="Calibri"/>
              </a:rPr>
              <a:t>- CODEOWNERS</a:t>
            </a:r>
          </a:p>
          <a:p>
            <a:pPr algn="l"/>
            <a:r>
              <a:rPr sz="1200" b="0">
                <a:solidFill>
                  <a:srgbClr val="101828"/>
                </a:solidFill>
                <a:latin typeface="Calibri"/>
              </a:rPr>
              <a:t>- Optional: GitHub Advanced Security</a:t>
            </a:r>
          </a:p>
        </p:txBody>
      </p:sp>
      <p:sp>
        <p:nvSpPr>
          <p:cNvPr id="13" name="Rectangle 12"/>
          <p:cNvSpPr/>
          <p:nvPr/>
        </p:nvSpPr>
        <p:spPr>
          <a:xfrm>
            <a:off x="6400800" y="2194560"/>
            <a:ext cx="5303520" cy="3291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2194560"/>
            <a:ext cx="5303520" cy="4572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194560"/>
            <a:ext cx="5303520" cy="457200"/>
          </a:xfrm>
          <a:prstGeom prst="rect">
            <a:avLst/>
          </a:prstGeom>
          <a:noFill/>
        </p:spPr>
        <p:txBody>
          <a:bodyPr wrap="square" lIns="45720" rIns="45720" tIns="18288" bIns="18288" anchor="ctr">
            <a:spAutoFit/>
          </a:bodyPr>
          <a:lstStyle/>
          <a:p>
            <a:pPr algn="ctr"/>
            <a:r>
              <a:rPr sz="1300" b="1">
                <a:solidFill>
                  <a:srgbClr val="FFFFFF"/>
                </a:solidFill>
                <a:latin typeface="Calibri"/>
              </a:rPr>
              <a:t>Azure DevOps</a:t>
            </a:r>
          </a:p>
        </p:txBody>
      </p:sp>
      <p:sp>
        <p:nvSpPr>
          <p:cNvPr id="16" name="TextBox 15"/>
          <p:cNvSpPr txBox="1"/>
          <p:nvPr/>
        </p:nvSpPr>
        <p:spPr>
          <a:xfrm>
            <a:off x="6583680" y="2743200"/>
            <a:ext cx="5029200" cy="2743200"/>
          </a:xfrm>
          <a:prstGeom prst="rect">
            <a:avLst/>
          </a:prstGeom>
          <a:noFill/>
        </p:spPr>
        <p:txBody>
          <a:bodyPr wrap="square" lIns="45720" rIns="45720" tIns="18288" bIns="18288" anchor="t">
            <a:spAutoFit/>
          </a:bodyPr>
          <a:lstStyle/>
          <a:p>
            <a:pPr algn="l"/>
            <a:r>
              <a:rPr sz="1200" b="0">
                <a:solidFill>
                  <a:srgbClr val="101828"/>
                </a:solidFill>
                <a:latin typeface="Calibri"/>
              </a:rPr>
              <a:t>- Work Items + Boards (unchanged)</a:t>
            </a:r>
          </a:p>
          <a:p>
            <a:pPr algn="l"/>
            <a:r>
              <a:rPr sz="1200" b="0">
                <a:solidFill>
                  <a:srgbClr val="101828"/>
                </a:solidFill>
                <a:latin typeface="Calibri"/>
              </a:rPr>
              <a:t>- Build pipelines (source -&gt; GitHub)</a:t>
            </a:r>
          </a:p>
          <a:p>
            <a:pPr algn="l"/>
            <a:r>
              <a:rPr sz="1200" b="0">
                <a:solidFill>
                  <a:srgbClr val="101828"/>
                </a:solidFill>
                <a:latin typeface="Calibri"/>
              </a:rPr>
              <a:t>- Release pipelines (unchanged)</a:t>
            </a:r>
          </a:p>
          <a:p>
            <a:pPr algn="l"/>
            <a:r>
              <a:rPr sz="1200" b="0">
                <a:solidFill>
                  <a:srgbClr val="101828"/>
                </a:solidFill>
                <a:latin typeface="Calibri"/>
              </a:rPr>
              <a:t>- Service connections to Azure (unchanged)</a:t>
            </a:r>
          </a:p>
          <a:p>
            <a:pPr algn="l"/>
            <a:r>
              <a:rPr sz="1200" b="0">
                <a:solidFill>
                  <a:srgbClr val="101828"/>
                </a:solidFill>
                <a:latin typeface="Calibri"/>
              </a:rPr>
              <a:t>- Artifacts feeds (unchanged)</a:t>
            </a:r>
          </a:p>
          <a:p>
            <a:pPr algn="l"/>
            <a:r>
              <a:rPr sz="1200" b="0">
                <a:solidFill>
                  <a:srgbClr val="101828"/>
                </a:solidFill>
                <a:latin typeface="Calibri"/>
              </a:rPr>
              <a:t>- Wikis (unchanged for now)</a:t>
            </a:r>
          </a:p>
        </p:txBody>
      </p:sp>
      <p:sp>
        <p:nvSpPr>
          <p:cNvPr id="17" name="Rectangle 16"/>
          <p:cNvSpPr/>
          <p:nvPr/>
        </p:nvSpPr>
        <p:spPr>
          <a:xfrm>
            <a:off x="457200" y="5669280"/>
            <a:ext cx="11247120" cy="64008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669280"/>
            <a:ext cx="11247120" cy="640080"/>
          </a:xfrm>
          <a:prstGeom prst="rect">
            <a:avLst/>
          </a:prstGeom>
          <a:noFill/>
        </p:spPr>
        <p:txBody>
          <a:bodyPr wrap="square" lIns="45720" rIns="45720" tIns="18288" bIns="18288" anchor="ctr">
            <a:spAutoFit/>
          </a:bodyPr>
          <a:lstStyle/>
          <a:p>
            <a:pPr algn="ctr"/>
            <a:r>
              <a:rPr sz="1200" b="1">
                <a:solidFill>
                  <a:srgbClr val="101828"/>
                </a:solidFill>
                <a:latin typeface="Calibri"/>
              </a:rPr>
              <a:t>Azure Boards GitHub App -- AB#123 references link commits / PRs / branches both ways and auto-transition work item state on PR merge</a:t>
            </a:r>
          </a:p>
        </p:txBody>
      </p:sp>
      <p:sp>
        <p:nvSpPr>
          <p:cNvPr id="19" name="TextBox 18"/>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20" name="TextBox 19"/>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Azure Boards &lt;-&gt; GitHub Linking</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How AB#123 references keep work items in ADO and code in GitHub stitched together</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2182307" cy="1645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371600"/>
            <a:ext cx="2182307" cy="1645920"/>
          </a:xfrm>
          <a:prstGeom prst="rect">
            <a:avLst/>
          </a:prstGeom>
          <a:noFill/>
        </p:spPr>
        <p:txBody>
          <a:bodyPr wrap="square" lIns="45720" rIns="45720" tIns="18288" bIns="18288" anchor="ctr">
            <a:spAutoFit/>
          </a:bodyPr>
          <a:lstStyle/>
          <a:p>
            <a:pPr algn="ctr"/>
            <a:r>
              <a:rPr sz="1100" b="1">
                <a:solidFill>
                  <a:srgbClr val="101828"/>
                </a:solidFill>
                <a:latin typeface="Calibri"/>
              </a:rPr>
              <a:t>Developer commits / opens PR
in GitHub</a:t>
            </a:r>
          </a:p>
        </p:txBody>
      </p:sp>
      <p:sp>
        <p:nvSpPr>
          <p:cNvPr id="9" name="Right Arrow 8"/>
          <p:cNvSpPr/>
          <p:nvPr/>
        </p:nvSpPr>
        <p:spPr>
          <a:xfrm>
            <a:off x="2552639" y="2148840"/>
            <a:ext cx="128016" cy="182880"/>
          </a:xfrm>
          <a:prstGeom prst="rightArrow">
            <a:avLst/>
          </a:prstGeom>
          <a:solidFill>
            <a:srgbClr val="1F4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685227" y="1371600"/>
            <a:ext cx="2182307" cy="1645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85227" y="1371600"/>
            <a:ext cx="2182307" cy="1645920"/>
          </a:xfrm>
          <a:prstGeom prst="rect">
            <a:avLst/>
          </a:prstGeom>
          <a:noFill/>
        </p:spPr>
        <p:txBody>
          <a:bodyPr wrap="square" lIns="45720" rIns="45720" tIns="18288" bIns="18288" anchor="ctr">
            <a:spAutoFit/>
          </a:bodyPr>
          <a:lstStyle/>
          <a:p>
            <a:pPr algn="ctr"/>
            <a:r>
              <a:rPr sz="1100" b="1">
                <a:solidFill>
                  <a:srgbClr val="101828"/>
                </a:solidFill>
                <a:latin typeface="Calibri"/>
              </a:rPr>
              <a:t>Mentions AB#123 in commit msg,
PR title, or branch name</a:t>
            </a:r>
          </a:p>
        </p:txBody>
      </p:sp>
      <p:sp>
        <p:nvSpPr>
          <p:cNvPr id="12" name="Right Arrow 11"/>
          <p:cNvSpPr/>
          <p:nvPr/>
        </p:nvSpPr>
        <p:spPr>
          <a:xfrm>
            <a:off x="4872106" y="2148840"/>
            <a:ext cx="128016" cy="182880"/>
          </a:xfrm>
          <a:prstGeom prst="rightArrow">
            <a:avLst/>
          </a:prstGeom>
          <a:solidFill>
            <a:srgbClr val="1F4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04694" y="1371600"/>
            <a:ext cx="2182307" cy="16459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04694" y="1371600"/>
            <a:ext cx="2182307" cy="1645920"/>
          </a:xfrm>
          <a:prstGeom prst="rect">
            <a:avLst/>
          </a:prstGeom>
          <a:noFill/>
        </p:spPr>
        <p:txBody>
          <a:bodyPr wrap="square" lIns="45720" rIns="45720" tIns="18288" bIns="18288" anchor="ctr">
            <a:spAutoFit/>
          </a:bodyPr>
          <a:lstStyle/>
          <a:p>
            <a:pPr algn="ctr"/>
            <a:r>
              <a:rPr sz="1100" b="1">
                <a:solidFill>
                  <a:srgbClr val="FFFFFF"/>
                </a:solidFill>
                <a:latin typeface="Calibri"/>
              </a:rPr>
              <a:t>Azure Boards GitHub App
detects reference</a:t>
            </a:r>
          </a:p>
        </p:txBody>
      </p:sp>
      <p:sp>
        <p:nvSpPr>
          <p:cNvPr id="15" name="Right Arrow 14"/>
          <p:cNvSpPr/>
          <p:nvPr/>
        </p:nvSpPr>
        <p:spPr>
          <a:xfrm>
            <a:off x="7191573" y="2148840"/>
            <a:ext cx="128016" cy="182880"/>
          </a:xfrm>
          <a:prstGeom prst="rightArrow">
            <a:avLst/>
          </a:prstGeom>
          <a:solidFill>
            <a:srgbClr val="1F4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24161" y="1371600"/>
            <a:ext cx="2182307" cy="1645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24161" y="1371600"/>
            <a:ext cx="2182307" cy="1645920"/>
          </a:xfrm>
          <a:prstGeom prst="rect">
            <a:avLst/>
          </a:prstGeom>
          <a:noFill/>
        </p:spPr>
        <p:txBody>
          <a:bodyPr wrap="square" lIns="45720" rIns="45720" tIns="18288" bIns="18288" anchor="ctr">
            <a:spAutoFit/>
          </a:bodyPr>
          <a:lstStyle/>
          <a:p>
            <a:pPr algn="ctr"/>
            <a:r>
              <a:rPr sz="1100" b="1">
                <a:solidFill>
                  <a:srgbClr val="101828"/>
                </a:solidFill>
                <a:latin typeface="Calibri"/>
              </a:rPr>
              <a:t>ADO work item links to the
GitHub PR / commit / branch</a:t>
            </a:r>
          </a:p>
        </p:txBody>
      </p:sp>
      <p:sp>
        <p:nvSpPr>
          <p:cNvPr id="18" name="Right Arrow 17"/>
          <p:cNvSpPr/>
          <p:nvPr/>
        </p:nvSpPr>
        <p:spPr>
          <a:xfrm>
            <a:off x="9511040" y="2148840"/>
            <a:ext cx="128016" cy="182880"/>
          </a:xfrm>
          <a:prstGeom prst="rightArrow">
            <a:avLst/>
          </a:prstGeom>
          <a:solidFill>
            <a:srgbClr val="1F4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643628" y="1371600"/>
            <a:ext cx="2182307" cy="1645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43628" y="1371600"/>
            <a:ext cx="2182307" cy="1645920"/>
          </a:xfrm>
          <a:prstGeom prst="rect">
            <a:avLst/>
          </a:prstGeom>
          <a:noFill/>
        </p:spPr>
        <p:txBody>
          <a:bodyPr wrap="square" lIns="45720" rIns="45720" tIns="18288" bIns="18288" anchor="ctr">
            <a:spAutoFit/>
          </a:bodyPr>
          <a:lstStyle/>
          <a:p>
            <a:pPr algn="ctr"/>
            <a:r>
              <a:rPr sz="1100" b="1">
                <a:solidFill>
                  <a:srgbClr val="FFFFFF"/>
                </a:solidFill>
                <a:latin typeface="Calibri"/>
              </a:rPr>
              <a:t>On PR merge, ADO work item
auto-transitions state</a:t>
            </a:r>
          </a:p>
        </p:txBody>
      </p:sp>
      <p:sp>
        <p:nvSpPr>
          <p:cNvPr id="21" name="TextBox 20"/>
          <p:cNvSpPr txBox="1"/>
          <p:nvPr/>
        </p:nvSpPr>
        <p:spPr>
          <a:xfrm>
            <a:off x="365760" y="3474720"/>
            <a:ext cx="11430000" cy="365760"/>
          </a:xfrm>
          <a:prstGeom prst="rect">
            <a:avLst/>
          </a:prstGeom>
          <a:noFill/>
        </p:spPr>
        <p:txBody>
          <a:bodyPr wrap="square" lIns="45720" rIns="45720" tIns="18288" bIns="18288" anchor="t">
            <a:spAutoFit/>
          </a:bodyPr>
          <a:lstStyle/>
          <a:p>
            <a:pPr algn="l"/>
            <a:r>
              <a:rPr sz="1400" b="1">
                <a:solidFill>
                  <a:srgbClr val="1F4D42"/>
                </a:solidFill>
                <a:latin typeface="Calibri"/>
              </a:rPr>
              <a:t>Capabilities provided by the integration</a:t>
            </a:r>
          </a:p>
        </p:txBody>
      </p:sp>
      <p:graphicFrame>
        <p:nvGraphicFramePr>
          <p:cNvPr id="22" name="Table 21"/>
          <p:cNvGraphicFramePr>
            <a:graphicFrameLocks noGrp="1"/>
          </p:cNvGraphicFramePr>
          <p:nvPr/>
        </p:nvGraphicFramePr>
        <p:xfrm>
          <a:off x="365760" y="3931920"/>
          <a:ext cx="11430000" cy="2286000"/>
        </p:xfrm>
        <a:graphic>
          <a:graphicData uri="http://schemas.openxmlformats.org/drawingml/2006/table">
            <a:tbl>
              <a:tblPr firstRow="1" bandRow="1">
                <a:tableStyleId>{5C22544A-7EE6-4342-B048-85BDC9FD1C3A}</a:tableStyleId>
              </a:tblPr>
              <a:tblGrid>
                <a:gridCol w="4572000"/>
                <a:gridCol w="1371600"/>
                <a:gridCol w="5486400"/>
              </a:tblGrid>
              <a:tr h="326571">
                <a:tc>
                  <a:txBody>
                    <a:bodyPr wrap="square"/>
                    <a:lstStyle/>
                    <a:p>
                      <a:pPr algn="l"/>
                      <a:r>
                        <a:rPr sz="1100" b="1">
                          <a:solidFill>
                            <a:srgbClr val="FFFFFF"/>
                          </a:solidFill>
                          <a:latin typeface="Calibri"/>
                        </a:rPr>
                        <a:t>Capability</a:t>
                      </a:r>
                    </a:p>
                  </a:txBody>
                  <a:tcPr marL="45720" marR="45720" marT="18288" marB="18288">
                    <a:solidFill>
                      <a:srgbClr val="1F4D42"/>
                    </a:solidFill>
                  </a:tcPr>
                </a:tc>
                <a:tc>
                  <a:txBody>
                    <a:bodyPr wrap="square"/>
                    <a:lstStyle/>
                    <a:p>
                      <a:pPr algn="l"/>
                      <a:r>
                        <a:rPr sz="1100" b="1">
                          <a:solidFill>
                            <a:srgbClr val="FFFFFF"/>
                          </a:solidFill>
                          <a:latin typeface="Calibri"/>
                        </a:rPr>
                        <a:t>Works?</a:t>
                      </a:r>
                    </a:p>
                  </a:txBody>
                  <a:tcPr marL="45720" marR="45720" marT="18288" marB="18288">
                    <a:solidFill>
                      <a:srgbClr val="1F4D42"/>
                    </a:solidFill>
                  </a:tcPr>
                </a:tc>
                <a:tc>
                  <a:txBody>
                    <a:bodyPr wrap="square"/>
                    <a:lstStyle/>
                    <a:p>
                      <a:pPr algn="l"/>
                      <a:r>
                        <a:rPr sz="1100" b="1">
                          <a:solidFill>
                            <a:srgbClr val="FFFFFF"/>
                          </a:solidFill>
                          <a:latin typeface="Calibri"/>
                        </a:rPr>
                        <a:t>Notes</a:t>
                      </a:r>
                    </a:p>
                  </a:txBody>
                  <a:tcPr marL="45720" marR="45720" marT="18288" marB="18288">
                    <a:solidFill>
                      <a:srgbClr val="1F4D42"/>
                    </a:solidFill>
                  </a:tcPr>
                </a:tc>
              </a:tr>
              <a:tr h="326571">
                <a:tc>
                  <a:txBody>
                    <a:bodyPr wrap="square"/>
                    <a:lstStyle/>
                    <a:p>
                      <a:pPr algn="l"/>
                      <a:r>
                        <a:rPr sz="1100" b="0">
                          <a:solidFill>
                            <a:srgbClr val="101828"/>
                          </a:solidFill>
                          <a:latin typeface="Calibri"/>
                        </a:rPr>
                        <a:t>Link GitHub PR &lt;-&gt; ADO work item</a:t>
                      </a:r>
                    </a:p>
                  </a:txBody>
                  <a:tcPr marL="45720" marR="45720" marT="18288" marB="18288">
                    <a:solidFill>
                      <a:srgbClr val="FFFFFF"/>
                    </a:solidFill>
                  </a:tcPr>
                </a:tc>
                <a:tc>
                  <a:txBody>
                    <a:bodyPr wrap="square"/>
                    <a:lstStyle/>
                    <a:p>
                      <a:pPr algn="l"/>
                      <a:r>
                        <a:rPr sz="1100" b="0">
                          <a:solidFill>
                            <a:srgbClr val="101828"/>
                          </a:solidFill>
                          <a:latin typeface="Calibri"/>
                        </a:rPr>
                        <a:t>Yes</a:t>
                      </a:r>
                    </a:p>
                  </a:txBody>
                  <a:tcPr marL="45720" marR="45720" marT="18288" marB="18288">
                    <a:solidFill>
                      <a:srgbClr val="FFFFFF"/>
                    </a:solidFill>
                  </a:tcPr>
                </a:tc>
                <a:tc>
                  <a:txBody>
                    <a:bodyPr wrap="square"/>
                    <a:lstStyle/>
                    <a:p>
                      <a:pPr algn="l"/>
                      <a:r>
                        <a:rPr sz="1100" b="0">
                          <a:solidFill>
                            <a:srgbClr val="101828"/>
                          </a:solidFill>
                          <a:latin typeface="Calibri"/>
                        </a:rPr>
                        <a:t>Two-way visibility on both platforms</a:t>
                      </a:r>
                    </a:p>
                  </a:txBody>
                  <a:tcPr marL="45720" marR="45720" marT="18288" marB="18288">
                    <a:solidFill>
                      <a:srgbClr val="FFFFFF"/>
                    </a:solidFill>
                  </a:tcPr>
                </a:tc>
              </a:tr>
              <a:tr h="326571">
                <a:tc>
                  <a:txBody>
                    <a:bodyPr wrap="square"/>
                    <a:lstStyle/>
                    <a:p>
                      <a:pPr algn="l"/>
                      <a:r>
                        <a:rPr sz="1100" b="0">
                          <a:solidFill>
                            <a:srgbClr val="101828"/>
                          </a:solidFill>
                          <a:latin typeface="Calibri"/>
                        </a:rPr>
                        <a:t>Link GitHub commit &lt;-&gt; ADO work item</a:t>
                      </a:r>
                    </a:p>
                  </a:txBody>
                  <a:tcPr marL="45720" marR="45720" marT="18288" marB="18288">
                    <a:solidFill>
                      <a:srgbClr val="F2F4F7"/>
                    </a:solidFill>
                  </a:tcPr>
                </a:tc>
                <a:tc>
                  <a:txBody>
                    <a:bodyPr wrap="square"/>
                    <a:lstStyle/>
                    <a:p>
                      <a:pPr algn="l"/>
                      <a:r>
                        <a:rPr sz="1100" b="0">
                          <a:solidFill>
                            <a:srgbClr val="101828"/>
                          </a:solidFill>
                          <a:latin typeface="Calibri"/>
                        </a:rPr>
                        <a:t>Yes</a:t>
                      </a:r>
                    </a:p>
                  </a:txBody>
                  <a:tcPr marL="45720" marR="45720" marT="18288" marB="18288">
                    <a:solidFill>
                      <a:srgbClr val="F2F4F7"/>
                    </a:solidFill>
                  </a:tcPr>
                </a:tc>
                <a:tc>
                  <a:txBody>
                    <a:bodyPr wrap="square"/>
                    <a:lstStyle/>
                    <a:p>
                      <a:pPr algn="l"/>
                      <a:r>
                        <a:rPr sz="1100" b="0">
                          <a:solidFill>
                            <a:srgbClr val="101828"/>
                          </a:solidFill>
                          <a:latin typeface="Calibri"/>
                        </a:rPr>
                        <a:t>Reference in commit message</a:t>
                      </a:r>
                    </a:p>
                  </a:txBody>
                  <a:tcPr marL="45720" marR="45720" marT="18288" marB="18288">
                    <a:solidFill>
                      <a:srgbClr val="F2F4F7"/>
                    </a:solidFill>
                  </a:tcPr>
                </a:tc>
              </a:tr>
              <a:tr h="326571">
                <a:tc>
                  <a:txBody>
                    <a:bodyPr wrap="square"/>
                    <a:lstStyle/>
                    <a:p>
                      <a:pPr algn="l"/>
                      <a:r>
                        <a:rPr sz="1100" b="0">
                          <a:solidFill>
                            <a:srgbClr val="101828"/>
                          </a:solidFill>
                          <a:latin typeface="Calibri"/>
                        </a:rPr>
                        <a:t>Link GitHub branch &lt;-&gt; ADO work item</a:t>
                      </a:r>
                    </a:p>
                  </a:txBody>
                  <a:tcPr marL="45720" marR="45720" marT="18288" marB="18288">
                    <a:solidFill>
                      <a:srgbClr val="FFFFFF"/>
                    </a:solidFill>
                  </a:tcPr>
                </a:tc>
                <a:tc>
                  <a:txBody>
                    <a:bodyPr wrap="square"/>
                    <a:lstStyle/>
                    <a:p>
                      <a:pPr algn="l"/>
                      <a:r>
                        <a:rPr sz="1100" b="0">
                          <a:solidFill>
                            <a:srgbClr val="101828"/>
                          </a:solidFill>
                          <a:latin typeface="Calibri"/>
                        </a:rPr>
                        <a:t>Yes</a:t>
                      </a:r>
                    </a:p>
                  </a:txBody>
                  <a:tcPr marL="45720" marR="45720" marT="18288" marB="18288">
                    <a:solidFill>
                      <a:srgbClr val="FFFFFF"/>
                    </a:solidFill>
                  </a:tcPr>
                </a:tc>
                <a:tc>
                  <a:txBody>
                    <a:bodyPr wrap="square"/>
                    <a:lstStyle/>
                    <a:p>
                      <a:pPr algn="l"/>
                      <a:r>
                        <a:rPr sz="1100" b="0">
                          <a:solidFill>
                            <a:srgbClr val="101828"/>
                          </a:solidFill>
                          <a:latin typeface="Calibri"/>
                        </a:rPr>
                        <a:t>Reference in branch name</a:t>
                      </a:r>
                    </a:p>
                  </a:txBody>
                  <a:tcPr marL="45720" marR="45720" marT="18288" marB="18288">
                    <a:solidFill>
                      <a:srgbClr val="FFFFFF"/>
                    </a:solidFill>
                  </a:tcPr>
                </a:tc>
              </a:tr>
              <a:tr h="326571">
                <a:tc>
                  <a:txBody>
                    <a:bodyPr wrap="square"/>
                    <a:lstStyle/>
                    <a:p>
                      <a:pPr algn="l"/>
                      <a:r>
                        <a:rPr sz="1100" b="0">
                          <a:solidFill>
                            <a:srgbClr val="101828"/>
                          </a:solidFill>
                          <a:latin typeface="Calibri"/>
                        </a:rPr>
                        <a:t>Auto-state-transition on PR merge</a:t>
                      </a:r>
                    </a:p>
                  </a:txBody>
                  <a:tcPr marL="45720" marR="45720" marT="18288" marB="18288">
                    <a:solidFill>
                      <a:srgbClr val="F2F4F7"/>
                    </a:solidFill>
                  </a:tcPr>
                </a:tc>
                <a:tc>
                  <a:txBody>
                    <a:bodyPr wrap="square"/>
                    <a:lstStyle/>
                    <a:p>
                      <a:pPr algn="l"/>
                      <a:r>
                        <a:rPr sz="1100" b="0">
                          <a:solidFill>
                            <a:srgbClr val="101828"/>
                          </a:solidFill>
                          <a:latin typeface="Calibri"/>
                        </a:rPr>
                        <a:t>Yes</a:t>
                      </a:r>
                    </a:p>
                  </a:txBody>
                  <a:tcPr marL="45720" marR="45720" marT="18288" marB="18288">
                    <a:solidFill>
                      <a:srgbClr val="F2F4F7"/>
                    </a:solidFill>
                  </a:tcPr>
                </a:tc>
                <a:tc>
                  <a:txBody>
                    <a:bodyPr wrap="square"/>
                    <a:lstStyle/>
                    <a:p>
                      <a:pPr algn="l"/>
                      <a:r>
                        <a:rPr sz="1100" b="0">
                          <a:solidFill>
                            <a:srgbClr val="101828"/>
                          </a:solidFill>
                          <a:latin typeface="Calibri"/>
                        </a:rPr>
                        <a:t>Configurable via ADO process template</a:t>
                      </a:r>
                    </a:p>
                  </a:txBody>
                  <a:tcPr marL="45720" marR="45720" marT="18288" marB="18288">
                    <a:solidFill>
                      <a:srgbClr val="F2F4F7"/>
                    </a:solidFill>
                  </a:tcPr>
                </a:tc>
              </a:tr>
              <a:tr h="326571">
                <a:tc>
                  <a:txBody>
                    <a:bodyPr wrap="square"/>
                    <a:lstStyle/>
                    <a:p>
                      <a:pPr algn="l"/>
                      <a:r>
                        <a:rPr sz="1100" b="0">
                          <a:solidFill>
                            <a:srgbClr val="101828"/>
                          </a:solidFill>
                          <a:latin typeface="Calibri"/>
                        </a:rPr>
                        <a:t>Multiple ADO projects -&gt; one GHE org</a:t>
                      </a:r>
                    </a:p>
                  </a:txBody>
                  <a:tcPr marL="45720" marR="45720" marT="18288" marB="18288">
                    <a:solidFill>
                      <a:srgbClr val="FFFFFF"/>
                    </a:solidFill>
                  </a:tcPr>
                </a:tc>
                <a:tc>
                  <a:txBody>
                    <a:bodyPr wrap="square"/>
                    <a:lstStyle/>
                    <a:p>
                      <a:pPr algn="l"/>
                      <a:r>
                        <a:rPr sz="1100" b="0">
                          <a:solidFill>
                            <a:srgbClr val="101828"/>
                          </a:solidFill>
                          <a:latin typeface="Calibri"/>
                        </a:rPr>
                        <a:t>Yes</a:t>
                      </a:r>
                    </a:p>
                  </a:txBody>
                  <a:tcPr marL="45720" marR="45720" marT="18288" marB="18288">
                    <a:solidFill>
                      <a:srgbClr val="FFFFFF"/>
                    </a:solidFill>
                  </a:tcPr>
                </a:tc>
                <a:tc>
                  <a:txBody>
                    <a:bodyPr wrap="square"/>
                    <a:lstStyle/>
                    <a:p>
                      <a:pPr algn="l"/>
                      <a:r>
                        <a:rPr sz="1100" b="0">
                          <a:solidFill>
                            <a:srgbClr val="101828"/>
                          </a:solidFill>
                          <a:latin typeface="Calibri"/>
                        </a:rPr>
                        <a:t>Multi-project mapping supported</a:t>
                      </a:r>
                    </a:p>
                  </a:txBody>
                  <a:tcPr marL="45720" marR="45720" marT="18288" marB="18288">
                    <a:solidFill>
                      <a:srgbClr val="FFFFFF"/>
                    </a:solidFill>
                  </a:tcPr>
                </a:tc>
              </a:tr>
              <a:tr h="326574">
                <a:tc>
                  <a:txBody>
                    <a:bodyPr wrap="square"/>
                    <a:lstStyle/>
                    <a:p>
                      <a:pPr algn="l"/>
                      <a:r>
                        <a:rPr sz="1100" b="0">
                          <a:solidFill>
                            <a:srgbClr val="101828"/>
                          </a:solidFill>
                          <a:latin typeface="Calibri"/>
                        </a:rPr>
                        <a:t>Multiple GHE orgs -&gt; one ADO org</a:t>
                      </a:r>
                    </a:p>
                  </a:txBody>
                  <a:tcPr marL="45720" marR="45720" marT="18288" marB="18288">
                    <a:solidFill>
                      <a:srgbClr val="F2F4F7"/>
                    </a:solidFill>
                  </a:tcPr>
                </a:tc>
                <a:tc>
                  <a:txBody>
                    <a:bodyPr wrap="square"/>
                    <a:lstStyle/>
                    <a:p>
                      <a:pPr algn="l"/>
                      <a:r>
                        <a:rPr sz="1100" b="0">
                          <a:solidFill>
                            <a:srgbClr val="101828"/>
                          </a:solidFill>
                          <a:latin typeface="Calibri"/>
                        </a:rPr>
                        <a:t>Yes</a:t>
                      </a:r>
                    </a:p>
                  </a:txBody>
                  <a:tcPr marL="45720" marR="45720" marT="18288" marB="18288">
                    <a:solidFill>
                      <a:srgbClr val="F2F4F7"/>
                    </a:solidFill>
                  </a:tcPr>
                </a:tc>
                <a:tc>
                  <a:txBody>
                    <a:bodyPr wrap="square"/>
                    <a:lstStyle/>
                    <a:p>
                      <a:pPr algn="l"/>
                      <a:r>
                        <a:rPr sz="1100" b="0">
                          <a:solidFill>
                            <a:srgbClr val="101828"/>
                          </a:solidFill>
                          <a:latin typeface="Calibri"/>
                        </a:rPr>
                        <a:t>Install per ADO org</a:t>
                      </a:r>
                    </a:p>
                  </a:txBody>
                  <a:tcPr marL="45720" marR="45720" marT="18288" marB="18288">
                    <a:solidFill>
                      <a:srgbClr val="F2F4F7"/>
                    </a:solidFill>
                  </a:tcPr>
                </a:tc>
              </a:tr>
            </a:tbl>
          </a:graphicData>
        </a:graphic>
      </p:graphicFrame>
      <p:sp>
        <p:nvSpPr>
          <p:cNvPr id="23" name="TextBox 22"/>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24" name="TextBox 23"/>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Pre-requisites</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Must be in place before Week 1 kick-off</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365760" y="1051560"/>
          <a:ext cx="11429999" cy="5349240"/>
        </p:xfrm>
        <a:graphic>
          <a:graphicData uri="http://schemas.openxmlformats.org/drawingml/2006/table">
            <a:tbl>
              <a:tblPr firstRow="1" bandRow="1">
                <a:tableStyleId>{5C22544A-7EE6-4342-B048-85BDC9FD1C3A}</a:tableStyleId>
              </a:tblPr>
              <a:tblGrid>
                <a:gridCol w="544285"/>
                <a:gridCol w="1632857"/>
                <a:gridCol w="9252857"/>
              </a:tblGrid>
              <a:tr h="281538">
                <a:tc>
                  <a:txBody>
                    <a:bodyPr wrap="square"/>
                    <a:lstStyle/>
                    <a:p>
                      <a:pPr algn="l"/>
                      <a:r>
                        <a:rPr sz="1000" b="1">
                          <a:solidFill>
                            <a:srgbClr val="FFFFFF"/>
                          </a:solidFill>
                          <a:latin typeface="Calibri"/>
                        </a:rPr>
                        <a:t>#</a:t>
                      </a:r>
                    </a:p>
                  </a:txBody>
                  <a:tcPr marL="45720" marR="45720" marT="18288" marB="18288">
                    <a:solidFill>
                      <a:srgbClr val="1F4D42"/>
                    </a:solidFill>
                  </a:tcPr>
                </a:tc>
                <a:tc>
                  <a:txBody>
                    <a:bodyPr wrap="square"/>
                    <a:lstStyle/>
                    <a:p>
                      <a:pPr algn="l"/>
                      <a:r>
                        <a:rPr sz="1000" b="1">
                          <a:solidFill>
                            <a:srgbClr val="FFFFFF"/>
                          </a:solidFill>
                          <a:latin typeface="Calibri"/>
                        </a:rPr>
                        <a:t>Category</a:t>
                      </a:r>
                    </a:p>
                  </a:txBody>
                  <a:tcPr marL="45720" marR="45720" marT="18288" marB="18288">
                    <a:solidFill>
                      <a:srgbClr val="1F4D42"/>
                    </a:solidFill>
                  </a:tcPr>
                </a:tc>
                <a:tc>
                  <a:txBody>
                    <a:bodyPr wrap="square"/>
                    <a:lstStyle/>
                    <a:p>
                      <a:pPr algn="l"/>
                      <a:r>
                        <a:rPr sz="1000" b="1">
                          <a:solidFill>
                            <a:srgbClr val="FFFFFF"/>
                          </a:solidFill>
                          <a:latin typeface="Calibri"/>
                        </a:rPr>
                        <a:t>Pre-requisite</a:t>
                      </a:r>
                    </a:p>
                  </a:txBody>
                  <a:tcPr marL="45720" marR="45720" marT="18288" marB="18288">
                    <a:solidFill>
                      <a:srgbClr val="1F4D42"/>
                    </a:solidFill>
                  </a:tcPr>
                </a:tc>
              </a:tr>
              <a:tr h="281538">
                <a:tc>
                  <a:txBody>
                    <a:bodyPr wrap="square"/>
                    <a:lstStyle/>
                    <a:p>
                      <a:pPr algn="l"/>
                      <a:r>
                        <a:rPr sz="1000" b="0">
                          <a:solidFill>
                            <a:srgbClr val="101828"/>
                          </a:solidFill>
                          <a:latin typeface="Calibri"/>
                        </a:rPr>
                        <a:t>1</a:t>
                      </a:r>
                    </a:p>
                  </a:txBody>
                  <a:tcPr marL="45720" marR="45720" marT="18288" marB="18288">
                    <a:solidFill>
                      <a:srgbClr val="FFFFFF"/>
                    </a:solidFill>
                  </a:tcPr>
                </a:tc>
                <a:tc>
                  <a:txBody>
                    <a:bodyPr wrap="square"/>
                    <a:lstStyle/>
                    <a:p>
                      <a:pPr algn="l"/>
                      <a:r>
                        <a:rPr sz="1000" b="0">
                          <a:solidFill>
                            <a:srgbClr val="101828"/>
                          </a:solidFill>
                          <a:latin typeface="Calibri"/>
                        </a:rPr>
                        <a:t>Commercial</a:t>
                      </a:r>
                    </a:p>
                  </a:txBody>
                  <a:tcPr marL="45720" marR="45720" marT="18288" marB="18288">
                    <a:solidFill>
                      <a:srgbClr val="FFFFFF"/>
                    </a:solidFill>
                  </a:tcPr>
                </a:tc>
                <a:tc>
                  <a:txBody>
                    <a:bodyPr wrap="square"/>
                    <a:lstStyle/>
                    <a:p>
                      <a:pPr algn="l"/>
                      <a:r>
                        <a:rPr sz="1000" b="0">
                          <a:solidFill>
                            <a:srgbClr val="101828"/>
                          </a:solidFill>
                          <a:latin typeface="Calibri"/>
                        </a:rPr>
                        <a:t>GHE Enterprise (EMU) contract signed and tenant provisioned</a:t>
                      </a:r>
                    </a:p>
                  </a:txBody>
                  <a:tcPr marL="45720" marR="45720" marT="18288" marB="18288">
                    <a:solidFill>
                      <a:srgbClr val="FFFFFF"/>
                    </a:solidFill>
                  </a:tcPr>
                </a:tc>
              </a:tr>
              <a:tr h="281538">
                <a:tc>
                  <a:txBody>
                    <a:bodyPr wrap="square"/>
                    <a:lstStyle/>
                    <a:p>
                      <a:pPr algn="l"/>
                      <a:r>
                        <a:rPr sz="1000" b="0">
                          <a:solidFill>
                            <a:srgbClr val="101828"/>
                          </a:solidFill>
                          <a:latin typeface="Calibri"/>
                        </a:rPr>
                        <a:t>2</a:t>
                      </a:r>
                    </a:p>
                  </a:txBody>
                  <a:tcPr marL="45720" marR="45720" marT="18288" marB="18288">
                    <a:solidFill>
                      <a:srgbClr val="F2F4F7"/>
                    </a:solidFill>
                  </a:tcPr>
                </a:tc>
                <a:tc>
                  <a:txBody>
                    <a:bodyPr wrap="square"/>
                    <a:lstStyle/>
                    <a:p>
                      <a:pPr algn="l"/>
                      <a:r>
                        <a:rPr sz="1000" b="0">
                          <a:solidFill>
                            <a:srgbClr val="101828"/>
                          </a:solidFill>
                          <a:latin typeface="Calibri"/>
                        </a:rPr>
                        <a:t>Commercial</a:t>
                      </a:r>
                    </a:p>
                  </a:txBody>
                  <a:tcPr marL="45720" marR="45720" marT="18288" marB="18288">
                    <a:solidFill>
                      <a:srgbClr val="F2F4F7"/>
                    </a:solidFill>
                  </a:tcPr>
                </a:tc>
                <a:tc>
                  <a:txBody>
                    <a:bodyPr wrap="square"/>
                    <a:lstStyle/>
                    <a:p>
                      <a:pPr algn="l"/>
                      <a:r>
                        <a:rPr sz="1000" b="0">
                          <a:solidFill>
                            <a:srgbClr val="101828"/>
                          </a:solidFill>
                          <a:latin typeface="Calibri"/>
                        </a:rPr>
                        <a:t>GHE seat count confirmed &gt;= 500 active users</a:t>
                      </a:r>
                    </a:p>
                  </a:txBody>
                  <a:tcPr marL="45720" marR="45720" marT="18288" marB="18288">
                    <a:solidFill>
                      <a:srgbClr val="F2F4F7"/>
                    </a:solidFill>
                  </a:tcPr>
                </a:tc>
              </a:tr>
              <a:tr h="281538">
                <a:tc>
                  <a:txBody>
                    <a:bodyPr wrap="square"/>
                    <a:lstStyle/>
                    <a:p>
                      <a:pPr algn="l"/>
                      <a:r>
                        <a:rPr sz="1000" b="0">
                          <a:solidFill>
                            <a:srgbClr val="101828"/>
                          </a:solidFill>
                          <a:latin typeface="Calibri"/>
                        </a:rPr>
                        <a:t>3</a:t>
                      </a:r>
                    </a:p>
                  </a:txBody>
                  <a:tcPr marL="45720" marR="45720" marT="18288" marB="18288">
                    <a:solidFill>
                      <a:srgbClr val="FFFFFF"/>
                    </a:solidFill>
                  </a:tcPr>
                </a:tc>
                <a:tc>
                  <a:txBody>
                    <a:bodyPr wrap="square"/>
                    <a:lstStyle/>
                    <a:p>
                      <a:pPr algn="l"/>
                      <a:r>
                        <a:rPr sz="1000" b="0">
                          <a:solidFill>
                            <a:srgbClr val="101828"/>
                          </a:solidFill>
                          <a:latin typeface="Calibri"/>
                        </a:rPr>
                        <a:t>Commercial</a:t>
                      </a:r>
                    </a:p>
                  </a:txBody>
                  <a:tcPr marL="45720" marR="45720" marT="18288" marB="18288">
                    <a:solidFill>
                      <a:srgbClr val="FFFFFF"/>
                    </a:solidFill>
                  </a:tcPr>
                </a:tc>
                <a:tc>
                  <a:txBody>
                    <a:bodyPr wrap="square"/>
                    <a:lstStyle/>
                    <a:p>
                      <a:pPr algn="l"/>
                      <a:r>
                        <a:rPr sz="1000" b="0">
                          <a:solidFill>
                            <a:srgbClr val="101828"/>
                          </a:solidFill>
                          <a:latin typeface="Calibri"/>
                        </a:rPr>
                        <a:t>Decision: GitHub Advanced Security in or out of Phase 1</a:t>
                      </a:r>
                    </a:p>
                  </a:txBody>
                  <a:tcPr marL="45720" marR="45720" marT="18288" marB="18288">
                    <a:solidFill>
                      <a:srgbClr val="FFFFFF"/>
                    </a:solidFill>
                  </a:tcPr>
                </a:tc>
              </a:tr>
              <a:tr h="281538">
                <a:tc>
                  <a:txBody>
                    <a:bodyPr wrap="square"/>
                    <a:lstStyle/>
                    <a:p>
                      <a:pPr algn="l"/>
                      <a:r>
                        <a:rPr sz="1000" b="0">
                          <a:solidFill>
                            <a:srgbClr val="101828"/>
                          </a:solidFill>
                          <a:latin typeface="Calibri"/>
                        </a:rPr>
                        <a:t>4</a:t>
                      </a:r>
                    </a:p>
                  </a:txBody>
                  <a:tcPr marL="45720" marR="45720" marT="18288" marB="18288">
                    <a:solidFill>
                      <a:srgbClr val="F2F4F7"/>
                    </a:solidFill>
                  </a:tcPr>
                </a:tc>
                <a:tc>
                  <a:txBody>
                    <a:bodyPr wrap="square"/>
                    <a:lstStyle/>
                    <a:p>
                      <a:pPr algn="l"/>
                      <a:r>
                        <a:rPr sz="1000" b="0">
                          <a:solidFill>
                            <a:srgbClr val="101828"/>
                          </a:solidFill>
                          <a:latin typeface="Calibri"/>
                        </a:rPr>
                        <a:t>Identity</a:t>
                      </a:r>
                    </a:p>
                  </a:txBody>
                  <a:tcPr marL="45720" marR="45720" marT="18288" marB="18288">
                    <a:solidFill>
                      <a:srgbClr val="F2F4F7"/>
                    </a:solidFill>
                  </a:tcPr>
                </a:tc>
                <a:tc>
                  <a:txBody>
                    <a:bodyPr wrap="square"/>
                    <a:lstStyle/>
                    <a:p>
                      <a:pPr algn="l"/>
                      <a:r>
                        <a:rPr sz="1000" b="0">
                          <a:solidFill>
                            <a:srgbClr val="101828"/>
                          </a:solidFill>
                          <a:latin typeface="Calibri"/>
                        </a:rPr>
                        <a:t>MoJ Entra ID tenant admin available for SAML + SCIM in Weeks 3-4</a:t>
                      </a:r>
                    </a:p>
                  </a:txBody>
                  <a:tcPr marL="45720" marR="45720" marT="18288" marB="18288">
                    <a:solidFill>
                      <a:srgbClr val="F2F4F7"/>
                    </a:solidFill>
                  </a:tcPr>
                </a:tc>
              </a:tr>
              <a:tr h="281538">
                <a:tc>
                  <a:txBody>
                    <a:bodyPr wrap="square"/>
                    <a:lstStyle/>
                    <a:p>
                      <a:pPr algn="l"/>
                      <a:r>
                        <a:rPr sz="1000" b="0">
                          <a:solidFill>
                            <a:srgbClr val="101828"/>
                          </a:solidFill>
                          <a:latin typeface="Calibri"/>
                        </a:rPr>
                        <a:t>5</a:t>
                      </a:r>
                    </a:p>
                  </a:txBody>
                  <a:tcPr marL="45720" marR="45720" marT="18288" marB="18288">
                    <a:solidFill>
                      <a:srgbClr val="FFFFFF"/>
                    </a:solidFill>
                  </a:tcPr>
                </a:tc>
                <a:tc>
                  <a:txBody>
                    <a:bodyPr wrap="square"/>
                    <a:lstStyle/>
                    <a:p>
                      <a:pPr algn="l"/>
                      <a:r>
                        <a:rPr sz="1000" b="0">
                          <a:solidFill>
                            <a:srgbClr val="101828"/>
                          </a:solidFill>
                          <a:latin typeface="Calibri"/>
                        </a:rPr>
                        <a:t>Identity</a:t>
                      </a:r>
                    </a:p>
                  </a:txBody>
                  <a:tcPr marL="45720" marR="45720" marT="18288" marB="18288">
                    <a:solidFill>
                      <a:srgbClr val="FFFFFF"/>
                    </a:solidFill>
                  </a:tcPr>
                </a:tc>
                <a:tc>
                  <a:txBody>
                    <a:bodyPr wrap="square"/>
                    <a:lstStyle/>
                    <a:p>
                      <a:pPr algn="l"/>
                      <a:r>
                        <a:rPr sz="1000" b="0">
                          <a:solidFill>
                            <a:srgbClr val="101828"/>
                          </a:solidFill>
                          <a:latin typeface="Calibri"/>
                        </a:rPr>
                        <a:t>Identity mapping spreadsheet started (ADO user -&gt; Entra UPN -&gt; EMU)</a:t>
                      </a:r>
                    </a:p>
                  </a:txBody>
                  <a:tcPr marL="45720" marR="45720" marT="18288" marB="18288">
                    <a:solidFill>
                      <a:srgbClr val="FFFFFF"/>
                    </a:solidFill>
                  </a:tcPr>
                </a:tc>
              </a:tr>
              <a:tr h="281538">
                <a:tc>
                  <a:txBody>
                    <a:bodyPr wrap="square"/>
                    <a:lstStyle/>
                    <a:p>
                      <a:pPr algn="l"/>
                      <a:r>
                        <a:rPr sz="1000" b="0">
                          <a:solidFill>
                            <a:srgbClr val="101828"/>
                          </a:solidFill>
                          <a:latin typeface="Calibri"/>
                        </a:rPr>
                        <a:t>6</a:t>
                      </a:r>
                    </a:p>
                  </a:txBody>
                  <a:tcPr marL="45720" marR="45720" marT="18288" marB="18288">
                    <a:solidFill>
                      <a:srgbClr val="F2F4F7"/>
                    </a:solidFill>
                  </a:tcPr>
                </a:tc>
                <a:tc>
                  <a:txBody>
                    <a:bodyPr wrap="square"/>
                    <a:lstStyle/>
                    <a:p>
                      <a:pPr algn="l"/>
                      <a:r>
                        <a:rPr sz="1000" b="0">
                          <a:solidFill>
                            <a:srgbClr val="101828"/>
                          </a:solidFill>
                          <a:latin typeface="Calibri"/>
                        </a:rPr>
                        <a:t>Identity</a:t>
                      </a:r>
                    </a:p>
                  </a:txBody>
                  <a:tcPr marL="45720" marR="45720" marT="18288" marB="18288">
                    <a:solidFill>
                      <a:srgbClr val="F2F4F7"/>
                    </a:solidFill>
                  </a:tcPr>
                </a:tc>
                <a:tc>
                  <a:txBody>
                    <a:bodyPr wrap="square"/>
                    <a:lstStyle/>
                    <a:p>
                      <a:pPr algn="l"/>
                      <a:r>
                        <a:rPr sz="1000" b="0">
                          <a:solidFill>
                            <a:srgbClr val="101828"/>
                          </a:solidFill>
                          <a:latin typeface="Calibri"/>
                        </a:rPr>
                        <a:t>Service principal in Entra for SCIM provisioning to GHE</a:t>
                      </a:r>
                    </a:p>
                  </a:txBody>
                  <a:tcPr marL="45720" marR="45720" marT="18288" marB="18288">
                    <a:solidFill>
                      <a:srgbClr val="F2F4F7"/>
                    </a:solidFill>
                  </a:tcPr>
                </a:tc>
              </a:tr>
              <a:tr h="281538">
                <a:tc>
                  <a:txBody>
                    <a:bodyPr wrap="square"/>
                    <a:lstStyle/>
                    <a:p>
                      <a:pPr algn="l"/>
                      <a:r>
                        <a:rPr sz="1000" b="0">
                          <a:solidFill>
                            <a:srgbClr val="101828"/>
                          </a:solidFill>
                          <a:latin typeface="Calibri"/>
                        </a:rPr>
                        <a:t>7</a:t>
                      </a:r>
                    </a:p>
                  </a:txBody>
                  <a:tcPr marL="45720" marR="45720" marT="18288" marB="18288">
                    <a:solidFill>
                      <a:srgbClr val="FFFFFF"/>
                    </a:solidFill>
                  </a:tcPr>
                </a:tc>
                <a:tc>
                  <a:txBody>
                    <a:bodyPr wrap="square"/>
                    <a:lstStyle/>
                    <a:p>
                      <a:pPr algn="l"/>
                      <a:r>
                        <a:rPr sz="1000" b="0">
                          <a:solidFill>
                            <a:srgbClr val="101828"/>
                          </a:solidFill>
                          <a:latin typeface="Calibri"/>
                        </a:rPr>
                        <a:t>Source-side</a:t>
                      </a:r>
                    </a:p>
                  </a:txBody>
                  <a:tcPr marL="45720" marR="45720" marT="18288" marB="18288">
                    <a:solidFill>
                      <a:srgbClr val="FFFFFF"/>
                    </a:solidFill>
                  </a:tcPr>
                </a:tc>
                <a:tc>
                  <a:txBody>
                    <a:bodyPr wrap="square"/>
                    <a:lstStyle/>
                    <a:p>
                      <a:pPr algn="l"/>
                      <a:r>
                        <a:rPr sz="1000" b="0">
                          <a:solidFill>
                            <a:srgbClr val="101828"/>
                          </a:solidFill>
                          <a:latin typeface="Calibri"/>
                        </a:rPr>
                        <a:t>Project Collection Admin access on every ADO org</a:t>
                      </a:r>
                    </a:p>
                  </a:txBody>
                  <a:tcPr marL="45720" marR="45720" marT="18288" marB="18288">
                    <a:solidFill>
                      <a:srgbClr val="FFFFFF"/>
                    </a:solidFill>
                  </a:tcPr>
                </a:tc>
              </a:tr>
              <a:tr h="281538">
                <a:tc>
                  <a:txBody>
                    <a:bodyPr wrap="square"/>
                    <a:lstStyle/>
                    <a:p>
                      <a:pPr algn="l"/>
                      <a:r>
                        <a:rPr sz="1000" b="0">
                          <a:solidFill>
                            <a:srgbClr val="101828"/>
                          </a:solidFill>
                          <a:latin typeface="Calibri"/>
                        </a:rPr>
                        <a:t>8</a:t>
                      </a:r>
                    </a:p>
                  </a:txBody>
                  <a:tcPr marL="45720" marR="45720" marT="18288" marB="18288">
                    <a:solidFill>
                      <a:srgbClr val="F2F4F7"/>
                    </a:solidFill>
                  </a:tcPr>
                </a:tc>
                <a:tc>
                  <a:txBody>
                    <a:bodyPr wrap="square"/>
                    <a:lstStyle/>
                    <a:p>
                      <a:pPr algn="l"/>
                      <a:r>
                        <a:rPr sz="1000" b="0">
                          <a:solidFill>
                            <a:srgbClr val="101828"/>
                          </a:solidFill>
                          <a:latin typeface="Calibri"/>
                        </a:rPr>
                        <a:t>Source-side</a:t>
                      </a:r>
                    </a:p>
                  </a:txBody>
                  <a:tcPr marL="45720" marR="45720" marT="18288" marB="18288">
                    <a:solidFill>
                      <a:srgbClr val="F2F4F7"/>
                    </a:solidFill>
                  </a:tcPr>
                </a:tc>
                <a:tc>
                  <a:txBody>
                    <a:bodyPr wrap="square"/>
                    <a:lstStyle/>
                    <a:p>
                      <a:pPr algn="l"/>
                      <a:r>
                        <a:rPr sz="1000" b="0">
                          <a:solidFill>
                            <a:srgbClr val="101828"/>
                          </a:solidFill>
                          <a:latin typeface="Calibri"/>
                        </a:rPr>
                        <a:t>PAT issued for migration service identity</a:t>
                      </a:r>
                    </a:p>
                  </a:txBody>
                  <a:tcPr marL="45720" marR="45720" marT="18288" marB="18288">
                    <a:solidFill>
                      <a:srgbClr val="F2F4F7"/>
                    </a:solidFill>
                  </a:tcPr>
                </a:tc>
              </a:tr>
              <a:tr h="281538">
                <a:tc>
                  <a:txBody>
                    <a:bodyPr wrap="square"/>
                    <a:lstStyle/>
                    <a:p>
                      <a:pPr algn="l"/>
                      <a:r>
                        <a:rPr sz="1000" b="0">
                          <a:solidFill>
                            <a:srgbClr val="101828"/>
                          </a:solidFill>
                          <a:latin typeface="Calibri"/>
                        </a:rPr>
                        <a:t>9</a:t>
                      </a:r>
                    </a:p>
                  </a:txBody>
                  <a:tcPr marL="45720" marR="45720" marT="18288" marB="18288">
                    <a:solidFill>
                      <a:srgbClr val="FFFFFF"/>
                    </a:solidFill>
                  </a:tcPr>
                </a:tc>
                <a:tc>
                  <a:txBody>
                    <a:bodyPr wrap="square"/>
                    <a:lstStyle/>
                    <a:p>
                      <a:pPr algn="l"/>
                      <a:r>
                        <a:rPr sz="1000" b="0">
                          <a:solidFill>
                            <a:srgbClr val="101828"/>
                          </a:solidFill>
                          <a:latin typeface="Calibri"/>
                        </a:rPr>
                        <a:t>Source-side</a:t>
                      </a:r>
                    </a:p>
                  </a:txBody>
                  <a:tcPr marL="45720" marR="45720" marT="18288" marB="18288">
                    <a:solidFill>
                      <a:srgbClr val="FFFFFF"/>
                    </a:solidFill>
                  </a:tcPr>
                </a:tc>
                <a:tc>
                  <a:txBody>
                    <a:bodyPr wrap="square"/>
                    <a:lstStyle/>
                    <a:p>
                      <a:pPr algn="l"/>
                      <a:r>
                        <a:rPr sz="1000" b="0">
                          <a:solidFill>
                            <a:srgbClr val="101828"/>
                          </a:solidFill>
                          <a:latin typeface="Calibri"/>
                        </a:rPr>
                        <a:t>Inventory of 100 repos with owner, BU, size, PR counts, integrations</a:t>
                      </a:r>
                    </a:p>
                  </a:txBody>
                  <a:tcPr marL="45720" marR="45720" marT="18288" marB="18288">
                    <a:solidFill>
                      <a:srgbClr val="FFFFFF"/>
                    </a:solidFill>
                  </a:tcPr>
                </a:tc>
              </a:tr>
              <a:tr h="281538">
                <a:tc>
                  <a:txBody>
                    <a:bodyPr wrap="square"/>
                    <a:lstStyle/>
                    <a:p>
                      <a:pPr algn="l"/>
                      <a:r>
                        <a:rPr sz="1000" b="0">
                          <a:solidFill>
                            <a:srgbClr val="101828"/>
                          </a:solidFill>
                          <a:latin typeface="Calibri"/>
                        </a:rPr>
                        <a:t>10</a:t>
                      </a:r>
                    </a:p>
                  </a:txBody>
                  <a:tcPr marL="45720" marR="45720" marT="18288" marB="18288">
                    <a:solidFill>
                      <a:srgbClr val="F2F4F7"/>
                    </a:solidFill>
                  </a:tcPr>
                </a:tc>
                <a:tc>
                  <a:txBody>
                    <a:bodyPr wrap="square"/>
                    <a:lstStyle/>
                    <a:p>
                      <a:pPr algn="l"/>
                      <a:r>
                        <a:rPr sz="1000" b="0">
                          <a:solidFill>
                            <a:srgbClr val="101828"/>
                          </a:solidFill>
                          <a:latin typeface="Calibri"/>
                        </a:rPr>
                        <a:t>Source-side</a:t>
                      </a:r>
                    </a:p>
                  </a:txBody>
                  <a:tcPr marL="45720" marR="45720" marT="18288" marB="18288">
                    <a:solidFill>
                      <a:srgbClr val="F2F4F7"/>
                    </a:solidFill>
                  </a:tcPr>
                </a:tc>
                <a:tc>
                  <a:txBody>
                    <a:bodyPr wrap="square"/>
                    <a:lstStyle/>
                    <a:p>
                      <a:pPr algn="l"/>
                      <a:r>
                        <a:rPr sz="1000" b="0">
                          <a:solidFill>
                            <a:srgbClr val="101828"/>
                          </a:solidFill>
                          <a:latin typeface="Calibri"/>
                        </a:rPr>
                        <a:t>Approval to install Azure Boards GitHub App at ADO org level</a:t>
                      </a:r>
                    </a:p>
                  </a:txBody>
                  <a:tcPr marL="45720" marR="45720" marT="18288" marB="18288">
                    <a:solidFill>
                      <a:srgbClr val="F2F4F7"/>
                    </a:solidFill>
                  </a:tcPr>
                </a:tc>
              </a:tr>
              <a:tr h="281538">
                <a:tc>
                  <a:txBody>
                    <a:bodyPr wrap="square"/>
                    <a:lstStyle/>
                    <a:p>
                      <a:pPr algn="l"/>
                      <a:r>
                        <a:rPr sz="1000" b="0">
                          <a:solidFill>
                            <a:srgbClr val="101828"/>
                          </a:solidFill>
                          <a:latin typeface="Calibri"/>
                        </a:rPr>
                        <a:t>11</a:t>
                      </a:r>
                    </a:p>
                  </a:txBody>
                  <a:tcPr marL="45720" marR="45720" marT="18288" marB="18288">
                    <a:solidFill>
                      <a:srgbClr val="FFFFFF"/>
                    </a:solidFill>
                  </a:tcPr>
                </a:tc>
                <a:tc>
                  <a:txBody>
                    <a:bodyPr wrap="square"/>
                    <a:lstStyle/>
                    <a:p>
                      <a:pPr algn="l"/>
                      <a:r>
                        <a:rPr sz="1000" b="0">
                          <a:solidFill>
                            <a:srgbClr val="101828"/>
                          </a:solidFill>
                          <a:latin typeface="Calibri"/>
                        </a:rPr>
                        <a:t>Target-side</a:t>
                      </a:r>
                    </a:p>
                  </a:txBody>
                  <a:tcPr marL="45720" marR="45720" marT="18288" marB="18288">
                    <a:solidFill>
                      <a:srgbClr val="FFFFFF"/>
                    </a:solidFill>
                  </a:tcPr>
                </a:tc>
                <a:tc>
                  <a:txBody>
                    <a:bodyPr wrap="square"/>
                    <a:lstStyle/>
                    <a:p>
                      <a:pPr algn="l"/>
                      <a:r>
                        <a:rPr sz="1000" b="0">
                          <a:solidFill>
                            <a:srgbClr val="101828"/>
                          </a:solidFill>
                          <a:latin typeface="Calibri"/>
                        </a:rPr>
                        <a:t>Target GHE orgs pre-created (1:1 with ADO orgs)</a:t>
                      </a:r>
                    </a:p>
                  </a:txBody>
                  <a:tcPr marL="45720" marR="45720" marT="18288" marB="18288">
                    <a:solidFill>
                      <a:srgbClr val="FFFFFF"/>
                    </a:solidFill>
                  </a:tcPr>
                </a:tc>
              </a:tr>
              <a:tr h="281538">
                <a:tc>
                  <a:txBody>
                    <a:bodyPr wrap="square"/>
                    <a:lstStyle/>
                    <a:p>
                      <a:pPr algn="l"/>
                      <a:r>
                        <a:rPr sz="1000" b="0">
                          <a:solidFill>
                            <a:srgbClr val="101828"/>
                          </a:solidFill>
                          <a:latin typeface="Calibri"/>
                        </a:rPr>
                        <a:t>12</a:t>
                      </a:r>
                    </a:p>
                  </a:txBody>
                  <a:tcPr marL="45720" marR="45720" marT="18288" marB="18288">
                    <a:solidFill>
                      <a:srgbClr val="F2F4F7"/>
                    </a:solidFill>
                  </a:tcPr>
                </a:tc>
                <a:tc>
                  <a:txBody>
                    <a:bodyPr wrap="square"/>
                    <a:lstStyle/>
                    <a:p>
                      <a:pPr algn="l"/>
                      <a:r>
                        <a:rPr sz="1000" b="0">
                          <a:solidFill>
                            <a:srgbClr val="101828"/>
                          </a:solidFill>
                          <a:latin typeface="Calibri"/>
                        </a:rPr>
                        <a:t>Target-side</a:t>
                      </a:r>
                    </a:p>
                  </a:txBody>
                  <a:tcPr marL="45720" marR="45720" marT="18288" marB="18288">
                    <a:solidFill>
                      <a:srgbClr val="F2F4F7"/>
                    </a:solidFill>
                  </a:tcPr>
                </a:tc>
                <a:tc>
                  <a:txBody>
                    <a:bodyPr wrap="square"/>
                    <a:lstStyle/>
                    <a:p>
                      <a:pPr algn="l"/>
                      <a:r>
                        <a:rPr sz="1000" b="0">
                          <a:solidFill>
                            <a:srgbClr val="101828"/>
                          </a:solidFill>
                          <a:latin typeface="Calibri"/>
                        </a:rPr>
                        <a:t>Baseline ruleset JSON template approved</a:t>
                      </a:r>
                    </a:p>
                  </a:txBody>
                  <a:tcPr marL="45720" marR="45720" marT="18288" marB="18288">
                    <a:solidFill>
                      <a:srgbClr val="F2F4F7"/>
                    </a:solidFill>
                  </a:tcPr>
                </a:tc>
              </a:tr>
              <a:tr h="281538">
                <a:tc>
                  <a:txBody>
                    <a:bodyPr wrap="square"/>
                    <a:lstStyle/>
                    <a:p>
                      <a:pPr algn="l"/>
                      <a:r>
                        <a:rPr sz="1000" b="0">
                          <a:solidFill>
                            <a:srgbClr val="101828"/>
                          </a:solidFill>
                          <a:latin typeface="Calibri"/>
                        </a:rPr>
                        <a:t>13</a:t>
                      </a:r>
                    </a:p>
                  </a:txBody>
                  <a:tcPr marL="45720" marR="45720" marT="18288" marB="18288">
                    <a:solidFill>
                      <a:srgbClr val="FFFFFF"/>
                    </a:solidFill>
                  </a:tcPr>
                </a:tc>
                <a:tc>
                  <a:txBody>
                    <a:bodyPr wrap="square"/>
                    <a:lstStyle/>
                    <a:p>
                      <a:pPr algn="l"/>
                      <a:r>
                        <a:rPr sz="1000" b="0">
                          <a:solidFill>
                            <a:srgbClr val="101828"/>
                          </a:solidFill>
                          <a:latin typeface="Calibri"/>
                        </a:rPr>
                        <a:t>Tooling</a:t>
                      </a:r>
                    </a:p>
                  </a:txBody>
                  <a:tcPr marL="45720" marR="45720" marT="18288" marB="18288">
                    <a:solidFill>
                      <a:srgbClr val="FFFFFF"/>
                    </a:solidFill>
                  </a:tcPr>
                </a:tc>
                <a:tc>
                  <a:txBody>
                    <a:bodyPr wrap="square"/>
                    <a:lstStyle/>
                    <a:p>
                      <a:pPr algn="l"/>
                      <a:r>
                        <a:rPr sz="1000" b="0">
                          <a:solidFill>
                            <a:srgbClr val="101828"/>
                          </a:solidFill>
                          <a:latin typeface="Calibri"/>
                        </a:rPr>
                        <a:t>GitHub CLI + gh-gei + gh-ado2gh installed on migration workstation</a:t>
                      </a:r>
                    </a:p>
                  </a:txBody>
                  <a:tcPr marL="45720" marR="45720" marT="18288" marB="18288">
                    <a:solidFill>
                      <a:srgbClr val="FFFFFF"/>
                    </a:solidFill>
                  </a:tcPr>
                </a:tc>
              </a:tr>
              <a:tr h="281538">
                <a:tc>
                  <a:txBody>
                    <a:bodyPr wrap="square"/>
                    <a:lstStyle/>
                    <a:p>
                      <a:pPr algn="l"/>
                      <a:r>
                        <a:rPr sz="1000" b="0">
                          <a:solidFill>
                            <a:srgbClr val="101828"/>
                          </a:solidFill>
                          <a:latin typeface="Calibri"/>
                        </a:rPr>
                        <a:t>14</a:t>
                      </a:r>
                    </a:p>
                  </a:txBody>
                  <a:tcPr marL="45720" marR="45720" marT="18288" marB="18288">
                    <a:solidFill>
                      <a:srgbClr val="F2F4F7"/>
                    </a:solidFill>
                  </a:tcPr>
                </a:tc>
                <a:tc>
                  <a:txBody>
                    <a:bodyPr wrap="square"/>
                    <a:lstStyle/>
                    <a:p>
                      <a:pPr algn="l"/>
                      <a:r>
                        <a:rPr sz="1000" b="0">
                          <a:solidFill>
                            <a:srgbClr val="101828"/>
                          </a:solidFill>
                          <a:latin typeface="Calibri"/>
                        </a:rPr>
                        <a:t>Tooling</a:t>
                      </a:r>
                    </a:p>
                  </a:txBody>
                  <a:tcPr marL="45720" marR="45720" marT="18288" marB="18288">
                    <a:solidFill>
                      <a:srgbClr val="F2F4F7"/>
                    </a:solidFill>
                  </a:tcPr>
                </a:tc>
                <a:tc>
                  <a:txBody>
                    <a:bodyPr wrap="square"/>
                    <a:lstStyle/>
                    <a:p>
                      <a:pPr algn="l"/>
                      <a:r>
                        <a:rPr sz="1000" b="0">
                          <a:solidFill>
                            <a:srgbClr val="101828"/>
                          </a:solidFill>
                          <a:latin typeface="Calibri"/>
                        </a:rPr>
                        <a:t>Azure Key Vault (or equivalent) for migration secrets</a:t>
                      </a:r>
                    </a:p>
                  </a:txBody>
                  <a:tcPr marL="45720" marR="45720" marT="18288" marB="18288">
                    <a:solidFill>
                      <a:srgbClr val="F2F4F7"/>
                    </a:solidFill>
                  </a:tcPr>
                </a:tc>
              </a:tr>
              <a:tr h="281538">
                <a:tc>
                  <a:txBody>
                    <a:bodyPr wrap="square"/>
                    <a:lstStyle/>
                    <a:p>
                      <a:pPr algn="l"/>
                      <a:r>
                        <a:rPr sz="1000" b="0">
                          <a:solidFill>
                            <a:srgbClr val="101828"/>
                          </a:solidFill>
                          <a:latin typeface="Calibri"/>
                        </a:rPr>
                        <a:t>15</a:t>
                      </a:r>
                    </a:p>
                  </a:txBody>
                  <a:tcPr marL="45720" marR="45720" marT="18288" marB="18288">
                    <a:solidFill>
                      <a:srgbClr val="FFFFFF"/>
                    </a:solidFill>
                  </a:tcPr>
                </a:tc>
                <a:tc>
                  <a:txBody>
                    <a:bodyPr wrap="square"/>
                    <a:lstStyle/>
                    <a:p>
                      <a:pPr algn="l"/>
                      <a:r>
                        <a:rPr sz="1000" b="0">
                          <a:solidFill>
                            <a:srgbClr val="101828"/>
                          </a:solidFill>
                          <a:latin typeface="Calibri"/>
                        </a:rPr>
                        <a:t>Network</a:t>
                      </a:r>
                    </a:p>
                  </a:txBody>
                  <a:tcPr marL="45720" marR="45720" marT="18288" marB="18288">
                    <a:solidFill>
                      <a:srgbClr val="FFFFFF"/>
                    </a:solidFill>
                  </a:tcPr>
                </a:tc>
                <a:tc>
                  <a:txBody>
                    <a:bodyPr wrap="square"/>
                    <a:lstStyle/>
                    <a:p>
                      <a:pPr algn="l"/>
                      <a:r>
                        <a:rPr sz="1000" b="0">
                          <a:solidFill>
                            <a:srgbClr val="101828"/>
                          </a:solidFill>
                          <a:latin typeface="Calibri"/>
                        </a:rPr>
                        <a:t>Outbound HTTPS to *.github.com permitted (proxy whitelist updated)</a:t>
                      </a:r>
                    </a:p>
                  </a:txBody>
                  <a:tcPr marL="45720" marR="45720" marT="18288" marB="18288">
                    <a:solidFill>
                      <a:srgbClr val="FFFFFF"/>
                    </a:solidFill>
                  </a:tcPr>
                </a:tc>
              </a:tr>
              <a:tr h="281538">
                <a:tc>
                  <a:txBody>
                    <a:bodyPr wrap="square"/>
                    <a:lstStyle/>
                    <a:p>
                      <a:pPr algn="l"/>
                      <a:r>
                        <a:rPr sz="1000" b="0">
                          <a:solidFill>
                            <a:srgbClr val="101828"/>
                          </a:solidFill>
                          <a:latin typeface="Calibri"/>
                        </a:rPr>
                        <a:t>16</a:t>
                      </a:r>
                    </a:p>
                  </a:txBody>
                  <a:tcPr marL="45720" marR="45720" marT="18288" marB="18288">
                    <a:solidFill>
                      <a:srgbClr val="F2F4F7"/>
                    </a:solidFill>
                  </a:tcPr>
                </a:tc>
                <a:tc>
                  <a:txBody>
                    <a:bodyPr wrap="square"/>
                    <a:lstStyle/>
                    <a:p>
                      <a:pPr algn="l"/>
                      <a:r>
                        <a:rPr sz="1000" b="0">
                          <a:solidFill>
                            <a:srgbClr val="101828"/>
                          </a:solidFill>
                          <a:latin typeface="Calibri"/>
                        </a:rPr>
                        <a:t>Governance</a:t>
                      </a:r>
                    </a:p>
                  </a:txBody>
                  <a:tcPr marL="45720" marR="45720" marT="18288" marB="18288">
                    <a:solidFill>
                      <a:srgbClr val="F2F4F7"/>
                    </a:solidFill>
                  </a:tcPr>
                </a:tc>
                <a:tc>
                  <a:txBody>
                    <a:bodyPr wrap="square"/>
                    <a:lstStyle/>
                    <a:p>
                      <a:pPr algn="l"/>
                      <a:r>
                        <a:rPr sz="1000" b="0">
                          <a:solidFill>
                            <a:srgbClr val="101828"/>
                          </a:solidFill>
                          <a:latin typeface="Calibri"/>
                        </a:rPr>
                        <a:t>Sponsor + steering committee + RAID log live</a:t>
                      </a:r>
                    </a:p>
                  </a:txBody>
                  <a:tcPr marL="45720" marR="45720" marT="18288" marB="18288">
                    <a:solidFill>
                      <a:srgbClr val="F2F4F7"/>
                    </a:solidFill>
                  </a:tcPr>
                </a:tc>
              </a:tr>
              <a:tr h="281538">
                <a:tc>
                  <a:txBody>
                    <a:bodyPr wrap="square"/>
                    <a:lstStyle/>
                    <a:p>
                      <a:pPr algn="l"/>
                      <a:r>
                        <a:rPr sz="1000" b="0">
                          <a:solidFill>
                            <a:srgbClr val="101828"/>
                          </a:solidFill>
                          <a:latin typeface="Calibri"/>
                        </a:rPr>
                        <a:t>17</a:t>
                      </a:r>
                    </a:p>
                  </a:txBody>
                  <a:tcPr marL="45720" marR="45720" marT="18288" marB="18288">
                    <a:solidFill>
                      <a:srgbClr val="FFFFFF"/>
                    </a:solidFill>
                  </a:tcPr>
                </a:tc>
                <a:tc>
                  <a:txBody>
                    <a:bodyPr wrap="square"/>
                    <a:lstStyle/>
                    <a:p>
                      <a:pPr algn="l"/>
                      <a:r>
                        <a:rPr sz="1000" b="0">
                          <a:solidFill>
                            <a:srgbClr val="101828"/>
                          </a:solidFill>
                          <a:latin typeface="Calibri"/>
                        </a:rPr>
                        <a:t>Governance</a:t>
                      </a:r>
                    </a:p>
                  </a:txBody>
                  <a:tcPr marL="45720" marR="45720" marT="18288" marB="18288">
                    <a:solidFill>
                      <a:srgbClr val="FFFFFF"/>
                    </a:solidFill>
                  </a:tcPr>
                </a:tc>
                <a:tc>
                  <a:txBody>
                    <a:bodyPr wrap="square"/>
                    <a:lstStyle/>
                    <a:p>
                      <a:pPr algn="l"/>
                      <a:r>
                        <a:rPr sz="1000" b="0">
                          <a:solidFill>
                            <a:srgbClr val="101828"/>
                          </a:solidFill>
                          <a:latin typeface="Calibri"/>
                        </a:rPr>
                        <a:t>Pilot wave volunteers confirmed (3-5 repos, low-risk)</a:t>
                      </a:r>
                    </a:p>
                  </a:txBody>
                  <a:tcPr marL="45720" marR="45720" marT="18288" marB="18288">
                    <a:solidFill>
                      <a:srgbClr val="FFFFFF"/>
                    </a:solidFill>
                  </a:tcPr>
                </a:tc>
              </a:tr>
              <a:tr h="281556">
                <a:tc>
                  <a:txBody>
                    <a:bodyPr wrap="square"/>
                    <a:lstStyle/>
                    <a:p>
                      <a:pPr algn="l"/>
                      <a:r>
                        <a:rPr sz="1000" b="0">
                          <a:solidFill>
                            <a:srgbClr val="101828"/>
                          </a:solidFill>
                          <a:latin typeface="Calibri"/>
                        </a:rPr>
                        <a:t>18</a:t>
                      </a:r>
                    </a:p>
                  </a:txBody>
                  <a:tcPr marL="45720" marR="45720" marT="18288" marB="18288">
                    <a:solidFill>
                      <a:srgbClr val="F2F4F7"/>
                    </a:solidFill>
                  </a:tcPr>
                </a:tc>
                <a:tc>
                  <a:txBody>
                    <a:bodyPr wrap="square"/>
                    <a:lstStyle/>
                    <a:p>
                      <a:pPr algn="l"/>
                      <a:r>
                        <a:rPr sz="1000" b="0">
                          <a:solidFill>
                            <a:srgbClr val="101828"/>
                          </a:solidFill>
                          <a:latin typeface="Calibri"/>
                        </a:rPr>
                        <a:t>Pipelines</a:t>
                      </a:r>
                    </a:p>
                  </a:txBody>
                  <a:tcPr marL="45720" marR="45720" marT="18288" marB="18288">
                    <a:solidFill>
                      <a:srgbClr val="F2F4F7"/>
                    </a:solidFill>
                  </a:tcPr>
                </a:tc>
                <a:tc>
                  <a:txBody>
                    <a:bodyPr wrap="square"/>
                    <a:lstStyle/>
                    <a:p>
                      <a:pPr algn="l"/>
                      <a:r>
                        <a:rPr sz="1000" b="0">
                          <a:solidFill>
                            <a:srgbClr val="101828"/>
                          </a:solidFill>
                          <a:latin typeface="Calibri"/>
                        </a:rPr>
                        <a:t>Azure Pipelines GitHub App install approved on GHE org(s)</a:t>
                      </a:r>
                    </a:p>
                  </a:txBody>
                  <a:tcPr marL="45720" marR="45720" marT="18288" marB="18288">
                    <a:solidFill>
                      <a:srgbClr val="F2F4F7"/>
                    </a:solidFill>
                  </a:tcPr>
                </a:tc>
              </a:tr>
            </a:tbl>
          </a:graphicData>
        </a:graphic>
      </p:graphicFrame>
      <p:sp>
        <p:nvSpPr>
          <p:cNvPr id="8" name="TextBox 7"/>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9" name="TextBox 8"/>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Duration &amp; Timeline</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10 calendar weeks across 5 stages with 5 milestones</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0" y="914400"/>
            <a:ext cx="941832" cy="320040"/>
          </a:xfrm>
          <a:prstGeom prst="rect">
            <a:avLst/>
          </a:prstGeom>
          <a:solidFill>
            <a:srgbClr val="CB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914400"/>
            <a:ext cx="941832" cy="320040"/>
          </a:xfrm>
          <a:prstGeom prst="rect">
            <a:avLst/>
          </a:prstGeom>
          <a:noFill/>
        </p:spPr>
        <p:txBody>
          <a:bodyPr wrap="square" lIns="45720" rIns="45720" tIns="18288" bIns="18288" anchor="ctr">
            <a:spAutoFit/>
          </a:bodyPr>
          <a:lstStyle/>
          <a:p>
            <a:pPr algn="ctr"/>
            <a:r>
              <a:rPr sz="1000" b="1">
                <a:solidFill>
                  <a:srgbClr val="101828"/>
                </a:solidFill>
                <a:latin typeface="Calibri"/>
              </a:rPr>
              <a:t>W1</a:t>
            </a:r>
          </a:p>
        </p:txBody>
      </p:sp>
      <p:sp>
        <p:nvSpPr>
          <p:cNvPr id="9" name="Rectangle 8"/>
          <p:cNvSpPr/>
          <p:nvPr/>
        </p:nvSpPr>
        <p:spPr>
          <a:xfrm>
            <a:off x="3227832" y="914400"/>
            <a:ext cx="941832" cy="320040"/>
          </a:xfrm>
          <a:prstGeom prst="rect">
            <a:avLst/>
          </a:prstGeom>
          <a:solidFill>
            <a:srgbClr val="CB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27832" y="914400"/>
            <a:ext cx="941832" cy="320040"/>
          </a:xfrm>
          <a:prstGeom prst="rect">
            <a:avLst/>
          </a:prstGeom>
          <a:noFill/>
        </p:spPr>
        <p:txBody>
          <a:bodyPr wrap="square" lIns="45720" rIns="45720" tIns="18288" bIns="18288" anchor="ctr">
            <a:spAutoFit/>
          </a:bodyPr>
          <a:lstStyle/>
          <a:p>
            <a:pPr algn="ctr"/>
            <a:r>
              <a:rPr sz="1000" b="1">
                <a:solidFill>
                  <a:srgbClr val="101828"/>
                </a:solidFill>
                <a:latin typeface="Calibri"/>
              </a:rPr>
              <a:t>W2</a:t>
            </a:r>
          </a:p>
        </p:txBody>
      </p:sp>
      <p:sp>
        <p:nvSpPr>
          <p:cNvPr id="11" name="Rectangle 10"/>
          <p:cNvSpPr/>
          <p:nvPr/>
        </p:nvSpPr>
        <p:spPr>
          <a:xfrm>
            <a:off x="4169664" y="914400"/>
            <a:ext cx="941832" cy="320040"/>
          </a:xfrm>
          <a:prstGeom prst="rect">
            <a:avLst/>
          </a:prstGeom>
          <a:solidFill>
            <a:srgbClr val="CB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69664" y="914400"/>
            <a:ext cx="941832" cy="320040"/>
          </a:xfrm>
          <a:prstGeom prst="rect">
            <a:avLst/>
          </a:prstGeom>
          <a:noFill/>
        </p:spPr>
        <p:txBody>
          <a:bodyPr wrap="square" lIns="45720" rIns="45720" tIns="18288" bIns="18288" anchor="ctr">
            <a:spAutoFit/>
          </a:bodyPr>
          <a:lstStyle/>
          <a:p>
            <a:pPr algn="ctr"/>
            <a:r>
              <a:rPr sz="1000" b="1">
                <a:solidFill>
                  <a:srgbClr val="101828"/>
                </a:solidFill>
                <a:latin typeface="Calibri"/>
              </a:rPr>
              <a:t>W3</a:t>
            </a:r>
          </a:p>
        </p:txBody>
      </p:sp>
      <p:sp>
        <p:nvSpPr>
          <p:cNvPr id="13" name="Rectangle 12"/>
          <p:cNvSpPr/>
          <p:nvPr/>
        </p:nvSpPr>
        <p:spPr>
          <a:xfrm>
            <a:off x="5111496" y="914400"/>
            <a:ext cx="941832" cy="320040"/>
          </a:xfrm>
          <a:prstGeom prst="rect">
            <a:avLst/>
          </a:prstGeom>
          <a:solidFill>
            <a:srgbClr val="CB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11496" y="914400"/>
            <a:ext cx="941832" cy="320040"/>
          </a:xfrm>
          <a:prstGeom prst="rect">
            <a:avLst/>
          </a:prstGeom>
          <a:noFill/>
        </p:spPr>
        <p:txBody>
          <a:bodyPr wrap="square" lIns="45720" rIns="45720" tIns="18288" bIns="18288" anchor="ctr">
            <a:spAutoFit/>
          </a:bodyPr>
          <a:lstStyle/>
          <a:p>
            <a:pPr algn="ctr"/>
            <a:r>
              <a:rPr sz="1000" b="1">
                <a:solidFill>
                  <a:srgbClr val="101828"/>
                </a:solidFill>
                <a:latin typeface="Calibri"/>
              </a:rPr>
              <a:t>W4</a:t>
            </a:r>
          </a:p>
        </p:txBody>
      </p:sp>
      <p:sp>
        <p:nvSpPr>
          <p:cNvPr id="15" name="Rectangle 14"/>
          <p:cNvSpPr/>
          <p:nvPr/>
        </p:nvSpPr>
        <p:spPr>
          <a:xfrm>
            <a:off x="6053328" y="914400"/>
            <a:ext cx="941832" cy="320040"/>
          </a:xfrm>
          <a:prstGeom prst="rect">
            <a:avLst/>
          </a:prstGeom>
          <a:solidFill>
            <a:srgbClr val="CB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53328" y="914400"/>
            <a:ext cx="941832" cy="320040"/>
          </a:xfrm>
          <a:prstGeom prst="rect">
            <a:avLst/>
          </a:prstGeom>
          <a:noFill/>
        </p:spPr>
        <p:txBody>
          <a:bodyPr wrap="square" lIns="45720" rIns="45720" tIns="18288" bIns="18288" anchor="ctr">
            <a:spAutoFit/>
          </a:bodyPr>
          <a:lstStyle/>
          <a:p>
            <a:pPr algn="ctr"/>
            <a:r>
              <a:rPr sz="1000" b="1">
                <a:solidFill>
                  <a:srgbClr val="101828"/>
                </a:solidFill>
                <a:latin typeface="Calibri"/>
              </a:rPr>
              <a:t>W5</a:t>
            </a:r>
          </a:p>
        </p:txBody>
      </p:sp>
      <p:sp>
        <p:nvSpPr>
          <p:cNvPr id="17" name="Rectangle 16"/>
          <p:cNvSpPr/>
          <p:nvPr/>
        </p:nvSpPr>
        <p:spPr>
          <a:xfrm>
            <a:off x="6995160" y="914400"/>
            <a:ext cx="941832" cy="320040"/>
          </a:xfrm>
          <a:prstGeom prst="rect">
            <a:avLst/>
          </a:prstGeom>
          <a:solidFill>
            <a:srgbClr val="CB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60" y="914400"/>
            <a:ext cx="941832" cy="320040"/>
          </a:xfrm>
          <a:prstGeom prst="rect">
            <a:avLst/>
          </a:prstGeom>
          <a:noFill/>
        </p:spPr>
        <p:txBody>
          <a:bodyPr wrap="square" lIns="45720" rIns="45720" tIns="18288" bIns="18288" anchor="ctr">
            <a:spAutoFit/>
          </a:bodyPr>
          <a:lstStyle/>
          <a:p>
            <a:pPr algn="ctr"/>
            <a:r>
              <a:rPr sz="1000" b="1">
                <a:solidFill>
                  <a:srgbClr val="101828"/>
                </a:solidFill>
                <a:latin typeface="Calibri"/>
              </a:rPr>
              <a:t>W6</a:t>
            </a:r>
          </a:p>
        </p:txBody>
      </p:sp>
      <p:sp>
        <p:nvSpPr>
          <p:cNvPr id="19" name="Rectangle 18"/>
          <p:cNvSpPr/>
          <p:nvPr/>
        </p:nvSpPr>
        <p:spPr>
          <a:xfrm>
            <a:off x="7936992" y="914400"/>
            <a:ext cx="941832" cy="320040"/>
          </a:xfrm>
          <a:prstGeom prst="rect">
            <a:avLst/>
          </a:prstGeom>
          <a:solidFill>
            <a:srgbClr val="CB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36992" y="914400"/>
            <a:ext cx="941832" cy="320040"/>
          </a:xfrm>
          <a:prstGeom prst="rect">
            <a:avLst/>
          </a:prstGeom>
          <a:noFill/>
        </p:spPr>
        <p:txBody>
          <a:bodyPr wrap="square" lIns="45720" rIns="45720" tIns="18288" bIns="18288" anchor="ctr">
            <a:spAutoFit/>
          </a:bodyPr>
          <a:lstStyle/>
          <a:p>
            <a:pPr algn="ctr"/>
            <a:r>
              <a:rPr sz="1000" b="1">
                <a:solidFill>
                  <a:srgbClr val="101828"/>
                </a:solidFill>
                <a:latin typeface="Calibri"/>
              </a:rPr>
              <a:t>W7</a:t>
            </a:r>
          </a:p>
        </p:txBody>
      </p:sp>
      <p:sp>
        <p:nvSpPr>
          <p:cNvPr id="21" name="Rectangle 20"/>
          <p:cNvSpPr/>
          <p:nvPr/>
        </p:nvSpPr>
        <p:spPr>
          <a:xfrm>
            <a:off x="8878824" y="914400"/>
            <a:ext cx="941832" cy="320040"/>
          </a:xfrm>
          <a:prstGeom prst="rect">
            <a:avLst/>
          </a:prstGeom>
          <a:solidFill>
            <a:srgbClr val="CB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78824" y="914400"/>
            <a:ext cx="941832" cy="320040"/>
          </a:xfrm>
          <a:prstGeom prst="rect">
            <a:avLst/>
          </a:prstGeom>
          <a:noFill/>
        </p:spPr>
        <p:txBody>
          <a:bodyPr wrap="square" lIns="45720" rIns="45720" tIns="18288" bIns="18288" anchor="ctr">
            <a:spAutoFit/>
          </a:bodyPr>
          <a:lstStyle/>
          <a:p>
            <a:pPr algn="ctr"/>
            <a:r>
              <a:rPr sz="1000" b="1">
                <a:solidFill>
                  <a:srgbClr val="101828"/>
                </a:solidFill>
                <a:latin typeface="Calibri"/>
              </a:rPr>
              <a:t>W8</a:t>
            </a:r>
          </a:p>
        </p:txBody>
      </p:sp>
      <p:sp>
        <p:nvSpPr>
          <p:cNvPr id="23" name="Rectangle 22"/>
          <p:cNvSpPr/>
          <p:nvPr/>
        </p:nvSpPr>
        <p:spPr>
          <a:xfrm>
            <a:off x="9820656" y="914400"/>
            <a:ext cx="941832" cy="320040"/>
          </a:xfrm>
          <a:prstGeom prst="rect">
            <a:avLst/>
          </a:prstGeom>
          <a:solidFill>
            <a:srgbClr val="CB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20656" y="914400"/>
            <a:ext cx="941832" cy="320040"/>
          </a:xfrm>
          <a:prstGeom prst="rect">
            <a:avLst/>
          </a:prstGeom>
          <a:noFill/>
        </p:spPr>
        <p:txBody>
          <a:bodyPr wrap="square" lIns="45720" rIns="45720" tIns="18288" bIns="18288" anchor="ctr">
            <a:spAutoFit/>
          </a:bodyPr>
          <a:lstStyle/>
          <a:p>
            <a:pPr algn="ctr"/>
            <a:r>
              <a:rPr sz="1000" b="1">
                <a:solidFill>
                  <a:srgbClr val="101828"/>
                </a:solidFill>
                <a:latin typeface="Calibri"/>
              </a:rPr>
              <a:t>W9</a:t>
            </a:r>
          </a:p>
        </p:txBody>
      </p:sp>
      <p:sp>
        <p:nvSpPr>
          <p:cNvPr id="25" name="Rectangle 24"/>
          <p:cNvSpPr/>
          <p:nvPr/>
        </p:nvSpPr>
        <p:spPr>
          <a:xfrm>
            <a:off x="10762488" y="914400"/>
            <a:ext cx="941832" cy="320040"/>
          </a:xfrm>
          <a:prstGeom prst="rect">
            <a:avLst/>
          </a:prstGeom>
          <a:solidFill>
            <a:srgbClr val="CB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762488" y="914400"/>
            <a:ext cx="941832" cy="320040"/>
          </a:xfrm>
          <a:prstGeom prst="rect">
            <a:avLst/>
          </a:prstGeom>
          <a:noFill/>
        </p:spPr>
        <p:txBody>
          <a:bodyPr wrap="square" lIns="45720" rIns="45720" tIns="18288" bIns="18288" anchor="ctr">
            <a:spAutoFit/>
          </a:bodyPr>
          <a:lstStyle/>
          <a:p>
            <a:pPr algn="ctr"/>
            <a:r>
              <a:rPr sz="1000" b="1">
                <a:solidFill>
                  <a:srgbClr val="101828"/>
                </a:solidFill>
                <a:latin typeface="Calibri"/>
              </a:rPr>
              <a:t>W10</a:t>
            </a:r>
          </a:p>
        </p:txBody>
      </p:sp>
      <p:sp>
        <p:nvSpPr>
          <p:cNvPr id="27" name="Rectangle 26"/>
          <p:cNvSpPr/>
          <p:nvPr/>
        </p:nvSpPr>
        <p:spPr>
          <a:xfrm>
            <a:off x="365760" y="1280160"/>
            <a:ext cx="18288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1280160"/>
            <a:ext cx="1783080" cy="502920"/>
          </a:xfrm>
          <a:prstGeom prst="rect">
            <a:avLst/>
          </a:prstGeom>
          <a:noFill/>
        </p:spPr>
        <p:txBody>
          <a:bodyPr wrap="square" lIns="45720" rIns="45720" tIns="18288" bIns="18288" anchor="ctr">
            <a:spAutoFit/>
          </a:bodyPr>
          <a:lstStyle/>
          <a:p>
            <a:pPr algn="l"/>
            <a:r>
              <a:rPr sz="1100" b="1">
                <a:solidFill>
                  <a:srgbClr val="1F4D42"/>
                </a:solidFill>
                <a:latin typeface="Calibri"/>
              </a:rPr>
              <a:t>S0 Mobilise &amp; Discovery</a:t>
            </a:r>
          </a:p>
        </p:txBody>
      </p:sp>
      <p:sp>
        <p:nvSpPr>
          <p:cNvPr id="29" name="Rectangle 28"/>
          <p:cNvSpPr/>
          <p:nvPr/>
        </p:nvSpPr>
        <p:spPr>
          <a:xfrm>
            <a:off x="2286000" y="1344168"/>
            <a:ext cx="1883664" cy="374904"/>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1874520"/>
            <a:ext cx="18288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1874520"/>
            <a:ext cx="1783080" cy="502920"/>
          </a:xfrm>
          <a:prstGeom prst="rect">
            <a:avLst/>
          </a:prstGeom>
          <a:noFill/>
        </p:spPr>
        <p:txBody>
          <a:bodyPr wrap="square" lIns="45720" rIns="45720" tIns="18288" bIns="18288" anchor="ctr">
            <a:spAutoFit/>
          </a:bodyPr>
          <a:lstStyle/>
          <a:p>
            <a:pPr algn="l"/>
            <a:r>
              <a:rPr sz="1100" b="1">
                <a:solidFill>
                  <a:srgbClr val="1F4D42"/>
                </a:solidFill>
                <a:latin typeface="Calibri"/>
              </a:rPr>
              <a:t>S1 Identity &amp; Foundation</a:t>
            </a:r>
          </a:p>
        </p:txBody>
      </p:sp>
      <p:sp>
        <p:nvSpPr>
          <p:cNvPr id="32" name="Rectangle 31"/>
          <p:cNvSpPr/>
          <p:nvPr/>
        </p:nvSpPr>
        <p:spPr>
          <a:xfrm>
            <a:off x="4169664" y="1938528"/>
            <a:ext cx="1883664" cy="374904"/>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5760" y="2468880"/>
            <a:ext cx="18288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2468880"/>
            <a:ext cx="1783080" cy="502920"/>
          </a:xfrm>
          <a:prstGeom prst="rect">
            <a:avLst/>
          </a:prstGeom>
          <a:noFill/>
        </p:spPr>
        <p:txBody>
          <a:bodyPr wrap="square" lIns="45720" rIns="45720" tIns="18288" bIns="18288" anchor="ctr">
            <a:spAutoFit/>
          </a:bodyPr>
          <a:lstStyle/>
          <a:p>
            <a:pPr algn="l"/>
            <a:r>
              <a:rPr sz="1100" b="1">
                <a:solidFill>
                  <a:srgbClr val="1F4D42"/>
                </a:solidFill>
                <a:latin typeface="Calibri"/>
              </a:rPr>
              <a:t>S2 Pilot Wave (5 repos)</a:t>
            </a:r>
          </a:p>
        </p:txBody>
      </p:sp>
      <p:sp>
        <p:nvSpPr>
          <p:cNvPr id="35" name="Rectangle 34"/>
          <p:cNvSpPr/>
          <p:nvPr/>
        </p:nvSpPr>
        <p:spPr>
          <a:xfrm>
            <a:off x="6053328" y="2532888"/>
            <a:ext cx="1883664" cy="374904"/>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 y="3063240"/>
            <a:ext cx="18288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3063240"/>
            <a:ext cx="1783080" cy="502920"/>
          </a:xfrm>
          <a:prstGeom prst="rect">
            <a:avLst/>
          </a:prstGeom>
          <a:noFill/>
        </p:spPr>
        <p:txBody>
          <a:bodyPr wrap="square" lIns="45720" rIns="45720" tIns="18288" bIns="18288" anchor="ctr">
            <a:spAutoFit/>
          </a:bodyPr>
          <a:lstStyle/>
          <a:p>
            <a:pPr algn="l"/>
            <a:r>
              <a:rPr sz="1100" b="1">
                <a:solidFill>
                  <a:srgbClr val="1F4D42"/>
                </a:solidFill>
                <a:latin typeface="Calibri"/>
              </a:rPr>
              <a:t>S3 Production Waves 1-4</a:t>
            </a:r>
          </a:p>
        </p:txBody>
      </p:sp>
      <p:sp>
        <p:nvSpPr>
          <p:cNvPr id="38" name="Rectangle 37"/>
          <p:cNvSpPr/>
          <p:nvPr/>
        </p:nvSpPr>
        <p:spPr>
          <a:xfrm>
            <a:off x="7936992" y="3127248"/>
            <a:ext cx="2825496" cy="374904"/>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57600"/>
            <a:ext cx="18288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3657600"/>
            <a:ext cx="1783080" cy="502920"/>
          </a:xfrm>
          <a:prstGeom prst="rect">
            <a:avLst/>
          </a:prstGeom>
          <a:noFill/>
        </p:spPr>
        <p:txBody>
          <a:bodyPr wrap="square" lIns="45720" rIns="45720" tIns="18288" bIns="18288" anchor="ctr">
            <a:spAutoFit/>
          </a:bodyPr>
          <a:lstStyle/>
          <a:p>
            <a:pPr algn="l"/>
            <a:r>
              <a:rPr sz="1100" b="1">
                <a:solidFill>
                  <a:srgbClr val="1F4D42"/>
                </a:solidFill>
                <a:latin typeface="Calibri"/>
              </a:rPr>
              <a:t>S4 Stabilisation &amp; Close</a:t>
            </a:r>
          </a:p>
        </p:txBody>
      </p:sp>
      <p:sp>
        <p:nvSpPr>
          <p:cNvPr id="41" name="Rectangle 40"/>
          <p:cNvSpPr/>
          <p:nvPr/>
        </p:nvSpPr>
        <p:spPr>
          <a:xfrm>
            <a:off x="10762488" y="3721608"/>
            <a:ext cx="941832" cy="374904"/>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iamond 41"/>
          <p:cNvSpPr/>
          <p:nvPr/>
        </p:nvSpPr>
        <p:spPr>
          <a:xfrm>
            <a:off x="4005072" y="4343400"/>
            <a:ext cx="329184" cy="329184"/>
          </a:xfrm>
          <a:prstGeom prst="diamond">
            <a:avLst/>
          </a:prstGeom>
          <a:solidFill>
            <a:srgbClr val="D4A84B"/>
          </a:solidFill>
          <a:ln w="9525">
            <a:solidFill>
              <a:srgbClr val="101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39312" y="4709160"/>
            <a:ext cx="914400" cy="274320"/>
          </a:xfrm>
          <a:prstGeom prst="rect">
            <a:avLst/>
          </a:prstGeom>
          <a:noFill/>
        </p:spPr>
        <p:txBody>
          <a:bodyPr wrap="square" lIns="45720" rIns="45720" tIns="18288" bIns="18288" anchor="t">
            <a:spAutoFit/>
          </a:bodyPr>
          <a:lstStyle/>
          <a:p>
            <a:pPr algn="ctr"/>
            <a:r>
              <a:rPr sz="1000" b="1">
                <a:solidFill>
                  <a:srgbClr val="1F4D42"/>
                </a:solidFill>
                <a:latin typeface="Calibri"/>
              </a:rPr>
              <a:t>M1</a:t>
            </a:r>
          </a:p>
        </p:txBody>
      </p:sp>
      <p:sp>
        <p:nvSpPr>
          <p:cNvPr id="44" name="Diamond 43"/>
          <p:cNvSpPr/>
          <p:nvPr/>
        </p:nvSpPr>
        <p:spPr>
          <a:xfrm>
            <a:off x="5888736" y="4343400"/>
            <a:ext cx="329184" cy="329184"/>
          </a:xfrm>
          <a:prstGeom prst="diamond">
            <a:avLst/>
          </a:prstGeom>
          <a:solidFill>
            <a:srgbClr val="D4A84B"/>
          </a:solidFill>
          <a:ln w="9525">
            <a:solidFill>
              <a:srgbClr val="101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22976" y="4709160"/>
            <a:ext cx="914400" cy="274320"/>
          </a:xfrm>
          <a:prstGeom prst="rect">
            <a:avLst/>
          </a:prstGeom>
          <a:noFill/>
        </p:spPr>
        <p:txBody>
          <a:bodyPr wrap="square" lIns="45720" rIns="45720" tIns="18288" bIns="18288" anchor="t">
            <a:spAutoFit/>
          </a:bodyPr>
          <a:lstStyle/>
          <a:p>
            <a:pPr algn="ctr"/>
            <a:r>
              <a:rPr sz="1000" b="1">
                <a:solidFill>
                  <a:srgbClr val="1F4D42"/>
                </a:solidFill>
                <a:latin typeface="Calibri"/>
              </a:rPr>
              <a:t>M2</a:t>
            </a:r>
          </a:p>
        </p:txBody>
      </p:sp>
      <p:sp>
        <p:nvSpPr>
          <p:cNvPr id="46" name="Diamond 45"/>
          <p:cNvSpPr/>
          <p:nvPr/>
        </p:nvSpPr>
        <p:spPr>
          <a:xfrm>
            <a:off x="7772400" y="4343400"/>
            <a:ext cx="329184" cy="329184"/>
          </a:xfrm>
          <a:prstGeom prst="diamond">
            <a:avLst/>
          </a:prstGeom>
          <a:solidFill>
            <a:srgbClr val="D4A84B"/>
          </a:solidFill>
          <a:ln w="9525">
            <a:solidFill>
              <a:srgbClr val="101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06640" y="4709160"/>
            <a:ext cx="914400" cy="274320"/>
          </a:xfrm>
          <a:prstGeom prst="rect">
            <a:avLst/>
          </a:prstGeom>
          <a:noFill/>
        </p:spPr>
        <p:txBody>
          <a:bodyPr wrap="square" lIns="45720" rIns="45720" tIns="18288" bIns="18288" anchor="t">
            <a:spAutoFit/>
          </a:bodyPr>
          <a:lstStyle/>
          <a:p>
            <a:pPr algn="ctr"/>
            <a:r>
              <a:rPr sz="1000" b="1">
                <a:solidFill>
                  <a:srgbClr val="1F4D42"/>
                </a:solidFill>
                <a:latin typeface="Calibri"/>
              </a:rPr>
              <a:t>M3</a:t>
            </a:r>
          </a:p>
        </p:txBody>
      </p:sp>
      <p:sp>
        <p:nvSpPr>
          <p:cNvPr id="48" name="Diamond 47"/>
          <p:cNvSpPr/>
          <p:nvPr/>
        </p:nvSpPr>
        <p:spPr>
          <a:xfrm>
            <a:off x="10597896" y="4343400"/>
            <a:ext cx="329184" cy="329184"/>
          </a:xfrm>
          <a:prstGeom prst="diamond">
            <a:avLst/>
          </a:prstGeom>
          <a:solidFill>
            <a:srgbClr val="D4A84B"/>
          </a:solidFill>
          <a:ln w="9525">
            <a:solidFill>
              <a:srgbClr val="101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32136" y="4709160"/>
            <a:ext cx="914400" cy="274320"/>
          </a:xfrm>
          <a:prstGeom prst="rect">
            <a:avLst/>
          </a:prstGeom>
          <a:noFill/>
        </p:spPr>
        <p:txBody>
          <a:bodyPr wrap="square" lIns="45720" rIns="45720" tIns="18288" bIns="18288" anchor="t">
            <a:spAutoFit/>
          </a:bodyPr>
          <a:lstStyle/>
          <a:p>
            <a:pPr algn="ctr"/>
            <a:r>
              <a:rPr sz="1000" b="1">
                <a:solidFill>
                  <a:srgbClr val="1F4D42"/>
                </a:solidFill>
                <a:latin typeface="Calibri"/>
              </a:rPr>
              <a:t>M4</a:t>
            </a:r>
          </a:p>
        </p:txBody>
      </p:sp>
      <p:sp>
        <p:nvSpPr>
          <p:cNvPr id="50" name="Diamond 49"/>
          <p:cNvSpPr/>
          <p:nvPr/>
        </p:nvSpPr>
        <p:spPr>
          <a:xfrm>
            <a:off x="11539728" y="4343400"/>
            <a:ext cx="329184" cy="329184"/>
          </a:xfrm>
          <a:prstGeom prst="diamond">
            <a:avLst/>
          </a:prstGeom>
          <a:solidFill>
            <a:srgbClr val="D4A84B"/>
          </a:solidFill>
          <a:ln w="9525">
            <a:solidFill>
              <a:srgbClr val="101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173968" y="4709160"/>
            <a:ext cx="914400" cy="274320"/>
          </a:xfrm>
          <a:prstGeom prst="rect">
            <a:avLst/>
          </a:prstGeom>
          <a:noFill/>
        </p:spPr>
        <p:txBody>
          <a:bodyPr wrap="square" lIns="45720" rIns="45720" tIns="18288" bIns="18288" anchor="t">
            <a:spAutoFit/>
          </a:bodyPr>
          <a:lstStyle/>
          <a:p>
            <a:pPr algn="ctr"/>
            <a:r>
              <a:rPr sz="1000" b="1">
                <a:solidFill>
                  <a:srgbClr val="1F4D42"/>
                </a:solidFill>
                <a:latin typeface="Calibri"/>
              </a:rPr>
              <a:t>M5</a:t>
            </a:r>
          </a:p>
        </p:txBody>
      </p:sp>
      <p:sp>
        <p:nvSpPr>
          <p:cNvPr id="52" name="TextBox 51"/>
          <p:cNvSpPr txBox="1"/>
          <p:nvPr/>
        </p:nvSpPr>
        <p:spPr>
          <a:xfrm>
            <a:off x="365760" y="4937760"/>
            <a:ext cx="10972800" cy="365760"/>
          </a:xfrm>
          <a:prstGeom prst="rect">
            <a:avLst/>
          </a:prstGeom>
          <a:noFill/>
        </p:spPr>
        <p:txBody>
          <a:bodyPr wrap="square" lIns="45720" rIns="45720" tIns="18288" bIns="18288" anchor="t">
            <a:spAutoFit/>
          </a:bodyPr>
          <a:lstStyle/>
          <a:p>
            <a:pPr algn="l"/>
            <a:r>
              <a:rPr sz="1300" b="1">
                <a:solidFill>
                  <a:srgbClr val="1F4D42"/>
                </a:solidFill>
                <a:latin typeface="Calibri"/>
              </a:rPr>
              <a:t>Milestones</a:t>
            </a:r>
          </a:p>
        </p:txBody>
      </p:sp>
      <p:graphicFrame>
        <p:nvGraphicFramePr>
          <p:cNvPr id="53" name="Table 52"/>
          <p:cNvGraphicFramePr>
            <a:graphicFrameLocks noGrp="1"/>
          </p:cNvGraphicFramePr>
          <p:nvPr/>
        </p:nvGraphicFramePr>
        <p:xfrm>
          <a:off x="365760" y="5349240"/>
          <a:ext cx="11429998" cy="1097280"/>
        </p:xfrm>
        <a:graphic>
          <a:graphicData uri="http://schemas.openxmlformats.org/drawingml/2006/table">
            <a:tbl>
              <a:tblPr firstRow="1" bandRow="1">
                <a:tableStyleId>{5C22544A-7EE6-4342-B048-85BDC9FD1C3A}</a:tableStyleId>
              </a:tblPr>
              <a:tblGrid>
                <a:gridCol w="496956"/>
                <a:gridCol w="2981739"/>
                <a:gridCol w="6460434"/>
                <a:gridCol w="1490869"/>
              </a:tblGrid>
              <a:tr h="182880">
                <a:tc>
                  <a:txBody>
                    <a:bodyPr wrap="square"/>
                    <a:lstStyle/>
                    <a:p>
                      <a:pPr algn="l"/>
                      <a:r>
                        <a:rPr sz="1000" b="1">
                          <a:solidFill>
                            <a:srgbClr val="FFFFFF"/>
                          </a:solidFill>
                          <a:latin typeface="Calibri"/>
                        </a:rPr>
                        <a:t>#</a:t>
                      </a:r>
                    </a:p>
                  </a:txBody>
                  <a:tcPr marL="45720" marR="45720" marT="18288" marB="18288">
                    <a:solidFill>
                      <a:srgbClr val="1F4D42"/>
                    </a:solidFill>
                  </a:tcPr>
                </a:tc>
                <a:tc>
                  <a:txBody>
                    <a:bodyPr wrap="square"/>
                    <a:lstStyle/>
                    <a:p>
                      <a:pPr algn="l"/>
                      <a:r>
                        <a:rPr sz="1000" b="1">
                          <a:solidFill>
                            <a:srgbClr val="FFFFFF"/>
                          </a:solidFill>
                          <a:latin typeface="Calibri"/>
                        </a:rPr>
                        <a:t>Milestone</a:t>
                      </a:r>
                    </a:p>
                  </a:txBody>
                  <a:tcPr marL="45720" marR="45720" marT="18288" marB="18288">
                    <a:solidFill>
                      <a:srgbClr val="1F4D42"/>
                    </a:solidFill>
                  </a:tcPr>
                </a:tc>
                <a:tc>
                  <a:txBody>
                    <a:bodyPr wrap="square"/>
                    <a:lstStyle/>
                    <a:p>
                      <a:pPr algn="l"/>
                      <a:r>
                        <a:rPr sz="1000" b="1">
                          <a:solidFill>
                            <a:srgbClr val="FFFFFF"/>
                          </a:solidFill>
                          <a:latin typeface="Calibri"/>
                        </a:rPr>
                        <a:t>Exit Gate</a:t>
                      </a:r>
                    </a:p>
                  </a:txBody>
                  <a:tcPr marL="45720" marR="45720" marT="18288" marB="18288">
                    <a:solidFill>
                      <a:srgbClr val="1F4D42"/>
                    </a:solidFill>
                  </a:tcPr>
                </a:tc>
                <a:tc>
                  <a:txBody>
                    <a:bodyPr wrap="square"/>
                    <a:lstStyle/>
                    <a:p>
                      <a:pPr algn="l"/>
                      <a:r>
                        <a:rPr sz="1000" b="1">
                          <a:solidFill>
                            <a:srgbClr val="FFFFFF"/>
                          </a:solidFill>
                          <a:latin typeface="Calibri"/>
                        </a:rPr>
                        <a:t>Week</a:t>
                      </a:r>
                    </a:p>
                  </a:txBody>
                  <a:tcPr marL="45720" marR="45720" marT="18288" marB="18288">
                    <a:solidFill>
                      <a:srgbClr val="1F4D42"/>
                    </a:solidFill>
                  </a:tcPr>
                </a:tc>
              </a:tr>
              <a:tr h="182880">
                <a:tc>
                  <a:txBody>
                    <a:bodyPr wrap="square"/>
                    <a:lstStyle/>
                    <a:p>
                      <a:pPr algn="l"/>
                      <a:r>
                        <a:rPr sz="1000" b="0">
                          <a:solidFill>
                            <a:srgbClr val="101828"/>
                          </a:solidFill>
                          <a:latin typeface="Calibri"/>
                        </a:rPr>
                        <a:t>M1</a:t>
                      </a:r>
                    </a:p>
                  </a:txBody>
                  <a:tcPr marL="45720" marR="45720" marT="18288" marB="18288">
                    <a:solidFill>
                      <a:srgbClr val="FFFFFF"/>
                    </a:solidFill>
                  </a:tcPr>
                </a:tc>
                <a:tc>
                  <a:txBody>
                    <a:bodyPr wrap="square"/>
                    <a:lstStyle/>
                    <a:p>
                      <a:pPr algn="l"/>
                      <a:r>
                        <a:rPr sz="1000" b="0">
                          <a:solidFill>
                            <a:srgbClr val="101828"/>
                          </a:solidFill>
                          <a:latin typeface="Calibri"/>
                        </a:rPr>
                        <a:t>Mobilise &amp; Discovery done</a:t>
                      </a:r>
                    </a:p>
                  </a:txBody>
                  <a:tcPr marL="45720" marR="45720" marT="18288" marB="18288">
                    <a:solidFill>
                      <a:srgbClr val="FFFFFF"/>
                    </a:solidFill>
                  </a:tcPr>
                </a:tc>
                <a:tc>
                  <a:txBody>
                    <a:bodyPr wrap="square"/>
                    <a:lstStyle/>
                    <a:p>
                      <a:pPr algn="l"/>
                      <a:r>
                        <a:rPr sz="1000" b="0">
                          <a:solidFill>
                            <a:srgbClr val="101828"/>
                          </a:solidFill>
                          <a:latin typeface="Calibri"/>
                        </a:rPr>
                        <a:t>Steering signs wave plan + risks</a:t>
                      </a:r>
                    </a:p>
                  </a:txBody>
                  <a:tcPr marL="45720" marR="45720" marT="18288" marB="18288">
                    <a:solidFill>
                      <a:srgbClr val="FFFFFF"/>
                    </a:solidFill>
                  </a:tcPr>
                </a:tc>
                <a:tc>
                  <a:txBody>
                    <a:bodyPr wrap="square"/>
                    <a:lstStyle/>
                    <a:p>
                      <a:pPr algn="l"/>
                      <a:r>
                        <a:rPr sz="1000" b="0">
                          <a:solidFill>
                            <a:srgbClr val="101828"/>
                          </a:solidFill>
                          <a:latin typeface="Calibri"/>
                        </a:rPr>
                        <a:t>End W2</a:t>
                      </a:r>
                    </a:p>
                  </a:txBody>
                  <a:tcPr marL="45720" marR="45720" marT="18288" marB="18288">
                    <a:solidFill>
                      <a:srgbClr val="FFFFFF"/>
                    </a:solidFill>
                  </a:tcPr>
                </a:tc>
              </a:tr>
              <a:tr h="182880">
                <a:tc>
                  <a:txBody>
                    <a:bodyPr wrap="square"/>
                    <a:lstStyle/>
                    <a:p>
                      <a:pPr algn="l"/>
                      <a:r>
                        <a:rPr sz="1000" b="0">
                          <a:solidFill>
                            <a:srgbClr val="101828"/>
                          </a:solidFill>
                          <a:latin typeface="Calibri"/>
                        </a:rPr>
                        <a:t>M2</a:t>
                      </a:r>
                    </a:p>
                  </a:txBody>
                  <a:tcPr marL="45720" marR="45720" marT="18288" marB="18288">
                    <a:solidFill>
                      <a:srgbClr val="F2F4F7"/>
                    </a:solidFill>
                  </a:tcPr>
                </a:tc>
                <a:tc>
                  <a:txBody>
                    <a:bodyPr wrap="square"/>
                    <a:lstStyle/>
                    <a:p>
                      <a:pPr algn="l"/>
                      <a:r>
                        <a:rPr sz="1000" b="0">
                          <a:solidFill>
                            <a:srgbClr val="101828"/>
                          </a:solidFill>
                          <a:latin typeface="Calibri"/>
                        </a:rPr>
                        <a:t>Identity Foundation live</a:t>
                      </a:r>
                    </a:p>
                  </a:txBody>
                  <a:tcPr marL="45720" marR="45720" marT="18288" marB="18288">
                    <a:solidFill>
                      <a:srgbClr val="F2F4F7"/>
                    </a:solidFill>
                  </a:tcPr>
                </a:tc>
                <a:tc>
                  <a:txBody>
                    <a:bodyPr wrap="square"/>
                    <a:lstStyle/>
                    <a:p>
                      <a:pPr algn="l"/>
                      <a:r>
                        <a:rPr sz="1000" b="0">
                          <a:solidFill>
                            <a:srgbClr val="101828"/>
                          </a:solidFill>
                          <a:latin typeface="Calibri"/>
                        </a:rPr>
                        <a:t>EMU + SAML + SCIM in production</a:t>
                      </a:r>
                    </a:p>
                  </a:txBody>
                  <a:tcPr marL="45720" marR="45720" marT="18288" marB="18288">
                    <a:solidFill>
                      <a:srgbClr val="F2F4F7"/>
                    </a:solidFill>
                  </a:tcPr>
                </a:tc>
                <a:tc>
                  <a:txBody>
                    <a:bodyPr wrap="square"/>
                    <a:lstStyle/>
                    <a:p>
                      <a:pPr algn="l"/>
                      <a:r>
                        <a:rPr sz="1000" b="0">
                          <a:solidFill>
                            <a:srgbClr val="101828"/>
                          </a:solidFill>
                          <a:latin typeface="Calibri"/>
                        </a:rPr>
                        <a:t>End W4</a:t>
                      </a:r>
                    </a:p>
                  </a:txBody>
                  <a:tcPr marL="45720" marR="45720" marT="18288" marB="18288">
                    <a:solidFill>
                      <a:srgbClr val="F2F4F7"/>
                    </a:solidFill>
                  </a:tcPr>
                </a:tc>
              </a:tr>
              <a:tr h="182880">
                <a:tc>
                  <a:txBody>
                    <a:bodyPr wrap="square"/>
                    <a:lstStyle/>
                    <a:p>
                      <a:pPr algn="l"/>
                      <a:r>
                        <a:rPr sz="1000" b="0">
                          <a:solidFill>
                            <a:srgbClr val="101828"/>
                          </a:solidFill>
                          <a:latin typeface="Calibri"/>
                        </a:rPr>
                        <a:t>M3</a:t>
                      </a:r>
                    </a:p>
                  </a:txBody>
                  <a:tcPr marL="45720" marR="45720" marT="18288" marB="18288">
                    <a:solidFill>
                      <a:srgbClr val="FFFFFF"/>
                    </a:solidFill>
                  </a:tcPr>
                </a:tc>
                <a:tc>
                  <a:txBody>
                    <a:bodyPr wrap="square"/>
                    <a:lstStyle/>
                    <a:p>
                      <a:pPr algn="l"/>
                      <a:r>
                        <a:rPr sz="1000" b="0">
                          <a:solidFill>
                            <a:srgbClr val="101828"/>
                          </a:solidFill>
                          <a:latin typeface="Calibri"/>
                        </a:rPr>
                        <a:t>Pilot Wave done</a:t>
                      </a:r>
                    </a:p>
                  </a:txBody>
                  <a:tcPr marL="45720" marR="45720" marT="18288" marB="18288">
                    <a:solidFill>
                      <a:srgbClr val="FFFFFF"/>
                    </a:solidFill>
                  </a:tcPr>
                </a:tc>
                <a:tc>
                  <a:txBody>
                    <a:bodyPr wrap="square"/>
                    <a:lstStyle/>
                    <a:p>
                      <a:pPr algn="l"/>
                      <a:r>
                        <a:rPr sz="1000" b="0">
                          <a:solidFill>
                            <a:srgbClr val="101828"/>
                          </a:solidFill>
                          <a:latin typeface="Calibri"/>
                        </a:rPr>
                        <a:t>5 repos live, Boards linked, pipelines re-pointed</a:t>
                      </a:r>
                    </a:p>
                  </a:txBody>
                  <a:tcPr marL="45720" marR="45720" marT="18288" marB="18288">
                    <a:solidFill>
                      <a:srgbClr val="FFFFFF"/>
                    </a:solidFill>
                  </a:tcPr>
                </a:tc>
                <a:tc>
                  <a:txBody>
                    <a:bodyPr wrap="square"/>
                    <a:lstStyle/>
                    <a:p>
                      <a:pPr algn="l"/>
                      <a:r>
                        <a:rPr sz="1000" b="0">
                          <a:solidFill>
                            <a:srgbClr val="101828"/>
                          </a:solidFill>
                          <a:latin typeface="Calibri"/>
                        </a:rPr>
                        <a:t>End W6</a:t>
                      </a:r>
                    </a:p>
                  </a:txBody>
                  <a:tcPr marL="45720" marR="45720" marT="18288" marB="18288">
                    <a:solidFill>
                      <a:srgbClr val="FFFFFF"/>
                    </a:solidFill>
                  </a:tcPr>
                </a:tc>
              </a:tr>
              <a:tr h="182880">
                <a:tc>
                  <a:txBody>
                    <a:bodyPr wrap="square"/>
                    <a:lstStyle/>
                    <a:p>
                      <a:pPr algn="l"/>
                      <a:r>
                        <a:rPr sz="1000" b="0">
                          <a:solidFill>
                            <a:srgbClr val="101828"/>
                          </a:solidFill>
                          <a:latin typeface="Calibri"/>
                        </a:rPr>
                        <a:t>M4</a:t>
                      </a:r>
                    </a:p>
                  </a:txBody>
                  <a:tcPr marL="45720" marR="45720" marT="18288" marB="18288">
                    <a:solidFill>
                      <a:srgbClr val="F2F4F7"/>
                    </a:solidFill>
                  </a:tcPr>
                </a:tc>
                <a:tc>
                  <a:txBody>
                    <a:bodyPr wrap="square"/>
                    <a:lstStyle/>
                    <a:p>
                      <a:pPr algn="l"/>
                      <a:r>
                        <a:rPr sz="1000" b="0">
                          <a:solidFill>
                            <a:srgbClr val="101828"/>
                          </a:solidFill>
                          <a:latin typeface="Calibri"/>
                        </a:rPr>
                        <a:t>Production Waves done</a:t>
                      </a:r>
                    </a:p>
                  </a:txBody>
                  <a:tcPr marL="45720" marR="45720" marT="18288" marB="18288">
                    <a:solidFill>
                      <a:srgbClr val="F2F4F7"/>
                    </a:solidFill>
                  </a:tcPr>
                </a:tc>
                <a:tc>
                  <a:txBody>
                    <a:bodyPr wrap="square"/>
                    <a:lstStyle/>
                    <a:p>
                      <a:pPr algn="l"/>
                      <a:r>
                        <a:rPr sz="1000" b="0">
                          <a:solidFill>
                            <a:srgbClr val="101828"/>
                          </a:solidFill>
                          <a:latin typeface="Calibri"/>
                        </a:rPr>
                        <a:t>100 repos in GHE, pipelines green</a:t>
                      </a:r>
                    </a:p>
                  </a:txBody>
                  <a:tcPr marL="45720" marR="45720" marT="18288" marB="18288">
                    <a:solidFill>
                      <a:srgbClr val="F2F4F7"/>
                    </a:solidFill>
                  </a:tcPr>
                </a:tc>
                <a:tc>
                  <a:txBody>
                    <a:bodyPr wrap="square"/>
                    <a:lstStyle/>
                    <a:p>
                      <a:pPr algn="l"/>
                      <a:r>
                        <a:rPr sz="1000" b="0">
                          <a:solidFill>
                            <a:srgbClr val="101828"/>
                          </a:solidFill>
                          <a:latin typeface="Calibri"/>
                        </a:rPr>
                        <a:t>End W9</a:t>
                      </a:r>
                    </a:p>
                  </a:txBody>
                  <a:tcPr marL="45720" marR="45720" marT="18288" marB="18288">
                    <a:solidFill>
                      <a:srgbClr val="F2F4F7"/>
                    </a:solidFill>
                  </a:tcPr>
                </a:tc>
              </a:tr>
              <a:tr h="182880">
                <a:tc>
                  <a:txBody>
                    <a:bodyPr wrap="square"/>
                    <a:lstStyle/>
                    <a:p>
                      <a:pPr algn="l"/>
                      <a:r>
                        <a:rPr sz="1000" b="0">
                          <a:solidFill>
                            <a:srgbClr val="101828"/>
                          </a:solidFill>
                          <a:latin typeface="Calibri"/>
                        </a:rPr>
                        <a:t>M5</a:t>
                      </a:r>
                    </a:p>
                  </a:txBody>
                  <a:tcPr marL="45720" marR="45720" marT="18288" marB="18288">
                    <a:solidFill>
                      <a:srgbClr val="FFFFFF"/>
                    </a:solidFill>
                  </a:tcPr>
                </a:tc>
                <a:tc>
                  <a:txBody>
                    <a:bodyPr wrap="square"/>
                    <a:lstStyle/>
                    <a:p>
                      <a:pPr algn="l"/>
                      <a:r>
                        <a:rPr sz="1000" b="0">
                          <a:solidFill>
                            <a:srgbClr val="101828"/>
                          </a:solidFill>
                          <a:latin typeface="Calibri"/>
                        </a:rPr>
                        <a:t>Phase 1 closed</a:t>
                      </a:r>
                    </a:p>
                  </a:txBody>
                  <a:tcPr marL="45720" marR="45720" marT="18288" marB="18288">
                    <a:solidFill>
                      <a:srgbClr val="FFFFFF"/>
                    </a:solidFill>
                  </a:tcPr>
                </a:tc>
                <a:tc>
                  <a:txBody>
                    <a:bodyPr wrap="square"/>
                    <a:lstStyle/>
                    <a:p>
                      <a:pPr algn="l"/>
                      <a:r>
                        <a:rPr sz="1000" b="0">
                          <a:solidFill>
                            <a:srgbClr val="101828"/>
                          </a:solidFill>
                          <a:latin typeface="Calibri"/>
                        </a:rPr>
                        <a:t>Hypercare exit, ADO archived, Phase 2 mandate</a:t>
                      </a:r>
                    </a:p>
                  </a:txBody>
                  <a:tcPr marL="45720" marR="45720" marT="18288" marB="18288">
                    <a:solidFill>
                      <a:srgbClr val="FFFFFF"/>
                    </a:solidFill>
                  </a:tcPr>
                </a:tc>
                <a:tc>
                  <a:txBody>
                    <a:bodyPr wrap="square"/>
                    <a:lstStyle/>
                    <a:p>
                      <a:pPr algn="l"/>
                      <a:r>
                        <a:rPr sz="1000" b="0">
                          <a:solidFill>
                            <a:srgbClr val="101828"/>
                          </a:solidFill>
                          <a:latin typeface="Calibri"/>
                        </a:rPr>
                        <a:t>End W10</a:t>
                      </a:r>
                    </a:p>
                  </a:txBody>
                  <a:tcPr marL="45720" marR="45720" marT="18288" marB="18288">
                    <a:solidFill>
                      <a:srgbClr val="FFFFFF"/>
                    </a:solidFill>
                  </a:tcPr>
                </a:tc>
              </a:tr>
            </a:tbl>
          </a:graphicData>
        </a:graphic>
      </p:graphicFrame>
      <p:sp>
        <p:nvSpPr>
          <p:cNvPr id="54" name="TextBox 53"/>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55" name="TextBox 54"/>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Team &amp; Resource Plan</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8 people, ~5.3 peak FTE, ~150 person-days delivery effort</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365760" y="1051560"/>
          <a:ext cx="7772400" cy="4023360"/>
        </p:xfrm>
        <a:graphic>
          <a:graphicData uri="http://schemas.openxmlformats.org/drawingml/2006/table">
            <a:tbl>
              <a:tblPr firstRow="1" bandRow="1">
                <a:tableStyleId>{5C22544A-7EE6-4342-B048-85BDC9FD1C3A}</a:tableStyleId>
              </a:tblPr>
              <a:tblGrid>
                <a:gridCol w="388620"/>
                <a:gridCol w="2720340"/>
                <a:gridCol w="932688"/>
                <a:gridCol w="1399032"/>
                <a:gridCol w="1088136"/>
                <a:gridCol w="1243584"/>
              </a:tblGrid>
              <a:tr h="402336">
                <a:tc>
                  <a:txBody>
                    <a:bodyPr wrap="square"/>
                    <a:lstStyle/>
                    <a:p>
                      <a:pPr algn="l"/>
                      <a:r>
                        <a:rPr sz="1100" b="1">
                          <a:solidFill>
                            <a:srgbClr val="FFFFFF"/>
                          </a:solidFill>
                          <a:latin typeface="Calibri"/>
                        </a:rPr>
                        <a:t>#</a:t>
                      </a:r>
                    </a:p>
                  </a:txBody>
                  <a:tcPr marL="45720" marR="45720" marT="18288" marB="18288">
                    <a:solidFill>
                      <a:srgbClr val="1F4D42"/>
                    </a:solidFill>
                  </a:tcPr>
                </a:tc>
                <a:tc>
                  <a:txBody>
                    <a:bodyPr wrap="square"/>
                    <a:lstStyle/>
                    <a:p>
                      <a:pPr algn="l"/>
                      <a:r>
                        <a:rPr sz="1100" b="1">
                          <a:solidFill>
                            <a:srgbClr val="FFFFFF"/>
                          </a:solidFill>
                          <a:latin typeface="Calibri"/>
                        </a:rPr>
                        <a:t>Role</a:t>
                      </a:r>
                    </a:p>
                  </a:txBody>
                  <a:tcPr marL="45720" marR="45720" marT="18288" marB="18288">
                    <a:solidFill>
                      <a:srgbClr val="1F4D42"/>
                    </a:solidFill>
                  </a:tcPr>
                </a:tc>
                <a:tc>
                  <a:txBody>
                    <a:bodyPr wrap="square"/>
                    <a:lstStyle/>
                    <a:p>
                      <a:pPr algn="l"/>
                      <a:r>
                        <a:rPr sz="1100" b="1">
                          <a:solidFill>
                            <a:srgbClr val="FFFFFF"/>
                          </a:solidFill>
                          <a:latin typeface="Calibri"/>
                        </a:rPr>
                        <a:t>Headcount</a:t>
                      </a:r>
                    </a:p>
                  </a:txBody>
                  <a:tcPr marL="45720" marR="45720" marT="18288" marB="18288">
                    <a:solidFill>
                      <a:srgbClr val="1F4D42"/>
                    </a:solidFill>
                  </a:tcPr>
                </a:tc>
                <a:tc>
                  <a:txBody>
                    <a:bodyPr wrap="square"/>
                    <a:lstStyle/>
                    <a:p>
                      <a:pPr algn="l"/>
                      <a:r>
                        <a:rPr sz="1100" b="1">
                          <a:solidFill>
                            <a:srgbClr val="FFFFFF"/>
                          </a:solidFill>
                          <a:latin typeface="Calibri"/>
                        </a:rPr>
                        <a:t>FTE</a:t>
                      </a:r>
                    </a:p>
                  </a:txBody>
                  <a:tcPr marL="45720" marR="45720" marT="18288" marB="18288">
                    <a:solidFill>
                      <a:srgbClr val="1F4D42"/>
                    </a:solidFill>
                  </a:tcPr>
                </a:tc>
                <a:tc>
                  <a:txBody>
                    <a:bodyPr wrap="square"/>
                    <a:lstStyle/>
                    <a:p>
                      <a:pPr algn="l"/>
                      <a:r>
                        <a:rPr sz="1100" b="1">
                          <a:solidFill>
                            <a:srgbClr val="FFFFFF"/>
                          </a:solidFill>
                          <a:latin typeface="Calibri"/>
                        </a:rPr>
                        <a:t>Weeks Active</a:t>
                      </a:r>
                    </a:p>
                  </a:txBody>
                  <a:tcPr marL="45720" marR="45720" marT="18288" marB="18288">
                    <a:solidFill>
                      <a:srgbClr val="1F4D42"/>
                    </a:solidFill>
                  </a:tcPr>
                </a:tc>
                <a:tc>
                  <a:txBody>
                    <a:bodyPr wrap="square"/>
                    <a:lstStyle/>
                    <a:p>
                      <a:pPr algn="l"/>
                      <a:r>
                        <a:rPr sz="1100" b="1">
                          <a:solidFill>
                            <a:srgbClr val="FFFFFF"/>
                          </a:solidFill>
                          <a:latin typeface="Calibri"/>
                        </a:rPr>
                        <a:t>Person-days</a:t>
                      </a:r>
                    </a:p>
                  </a:txBody>
                  <a:tcPr marL="45720" marR="45720" marT="18288" marB="18288">
                    <a:solidFill>
                      <a:srgbClr val="1F4D42"/>
                    </a:solidFill>
                  </a:tcPr>
                </a:tc>
              </a:tr>
              <a:tr h="402336">
                <a:tc>
                  <a:txBody>
                    <a:bodyPr wrap="square"/>
                    <a:lstStyle/>
                    <a:p>
                      <a:pPr algn="l"/>
                      <a:r>
                        <a:rPr sz="1100" b="0">
                          <a:solidFill>
                            <a:srgbClr val="101828"/>
                          </a:solidFill>
                          <a:latin typeface="Calibri"/>
                        </a:rPr>
                        <a:t>1</a:t>
                      </a:r>
                    </a:p>
                  </a:txBody>
                  <a:tcPr marL="45720" marR="45720" marT="18288" marB="18288">
                    <a:solidFill>
                      <a:srgbClr val="FFFFFF"/>
                    </a:solidFill>
                  </a:tcPr>
                </a:tc>
                <a:tc>
                  <a:txBody>
                    <a:bodyPr wrap="square"/>
                    <a:lstStyle/>
                    <a:p>
                      <a:pPr algn="l"/>
                      <a:r>
                        <a:rPr sz="1100" b="0">
                          <a:solidFill>
                            <a:srgbClr val="101828"/>
                          </a:solidFill>
                          <a:latin typeface="Calibri"/>
                        </a:rPr>
                        <a:t>Program Manager</a:t>
                      </a:r>
                    </a:p>
                  </a:txBody>
                  <a:tcPr marL="45720" marR="45720" marT="18288" marB="18288">
                    <a:solidFill>
                      <a:srgbClr val="FFFFFF"/>
                    </a:solidFill>
                  </a:tcPr>
                </a:tc>
                <a:tc>
                  <a:txBody>
                    <a:bodyPr wrap="square"/>
                    <a:lstStyle/>
                    <a:p>
                      <a:pPr algn="l"/>
                      <a:r>
                        <a:rPr sz="1100" b="0">
                          <a:solidFill>
                            <a:srgbClr val="101828"/>
                          </a:solidFill>
                          <a:latin typeface="Calibri"/>
                        </a:rPr>
                        <a:t>1</a:t>
                      </a:r>
                    </a:p>
                  </a:txBody>
                  <a:tcPr marL="45720" marR="45720" marT="18288" marB="18288">
                    <a:solidFill>
                      <a:srgbClr val="FFFFFF"/>
                    </a:solidFill>
                  </a:tcPr>
                </a:tc>
                <a:tc>
                  <a:txBody>
                    <a:bodyPr wrap="square"/>
                    <a:lstStyle/>
                    <a:p>
                      <a:pPr algn="l"/>
                      <a:r>
                        <a:rPr sz="1100" b="0">
                          <a:solidFill>
                            <a:srgbClr val="101828"/>
                          </a:solidFill>
                          <a:latin typeface="Calibri"/>
                        </a:rPr>
                        <a:t>0.5</a:t>
                      </a:r>
                    </a:p>
                  </a:txBody>
                  <a:tcPr marL="45720" marR="45720" marT="18288" marB="18288">
                    <a:solidFill>
                      <a:srgbClr val="FFFFFF"/>
                    </a:solidFill>
                  </a:tcPr>
                </a:tc>
                <a:tc>
                  <a:txBody>
                    <a:bodyPr wrap="square"/>
                    <a:lstStyle/>
                    <a:p>
                      <a:pPr algn="l"/>
                      <a:r>
                        <a:rPr sz="1100" b="0">
                          <a:solidFill>
                            <a:srgbClr val="101828"/>
                          </a:solidFill>
                          <a:latin typeface="Calibri"/>
                        </a:rPr>
                        <a:t>10</a:t>
                      </a:r>
                    </a:p>
                  </a:txBody>
                  <a:tcPr marL="45720" marR="45720" marT="18288" marB="18288">
                    <a:solidFill>
                      <a:srgbClr val="FFFFFF"/>
                    </a:solidFill>
                  </a:tcPr>
                </a:tc>
                <a:tc>
                  <a:txBody>
                    <a:bodyPr wrap="square"/>
                    <a:lstStyle/>
                    <a:p>
                      <a:pPr algn="l"/>
                      <a:r>
                        <a:rPr sz="1100" b="0">
                          <a:solidFill>
                            <a:srgbClr val="101828"/>
                          </a:solidFill>
                          <a:latin typeface="Calibri"/>
                        </a:rPr>
                        <a:t>25</a:t>
                      </a:r>
                    </a:p>
                  </a:txBody>
                  <a:tcPr marL="45720" marR="45720" marT="18288" marB="18288">
                    <a:solidFill>
                      <a:srgbClr val="FFFFFF"/>
                    </a:solidFill>
                  </a:tcPr>
                </a:tc>
              </a:tr>
              <a:tr h="402336">
                <a:tc>
                  <a:txBody>
                    <a:bodyPr wrap="square"/>
                    <a:lstStyle/>
                    <a:p>
                      <a:pPr algn="l"/>
                      <a:r>
                        <a:rPr sz="1100" b="0">
                          <a:solidFill>
                            <a:srgbClr val="101828"/>
                          </a:solidFill>
                          <a:latin typeface="Calibri"/>
                        </a:rPr>
                        <a:t>2</a:t>
                      </a:r>
                    </a:p>
                  </a:txBody>
                  <a:tcPr marL="45720" marR="45720" marT="18288" marB="18288">
                    <a:solidFill>
                      <a:srgbClr val="F2F4F7"/>
                    </a:solidFill>
                  </a:tcPr>
                </a:tc>
                <a:tc>
                  <a:txBody>
                    <a:bodyPr wrap="square"/>
                    <a:lstStyle/>
                    <a:p>
                      <a:pPr algn="l"/>
                      <a:r>
                        <a:rPr sz="1100" b="0">
                          <a:solidFill>
                            <a:srgbClr val="101828"/>
                          </a:solidFill>
                          <a:latin typeface="Calibri"/>
                        </a:rPr>
                        <a:t>Tech Lead / Architect</a:t>
                      </a:r>
                    </a:p>
                  </a:txBody>
                  <a:tcPr marL="45720" marR="45720" marT="18288" marB="18288">
                    <a:solidFill>
                      <a:srgbClr val="F2F4F7"/>
                    </a:solidFill>
                  </a:tcPr>
                </a:tc>
                <a:tc>
                  <a:txBody>
                    <a:bodyPr wrap="square"/>
                    <a:lstStyle/>
                    <a:p>
                      <a:pPr algn="l"/>
                      <a:r>
                        <a:rPr sz="1100" b="0">
                          <a:solidFill>
                            <a:srgbClr val="101828"/>
                          </a:solidFill>
                          <a:latin typeface="Calibri"/>
                        </a:rPr>
                        <a:t>1</a:t>
                      </a:r>
                    </a:p>
                  </a:txBody>
                  <a:tcPr marL="45720" marR="45720" marT="18288" marB="18288">
                    <a:solidFill>
                      <a:srgbClr val="F2F4F7"/>
                    </a:solidFill>
                  </a:tcPr>
                </a:tc>
                <a:tc>
                  <a:txBody>
                    <a:bodyPr wrap="square"/>
                    <a:lstStyle/>
                    <a:p>
                      <a:pPr algn="l"/>
                      <a:r>
                        <a:rPr sz="1100" b="0">
                          <a:solidFill>
                            <a:srgbClr val="101828"/>
                          </a:solidFill>
                          <a:latin typeface="Calibri"/>
                        </a:rPr>
                        <a:t>1.0</a:t>
                      </a:r>
                    </a:p>
                  </a:txBody>
                  <a:tcPr marL="45720" marR="45720" marT="18288" marB="18288">
                    <a:solidFill>
                      <a:srgbClr val="F2F4F7"/>
                    </a:solidFill>
                  </a:tcPr>
                </a:tc>
                <a:tc>
                  <a:txBody>
                    <a:bodyPr wrap="square"/>
                    <a:lstStyle/>
                    <a:p>
                      <a:pPr algn="l"/>
                      <a:r>
                        <a:rPr sz="1100" b="0">
                          <a:solidFill>
                            <a:srgbClr val="101828"/>
                          </a:solidFill>
                          <a:latin typeface="Calibri"/>
                        </a:rPr>
                        <a:t>10</a:t>
                      </a:r>
                    </a:p>
                  </a:txBody>
                  <a:tcPr marL="45720" marR="45720" marT="18288" marB="18288">
                    <a:solidFill>
                      <a:srgbClr val="F2F4F7"/>
                    </a:solidFill>
                  </a:tcPr>
                </a:tc>
                <a:tc>
                  <a:txBody>
                    <a:bodyPr wrap="square"/>
                    <a:lstStyle/>
                    <a:p>
                      <a:pPr algn="l"/>
                      <a:r>
                        <a:rPr sz="1100" b="0">
                          <a:solidFill>
                            <a:srgbClr val="101828"/>
                          </a:solidFill>
                          <a:latin typeface="Calibri"/>
                        </a:rPr>
                        <a:t>50</a:t>
                      </a:r>
                    </a:p>
                  </a:txBody>
                  <a:tcPr marL="45720" marR="45720" marT="18288" marB="18288">
                    <a:solidFill>
                      <a:srgbClr val="F2F4F7"/>
                    </a:solidFill>
                  </a:tcPr>
                </a:tc>
              </a:tr>
              <a:tr h="402336">
                <a:tc>
                  <a:txBody>
                    <a:bodyPr wrap="square"/>
                    <a:lstStyle/>
                    <a:p>
                      <a:pPr algn="l"/>
                      <a:r>
                        <a:rPr sz="1100" b="0">
                          <a:solidFill>
                            <a:srgbClr val="101828"/>
                          </a:solidFill>
                          <a:latin typeface="Calibri"/>
                        </a:rPr>
                        <a:t>3</a:t>
                      </a:r>
                    </a:p>
                  </a:txBody>
                  <a:tcPr marL="45720" marR="45720" marT="18288" marB="18288">
                    <a:solidFill>
                      <a:srgbClr val="FFFFFF"/>
                    </a:solidFill>
                  </a:tcPr>
                </a:tc>
                <a:tc>
                  <a:txBody>
                    <a:bodyPr wrap="square"/>
                    <a:lstStyle/>
                    <a:p>
                      <a:pPr algn="l"/>
                      <a:r>
                        <a:rPr sz="1100" b="0">
                          <a:solidFill>
                            <a:srgbClr val="101828"/>
                          </a:solidFill>
                          <a:latin typeface="Calibri"/>
                        </a:rPr>
                        <a:t>IAM Engineer</a:t>
                      </a:r>
                    </a:p>
                  </a:txBody>
                  <a:tcPr marL="45720" marR="45720" marT="18288" marB="18288">
                    <a:solidFill>
                      <a:srgbClr val="FFFFFF"/>
                    </a:solidFill>
                  </a:tcPr>
                </a:tc>
                <a:tc>
                  <a:txBody>
                    <a:bodyPr wrap="square"/>
                    <a:lstStyle/>
                    <a:p>
                      <a:pPr algn="l"/>
                      <a:r>
                        <a:rPr sz="1100" b="0">
                          <a:solidFill>
                            <a:srgbClr val="101828"/>
                          </a:solidFill>
                          <a:latin typeface="Calibri"/>
                        </a:rPr>
                        <a:t>1</a:t>
                      </a:r>
                    </a:p>
                  </a:txBody>
                  <a:tcPr marL="45720" marR="45720" marT="18288" marB="18288">
                    <a:solidFill>
                      <a:srgbClr val="FFFFFF"/>
                    </a:solidFill>
                  </a:tcPr>
                </a:tc>
                <a:tc>
                  <a:txBody>
                    <a:bodyPr wrap="square"/>
                    <a:lstStyle/>
                    <a:p>
                      <a:pPr algn="l"/>
                      <a:r>
                        <a:rPr sz="1100" b="0">
                          <a:solidFill>
                            <a:srgbClr val="101828"/>
                          </a:solidFill>
                          <a:latin typeface="Calibri"/>
                        </a:rPr>
                        <a:t>0.5 (front-loaded)</a:t>
                      </a:r>
                    </a:p>
                  </a:txBody>
                  <a:tcPr marL="45720" marR="45720" marT="18288" marB="18288">
                    <a:solidFill>
                      <a:srgbClr val="FFFFFF"/>
                    </a:solidFill>
                  </a:tcPr>
                </a:tc>
                <a:tc>
                  <a:txBody>
                    <a:bodyPr wrap="square"/>
                    <a:lstStyle/>
                    <a:p>
                      <a:pPr algn="l"/>
                      <a:r>
                        <a:rPr sz="1100" b="0">
                          <a:solidFill>
                            <a:srgbClr val="101828"/>
                          </a:solidFill>
                          <a:latin typeface="Calibri"/>
                        </a:rPr>
                        <a:t>10</a:t>
                      </a:r>
                    </a:p>
                  </a:txBody>
                  <a:tcPr marL="45720" marR="45720" marT="18288" marB="18288">
                    <a:solidFill>
                      <a:srgbClr val="FFFFFF"/>
                    </a:solidFill>
                  </a:tcPr>
                </a:tc>
                <a:tc>
                  <a:txBody>
                    <a:bodyPr wrap="square"/>
                    <a:lstStyle/>
                    <a:p>
                      <a:pPr algn="l"/>
                      <a:r>
                        <a:rPr sz="1100" b="0">
                          <a:solidFill>
                            <a:srgbClr val="101828"/>
                          </a:solidFill>
                          <a:latin typeface="Calibri"/>
                        </a:rPr>
                        <a:t>14</a:t>
                      </a:r>
                    </a:p>
                  </a:txBody>
                  <a:tcPr marL="45720" marR="45720" marT="18288" marB="18288">
                    <a:solidFill>
                      <a:srgbClr val="FFFFFF"/>
                    </a:solidFill>
                  </a:tcPr>
                </a:tc>
              </a:tr>
              <a:tr h="402336">
                <a:tc>
                  <a:txBody>
                    <a:bodyPr wrap="square"/>
                    <a:lstStyle/>
                    <a:p>
                      <a:pPr algn="l"/>
                      <a:r>
                        <a:rPr sz="1100" b="0">
                          <a:solidFill>
                            <a:srgbClr val="101828"/>
                          </a:solidFill>
                          <a:latin typeface="Calibri"/>
                        </a:rPr>
                        <a:t>4</a:t>
                      </a:r>
                    </a:p>
                  </a:txBody>
                  <a:tcPr marL="45720" marR="45720" marT="18288" marB="18288">
                    <a:solidFill>
                      <a:srgbClr val="F2F4F7"/>
                    </a:solidFill>
                  </a:tcPr>
                </a:tc>
                <a:tc>
                  <a:txBody>
                    <a:bodyPr wrap="square"/>
                    <a:lstStyle/>
                    <a:p>
                      <a:pPr algn="l"/>
                      <a:r>
                        <a:rPr sz="1100" b="0">
                          <a:solidFill>
                            <a:srgbClr val="101828"/>
                          </a:solidFill>
                          <a:latin typeface="Calibri"/>
                        </a:rPr>
                        <a:t>Platform / Migration Engineer #1</a:t>
                      </a:r>
                    </a:p>
                  </a:txBody>
                  <a:tcPr marL="45720" marR="45720" marT="18288" marB="18288">
                    <a:solidFill>
                      <a:srgbClr val="F2F4F7"/>
                    </a:solidFill>
                  </a:tcPr>
                </a:tc>
                <a:tc>
                  <a:txBody>
                    <a:bodyPr wrap="square"/>
                    <a:lstStyle/>
                    <a:p>
                      <a:pPr algn="l"/>
                      <a:r>
                        <a:rPr sz="1100" b="0">
                          <a:solidFill>
                            <a:srgbClr val="101828"/>
                          </a:solidFill>
                          <a:latin typeface="Calibri"/>
                        </a:rPr>
                        <a:t>1</a:t>
                      </a:r>
                    </a:p>
                  </a:txBody>
                  <a:tcPr marL="45720" marR="45720" marT="18288" marB="18288">
                    <a:solidFill>
                      <a:srgbClr val="F2F4F7"/>
                    </a:solidFill>
                  </a:tcPr>
                </a:tc>
                <a:tc>
                  <a:txBody>
                    <a:bodyPr wrap="square"/>
                    <a:lstStyle/>
                    <a:p>
                      <a:pPr algn="l"/>
                      <a:r>
                        <a:rPr sz="1100" b="0">
                          <a:solidFill>
                            <a:srgbClr val="101828"/>
                          </a:solidFill>
                          <a:latin typeface="Calibri"/>
                        </a:rPr>
                        <a:t>1.0</a:t>
                      </a:r>
                    </a:p>
                  </a:txBody>
                  <a:tcPr marL="45720" marR="45720" marT="18288" marB="18288">
                    <a:solidFill>
                      <a:srgbClr val="F2F4F7"/>
                    </a:solidFill>
                  </a:tcPr>
                </a:tc>
                <a:tc>
                  <a:txBody>
                    <a:bodyPr wrap="square"/>
                    <a:lstStyle/>
                    <a:p>
                      <a:pPr algn="l"/>
                      <a:r>
                        <a:rPr sz="1100" b="0">
                          <a:solidFill>
                            <a:srgbClr val="101828"/>
                          </a:solidFill>
                          <a:latin typeface="Calibri"/>
                        </a:rPr>
                        <a:t>8 (W3-W10)</a:t>
                      </a:r>
                    </a:p>
                  </a:txBody>
                  <a:tcPr marL="45720" marR="45720" marT="18288" marB="18288">
                    <a:solidFill>
                      <a:srgbClr val="F2F4F7"/>
                    </a:solidFill>
                  </a:tcPr>
                </a:tc>
                <a:tc>
                  <a:txBody>
                    <a:bodyPr wrap="square"/>
                    <a:lstStyle/>
                    <a:p>
                      <a:pPr algn="l"/>
                      <a:r>
                        <a:rPr sz="1100" b="0">
                          <a:solidFill>
                            <a:srgbClr val="101828"/>
                          </a:solidFill>
                          <a:latin typeface="Calibri"/>
                        </a:rPr>
                        <a:t>40</a:t>
                      </a:r>
                    </a:p>
                  </a:txBody>
                  <a:tcPr marL="45720" marR="45720" marT="18288" marB="18288">
                    <a:solidFill>
                      <a:srgbClr val="F2F4F7"/>
                    </a:solidFill>
                  </a:tcPr>
                </a:tc>
              </a:tr>
              <a:tr h="402336">
                <a:tc>
                  <a:txBody>
                    <a:bodyPr wrap="square"/>
                    <a:lstStyle/>
                    <a:p>
                      <a:pPr algn="l"/>
                      <a:r>
                        <a:rPr sz="1100" b="0">
                          <a:solidFill>
                            <a:srgbClr val="101828"/>
                          </a:solidFill>
                          <a:latin typeface="Calibri"/>
                        </a:rPr>
                        <a:t>5</a:t>
                      </a:r>
                    </a:p>
                  </a:txBody>
                  <a:tcPr marL="45720" marR="45720" marT="18288" marB="18288">
                    <a:solidFill>
                      <a:srgbClr val="FFFFFF"/>
                    </a:solidFill>
                  </a:tcPr>
                </a:tc>
                <a:tc>
                  <a:txBody>
                    <a:bodyPr wrap="square"/>
                    <a:lstStyle/>
                    <a:p>
                      <a:pPr algn="l"/>
                      <a:r>
                        <a:rPr sz="1100" b="0">
                          <a:solidFill>
                            <a:srgbClr val="101828"/>
                          </a:solidFill>
                          <a:latin typeface="Calibri"/>
                        </a:rPr>
                        <a:t>Platform / Migration Engineer #2</a:t>
                      </a:r>
                    </a:p>
                  </a:txBody>
                  <a:tcPr marL="45720" marR="45720" marT="18288" marB="18288">
                    <a:solidFill>
                      <a:srgbClr val="FFFFFF"/>
                    </a:solidFill>
                  </a:tcPr>
                </a:tc>
                <a:tc>
                  <a:txBody>
                    <a:bodyPr wrap="square"/>
                    <a:lstStyle/>
                    <a:p>
                      <a:pPr algn="l"/>
                      <a:r>
                        <a:rPr sz="1100" b="0">
                          <a:solidFill>
                            <a:srgbClr val="101828"/>
                          </a:solidFill>
                          <a:latin typeface="Calibri"/>
                        </a:rPr>
                        <a:t>1</a:t>
                      </a:r>
                    </a:p>
                  </a:txBody>
                  <a:tcPr marL="45720" marR="45720" marT="18288" marB="18288">
                    <a:solidFill>
                      <a:srgbClr val="FFFFFF"/>
                    </a:solidFill>
                  </a:tcPr>
                </a:tc>
                <a:tc>
                  <a:txBody>
                    <a:bodyPr wrap="square"/>
                    <a:lstStyle/>
                    <a:p>
                      <a:pPr algn="l"/>
                      <a:r>
                        <a:rPr sz="1100" b="0">
                          <a:solidFill>
                            <a:srgbClr val="101828"/>
                          </a:solidFill>
                          <a:latin typeface="Calibri"/>
                        </a:rPr>
                        <a:t>1.0</a:t>
                      </a:r>
                    </a:p>
                  </a:txBody>
                  <a:tcPr marL="45720" marR="45720" marT="18288" marB="18288">
                    <a:solidFill>
                      <a:srgbClr val="FFFFFF"/>
                    </a:solidFill>
                  </a:tcPr>
                </a:tc>
                <a:tc>
                  <a:txBody>
                    <a:bodyPr wrap="square"/>
                    <a:lstStyle/>
                    <a:p>
                      <a:pPr algn="l"/>
                      <a:r>
                        <a:rPr sz="1100" b="0">
                          <a:solidFill>
                            <a:srgbClr val="101828"/>
                          </a:solidFill>
                          <a:latin typeface="Calibri"/>
                        </a:rPr>
                        <a:t>8 (W3-W10)</a:t>
                      </a:r>
                    </a:p>
                  </a:txBody>
                  <a:tcPr marL="45720" marR="45720" marT="18288" marB="18288">
                    <a:solidFill>
                      <a:srgbClr val="FFFFFF"/>
                    </a:solidFill>
                  </a:tcPr>
                </a:tc>
                <a:tc>
                  <a:txBody>
                    <a:bodyPr wrap="square"/>
                    <a:lstStyle/>
                    <a:p>
                      <a:pPr algn="l"/>
                      <a:r>
                        <a:rPr sz="1100" b="0">
                          <a:solidFill>
                            <a:srgbClr val="101828"/>
                          </a:solidFill>
                          <a:latin typeface="Calibri"/>
                        </a:rPr>
                        <a:t>40</a:t>
                      </a:r>
                    </a:p>
                  </a:txBody>
                  <a:tcPr marL="45720" marR="45720" marT="18288" marB="18288">
                    <a:solidFill>
                      <a:srgbClr val="FFFFFF"/>
                    </a:solidFill>
                  </a:tcPr>
                </a:tc>
              </a:tr>
              <a:tr h="402336">
                <a:tc>
                  <a:txBody>
                    <a:bodyPr wrap="square"/>
                    <a:lstStyle/>
                    <a:p>
                      <a:pPr algn="l"/>
                      <a:r>
                        <a:rPr sz="1100" b="0">
                          <a:solidFill>
                            <a:srgbClr val="101828"/>
                          </a:solidFill>
                          <a:latin typeface="Calibri"/>
                        </a:rPr>
                        <a:t>6</a:t>
                      </a:r>
                    </a:p>
                  </a:txBody>
                  <a:tcPr marL="45720" marR="45720" marT="18288" marB="18288">
                    <a:solidFill>
                      <a:srgbClr val="F2F4F7"/>
                    </a:solidFill>
                  </a:tcPr>
                </a:tc>
                <a:tc>
                  <a:txBody>
                    <a:bodyPr wrap="square"/>
                    <a:lstStyle/>
                    <a:p>
                      <a:pPr algn="l"/>
                      <a:r>
                        <a:rPr sz="1100" b="0">
                          <a:solidFill>
                            <a:srgbClr val="101828"/>
                          </a:solidFill>
                          <a:latin typeface="Calibri"/>
                        </a:rPr>
                        <a:t>DevEx Engineer (pipelines)</a:t>
                      </a:r>
                    </a:p>
                  </a:txBody>
                  <a:tcPr marL="45720" marR="45720" marT="18288" marB="18288">
                    <a:solidFill>
                      <a:srgbClr val="F2F4F7"/>
                    </a:solidFill>
                  </a:tcPr>
                </a:tc>
                <a:tc>
                  <a:txBody>
                    <a:bodyPr wrap="square"/>
                    <a:lstStyle/>
                    <a:p>
                      <a:pPr algn="l"/>
                      <a:r>
                        <a:rPr sz="1100" b="0">
                          <a:solidFill>
                            <a:srgbClr val="101828"/>
                          </a:solidFill>
                          <a:latin typeface="Calibri"/>
                        </a:rPr>
                        <a:t>1</a:t>
                      </a:r>
                    </a:p>
                  </a:txBody>
                  <a:tcPr marL="45720" marR="45720" marT="18288" marB="18288">
                    <a:solidFill>
                      <a:srgbClr val="F2F4F7"/>
                    </a:solidFill>
                  </a:tcPr>
                </a:tc>
                <a:tc>
                  <a:txBody>
                    <a:bodyPr wrap="square"/>
                    <a:lstStyle/>
                    <a:p>
                      <a:pPr algn="l"/>
                      <a:r>
                        <a:rPr sz="1100" b="0">
                          <a:solidFill>
                            <a:srgbClr val="101828"/>
                          </a:solidFill>
                          <a:latin typeface="Calibri"/>
                        </a:rPr>
                        <a:t>0.7</a:t>
                      </a:r>
                    </a:p>
                  </a:txBody>
                  <a:tcPr marL="45720" marR="45720" marT="18288" marB="18288">
                    <a:solidFill>
                      <a:srgbClr val="F2F4F7"/>
                    </a:solidFill>
                  </a:tcPr>
                </a:tc>
                <a:tc>
                  <a:txBody>
                    <a:bodyPr wrap="square"/>
                    <a:lstStyle/>
                    <a:p>
                      <a:pPr algn="l"/>
                      <a:r>
                        <a:rPr sz="1100" b="0">
                          <a:solidFill>
                            <a:srgbClr val="101828"/>
                          </a:solidFill>
                          <a:latin typeface="Calibri"/>
                        </a:rPr>
                        <a:t>6 (W5-W10)</a:t>
                      </a:r>
                    </a:p>
                  </a:txBody>
                  <a:tcPr marL="45720" marR="45720" marT="18288" marB="18288">
                    <a:solidFill>
                      <a:srgbClr val="F2F4F7"/>
                    </a:solidFill>
                  </a:tcPr>
                </a:tc>
                <a:tc>
                  <a:txBody>
                    <a:bodyPr wrap="square"/>
                    <a:lstStyle/>
                    <a:p>
                      <a:pPr algn="l"/>
                      <a:r>
                        <a:rPr sz="1100" b="0">
                          <a:solidFill>
                            <a:srgbClr val="101828"/>
                          </a:solidFill>
                          <a:latin typeface="Calibri"/>
                        </a:rPr>
                        <a:t>21</a:t>
                      </a:r>
                    </a:p>
                  </a:txBody>
                  <a:tcPr marL="45720" marR="45720" marT="18288" marB="18288">
                    <a:solidFill>
                      <a:srgbClr val="F2F4F7"/>
                    </a:solidFill>
                  </a:tcPr>
                </a:tc>
              </a:tr>
              <a:tr h="402336">
                <a:tc>
                  <a:txBody>
                    <a:bodyPr wrap="square"/>
                    <a:lstStyle/>
                    <a:p>
                      <a:pPr algn="l"/>
                      <a:r>
                        <a:rPr sz="1100" b="0">
                          <a:solidFill>
                            <a:srgbClr val="101828"/>
                          </a:solidFill>
                          <a:latin typeface="Calibri"/>
                        </a:rPr>
                        <a:t>7</a:t>
                      </a:r>
                    </a:p>
                  </a:txBody>
                  <a:tcPr marL="45720" marR="45720" marT="18288" marB="18288">
                    <a:solidFill>
                      <a:srgbClr val="FFFFFF"/>
                    </a:solidFill>
                  </a:tcPr>
                </a:tc>
                <a:tc>
                  <a:txBody>
                    <a:bodyPr wrap="square"/>
                    <a:lstStyle/>
                    <a:p>
                      <a:pPr algn="l"/>
                      <a:r>
                        <a:rPr sz="1100" b="0">
                          <a:solidFill>
                            <a:srgbClr val="101828"/>
                          </a:solidFill>
                          <a:latin typeface="Calibri"/>
                        </a:rPr>
                        <a:t>InfoSec Engineer</a:t>
                      </a:r>
                    </a:p>
                  </a:txBody>
                  <a:tcPr marL="45720" marR="45720" marT="18288" marB="18288">
                    <a:solidFill>
                      <a:srgbClr val="FFFFFF"/>
                    </a:solidFill>
                  </a:tcPr>
                </a:tc>
                <a:tc>
                  <a:txBody>
                    <a:bodyPr wrap="square"/>
                    <a:lstStyle/>
                    <a:p>
                      <a:pPr algn="l"/>
                      <a:r>
                        <a:rPr sz="1100" b="0">
                          <a:solidFill>
                            <a:srgbClr val="101828"/>
                          </a:solidFill>
                          <a:latin typeface="Calibri"/>
                        </a:rPr>
                        <a:t>1</a:t>
                      </a:r>
                    </a:p>
                  </a:txBody>
                  <a:tcPr marL="45720" marR="45720" marT="18288" marB="18288">
                    <a:solidFill>
                      <a:srgbClr val="FFFFFF"/>
                    </a:solidFill>
                  </a:tcPr>
                </a:tc>
                <a:tc>
                  <a:txBody>
                    <a:bodyPr wrap="square"/>
                    <a:lstStyle/>
                    <a:p>
                      <a:pPr algn="l"/>
                      <a:r>
                        <a:rPr sz="1100" b="0">
                          <a:solidFill>
                            <a:srgbClr val="101828"/>
                          </a:solidFill>
                          <a:latin typeface="Calibri"/>
                        </a:rPr>
                        <a:t>0.3</a:t>
                      </a:r>
                    </a:p>
                  </a:txBody>
                  <a:tcPr marL="45720" marR="45720" marT="18288" marB="18288">
                    <a:solidFill>
                      <a:srgbClr val="FFFFFF"/>
                    </a:solidFill>
                  </a:tcPr>
                </a:tc>
                <a:tc>
                  <a:txBody>
                    <a:bodyPr wrap="square"/>
                    <a:lstStyle/>
                    <a:p>
                      <a:pPr algn="l"/>
                      <a:r>
                        <a:rPr sz="1100" b="0">
                          <a:solidFill>
                            <a:srgbClr val="101828"/>
                          </a:solidFill>
                          <a:latin typeface="Calibri"/>
                        </a:rPr>
                        <a:t>8 (W3-W10)</a:t>
                      </a:r>
                    </a:p>
                  </a:txBody>
                  <a:tcPr marL="45720" marR="45720" marT="18288" marB="18288">
                    <a:solidFill>
                      <a:srgbClr val="FFFFFF"/>
                    </a:solidFill>
                  </a:tcPr>
                </a:tc>
                <a:tc>
                  <a:txBody>
                    <a:bodyPr wrap="square"/>
                    <a:lstStyle/>
                    <a:p>
                      <a:pPr algn="l"/>
                      <a:r>
                        <a:rPr sz="1100" b="0">
                          <a:solidFill>
                            <a:srgbClr val="101828"/>
                          </a:solidFill>
                          <a:latin typeface="Calibri"/>
                        </a:rPr>
                        <a:t>12</a:t>
                      </a:r>
                    </a:p>
                  </a:txBody>
                  <a:tcPr marL="45720" marR="45720" marT="18288" marB="18288">
                    <a:solidFill>
                      <a:srgbClr val="FFFFFF"/>
                    </a:solidFill>
                  </a:tcPr>
                </a:tc>
              </a:tr>
              <a:tr h="402336">
                <a:tc>
                  <a:txBody>
                    <a:bodyPr wrap="square"/>
                    <a:lstStyle/>
                    <a:p>
                      <a:pPr algn="l"/>
                      <a:r>
                        <a:rPr sz="1100" b="0">
                          <a:solidFill>
                            <a:srgbClr val="101828"/>
                          </a:solidFill>
                          <a:latin typeface="Calibri"/>
                        </a:rPr>
                        <a:t>8</a:t>
                      </a:r>
                    </a:p>
                  </a:txBody>
                  <a:tcPr marL="45720" marR="45720" marT="18288" marB="18288">
                    <a:solidFill>
                      <a:srgbClr val="F2F4F7"/>
                    </a:solidFill>
                  </a:tcPr>
                </a:tc>
                <a:tc>
                  <a:txBody>
                    <a:bodyPr wrap="square"/>
                    <a:lstStyle/>
                    <a:p>
                      <a:pPr algn="l"/>
                      <a:r>
                        <a:rPr sz="1100" b="0">
                          <a:solidFill>
                            <a:srgbClr val="101828"/>
                          </a:solidFill>
                          <a:latin typeface="Calibri"/>
                        </a:rPr>
                        <a:t>Change Manager / Comms</a:t>
                      </a:r>
                    </a:p>
                  </a:txBody>
                  <a:tcPr marL="45720" marR="45720" marT="18288" marB="18288">
                    <a:solidFill>
                      <a:srgbClr val="F2F4F7"/>
                    </a:solidFill>
                  </a:tcPr>
                </a:tc>
                <a:tc>
                  <a:txBody>
                    <a:bodyPr wrap="square"/>
                    <a:lstStyle/>
                    <a:p>
                      <a:pPr algn="l"/>
                      <a:r>
                        <a:rPr sz="1100" b="0">
                          <a:solidFill>
                            <a:srgbClr val="101828"/>
                          </a:solidFill>
                          <a:latin typeface="Calibri"/>
                        </a:rPr>
                        <a:t>1</a:t>
                      </a:r>
                    </a:p>
                  </a:txBody>
                  <a:tcPr marL="45720" marR="45720" marT="18288" marB="18288">
                    <a:solidFill>
                      <a:srgbClr val="F2F4F7"/>
                    </a:solidFill>
                  </a:tcPr>
                </a:tc>
                <a:tc>
                  <a:txBody>
                    <a:bodyPr wrap="square"/>
                    <a:lstStyle/>
                    <a:p>
                      <a:pPr algn="l"/>
                      <a:r>
                        <a:rPr sz="1100" b="0">
                          <a:solidFill>
                            <a:srgbClr val="101828"/>
                          </a:solidFill>
                          <a:latin typeface="Calibri"/>
                        </a:rPr>
                        <a:t>0.3</a:t>
                      </a:r>
                    </a:p>
                  </a:txBody>
                  <a:tcPr marL="45720" marR="45720" marT="18288" marB="18288">
                    <a:solidFill>
                      <a:srgbClr val="F2F4F7"/>
                    </a:solidFill>
                  </a:tcPr>
                </a:tc>
                <a:tc>
                  <a:txBody>
                    <a:bodyPr wrap="square"/>
                    <a:lstStyle/>
                    <a:p>
                      <a:pPr algn="l"/>
                      <a:r>
                        <a:rPr sz="1100" b="0">
                          <a:solidFill>
                            <a:srgbClr val="101828"/>
                          </a:solidFill>
                          <a:latin typeface="Calibri"/>
                        </a:rPr>
                        <a:t>10</a:t>
                      </a:r>
                    </a:p>
                  </a:txBody>
                  <a:tcPr marL="45720" marR="45720" marT="18288" marB="18288">
                    <a:solidFill>
                      <a:srgbClr val="F2F4F7"/>
                    </a:solidFill>
                  </a:tcPr>
                </a:tc>
                <a:tc>
                  <a:txBody>
                    <a:bodyPr wrap="square"/>
                    <a:lstStyle/>
                    <a:p>
                      <a:pPr algn="l"/>
                      <a:r>
                        <a:rPr sz="1100" b="0">
                          <a:solidFill>
                            <a:srgbClr val="101828"/>
                          </a:solidFill>
                          <a:latin typeface="Calibri"/>
                        </a:rPr>
                        <a:t>15</a:t>
                      </a:r>
                    </a:p>
                  </a:txBody>
                  <a:tcPr marL="45720" marR="45720" marT="18288" marB="18288">
                    <a:solidFill>
                      <a:srgbClr val="F2F4F7"/>
                    </a:solidFill>
                  </a:tcPr>
                </a:tc>
              </a:tr>
              <a:tr h="402336">
                <a:tc>
                  <a:txBody>
                    <a:bodyPr wrap="square"/>
                    <a:lstStyle/>
                    <a:p>
                      <a:pPr algn="l"/>
                    </a:p>
                  </a:txBody>
                  <a:tcPr marL="45720" marR="45720" marT="18288" marB="18288">
                    <a:solidFill>
                      <a:srgbClr val="FFFFFF"/>
                    </a:solidFill>
                  </a:tcPr>
                </a:tc>
                <a:tc>
                  <a:txBody>
                    <a:bodyPr wrap="square"/>
                    <a:lstStyle/>
                    <a:p>
                      <a:pPr algn="l"/>
                      <a:r>
                        <a:rPr sz="1100" b="0">
                          <a:solidFill>
                            <a:srgbClr val="101828"/>
                          </a:solidFill>
                          <a:latin typeface="Calibri"/>
                        </a:rPr>
                        <a:t>TOTAL</a:t>
                      </a:r>
                    </a:p>
                  </a:txBody>
                  <a:tcPr marL="45720" marR="45720" marT="18288" marB="18288">
                    <a:solidFill>
                      <a:srgbClr val="FFFFFF"/>
                    </a:solidFill>
                  </a:tcPr>
                </a:tc>
                <a:tc>
                  <a:txBody>
                    <a:bodyPr wrap="square"/>
                    <a:lstStyle/>
                    <a:p>
                      <a:pPr algn="l"/>
                      <a:r>
                        <a:rPr sz="1100" b="0">
                          <a:solidFill>
                            <a:srgbClr val="101828"/>
                          </a:solidFill>
                          <a:latin typeface="Calibri"/>
                        </a:rPr>
                        <a:t>8</a:t>
                      </a:r>
                    </a:p>
                  </a:txBody>
                  <a:tcPr marL="45720" marR="45720" marT="18288" marB="18288">
                    <a:solidFill>
                      <a:srgbClr val="FFFFFF"/>
                    </a:solidFill>
                  </a:tcPr>
                </a:tc>
                <a:tc>
                  <a:txBody>
                    <a:bodyPr wrap="square"/>
                    <a:lstStyle/>
                    <a:p>
                      <a:pPr algn="l"/>
                      <a:r>
                        <a:rPr sz="1100" b="0">
                          <a:solidFill>
                            <a:srgbClr val="101828"/>
                          </a:solidFill>
                          <a:latin typeface="Calibri"/>
                        </a:rPr>
                        <a:t>5.3 peak</a:t>
                      </a:r>
                    </a:p>
                  </a:txBody>
                  <a:tcPr marL="45720" marR="45720" marT="18288" marB="18288">
                    <a:solidFill>
                      <a:srgbClr val="FFFFFF"/>
                    </a:solidFill>
                  </a:tcPr>
                </a:tc>
                <a:tc>
                  <a:txBody>
                    <a:bodyPr wrap="square"/>
                    <a:lstStyle/>
                    <a:p>
                      <a:pPr algn="l"/>
                    </a:p>
                  </a:txBody>
                  <a:tcPr marL="45720" marR="45720" marT="18288" marB="18288">
                    <a:solidFill>
                      <a:srgbClr val="FFFFFF"/>
                    </a:solidFill>
                  </a:tcPr>
                </a:tc>
                <a:tc>
                  <a:txBody>
                    <a:bodyPr wrap="square"/>
                    <a:lstStyle/>
                    <a:p>
                      <a:pPr algn="l"/>
                      <a:r>
                        <a:rPr sz="1100" b="0">
                          <a:solidFill>
                            <a:srgbClr val="101828"/>
                          </a:solidFill>
                          <a:latin typeface="Calibri"/>
                        </a:rPr>
                        <a:t>217 capacity / 150 effort</a:t>
                      </a:r>
                    </a:p>
                  </a:txBody>
                  <a:tcPr marL="45720" marR="45720" marT="18288" marB="18288">
                    <a:solidFill>
                      <a:srgbClr val="FFFFFF"/>
                    </a:solidFill>
                  </a:tcPr>
                </a:tc>
              </a:tr>
            </a:tbl>
          </a:graphicData>
        </a:graphic>
      </p:graphicFrame>
      <p:sp>
        <p:nvSpPr>
          <p:cNvPr id="8" name="Rectangle 7"/>
          <p:cNvSpPr/>
          <p:nvPr/>
        </p:nvSpPr>
        <p:spPr>
          <a:xfrm>
            <a:off x="8412480" y="1051560"/>
            <a:ext cx="3383280" cy="40233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12480" y="1051560"/>
            <a:ext cx="3383280" cy="41148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051560"/>
            <a:ext cx="3383280" cy="411480"/>
          </a:xfrm>
          <a:prstGeom prst="rect">
            <a:avLst/>
          </a:prstGeom>
          <a:noFill/>
        </p:spPr>
        <p:txBody>
          <a:bodyPr wrap="square" lIns="45720" rIns="45720" tIns="18288" bIns="18288" anchor="ctr">
            <a:spAutoFit/>
          </a:bodyPr>
          <a:lstStyle/>
          <a:p>
            <a:pPr algn="ctr"/>
            <a:r>
              <a:rPr sz="1200" b="1">
                <a:solidFill>
                  <a:srgbClr val="FFFFFF"/>
                </a:solidFill>
                <a:latin typeface="Calibri"/>
              </a:rPr>
              <a:t>Capacity vs Effort</a:t>
            </a:r>
          </a:p>
        </p:txBody>
      </p:sp>
      <p:sp>
        <p:nvSpPr>
          <p:cNvPr id="11" name="TextBox 10"/>
          <p:cNvSpPr txBox="1"/>
          <p:nvPr/>
        </p:nvSpPr>
        <p:spPr>
          <a:xfrm>
            <a:off x="8549640" y="1554480"/>
            <a:ext cx="3200400" cy="3383280"/>
          </a:xfrm>
          <a:prstGeom prst="rect">
            <a:avLst/>
          </a:prstGeom>
          <a:noFill/>
        </p:spPr>
        <p:txBody>
          <a:bodyPr wrap="square" lIns="45720" rIns="45720" tIns="18288" bIns="18288" anchor="t">
            <a:spAutoFit/>
          </a:bodyPr>
          <a:lstStyle/>
          <a:p>
            <a:pPr algn="l"/>
            <a:r>
              <a:rPr sz="1100" b="0">
                <a:solidFill>
                  <a:srgbClr val="101828"/>
                </a:solidFill>
                <a:latin typeface="Calibri"/>
              </a:rPr>
              <a:t>150 p-days = billable</a:t>
            </a:r>
          </a:p>
          <a:p>
            <a:pPr algn="l"/>
            <a:r>
              <a:rPr sz="1100" b="0">
                <a:solidFill>
                  <a:srgbClr val="101828"/>
                </a:solidFill>
                <a:latin typeface="Calibri"/>
              </a:rPr>
              <a:t>value-added effort.</a:t>
            </a:r>
          </a:p>
          <a:p>
            <a:pPr algn="l"/>
            <a:r>
              <a:rPr sz="1100" b="0">
                <a:solidFill>
                  <a:srgbClr val="101828"/>
                </a:solidFill>
                <a:latin typeface="Calibri"/>
              </a:rPr>
              <a:t/>
            </a:r>
          </a:p>
          <a:p>
            <a:pPr algn="l"/>
            <a:r>
              <a:rPr sz="1100" b="0">
                <a:solidFill>
                  <a:srgbClr val="101828"/>
                </a:solidFill>
                <a:latin typeface="Calibri"/>
              </a:rPr>
              <a:t>217 p-days = nominal team</a:t>
            </a:r>
          </a:p>
          <a:p>
            <a:pPr algn="l"/>
            <a:r>
              <a:rPr sz="1100" b="0">
                <a:solidFill>
                  <a:srgbClr val="101828"/>
                </a:solidFill>
                <a:latin typeface="Calibri"/>
              </a:rPr>
              <a:t>capacity (8 ppl x weeks x FTE).</a:t>
            </a:r>
          </a:p>
          <a:p>
            <a:pPr algn="l"/>
            <a:r>
              <a:rPr sz="1100" b="0">
                <a:solidFill>
                  <a:srgbClr val="101828"/>
                </a:solidFill>
                <a:latin typeface="Calibri"/>
              </a:rPr>
              <a:t/>
            </a:r>
          </a:p>
          <a:p>
            <a:pPr algn="l"/>
            <a:r>
              <a:rPr sz="1100" b="0">
                <a:solidFill>
                  <a:srgbClr val="101828"/>
                </a:solidFill>
                <a:latin typeface="Calibri"/>
              </a:rPr>
              <a:t>Gap = ~67 p-days of</a:t>
            </a:r>
          </a:p>
          <a:p>
            <a:pPr algn="l"/>
            <a:r>
              <a:rPr sz="1100" b="0">
                <a:solidFill>
                  <a:srgbClr val="101828"/>
                </a:solidFill>
                <a:latin typeface="Calibri"/>
              </a:rPr>
              <a:t>realistic slack: meetings,</a:t>
            </a:r>
          </a:p>
          <a:p>
            <a:pPr algn="l"/>
            <a:r>
              <a:rPr sz="1100" b="0">
                <a:solidFill>
                  <a:srgbClr val="101828"/>
                </a:solidFill>
                <a:latin typeface="Calibri"/>
              </a:rPr>
              <a:t>handovers, waiting on deps,</a:t>
            </a:r>
          </a:p>
          <a:p>
            <a:pPr algn="l"/>
            <a:r>
              <a:rPr sz="1100" b="0">
                <a:solidFill>
                  <a:srgbClr val="101828"/>
                </a:solidFill>
                <a:latin typeface="Calibri"/>
              </a:rPr>
              <a:t>hypercare standby.</a:t>
            </a:r>
          </a:p>
          <a:p>
            <a:pPr algn="l"/>
            <a:r>
              <a:rPr sz="1100" b="0">
                <a:solidFill>
                  <a:srgbClr val="101828"/>
                </a:solidFill>
                <a:latin typeface="Calibri"/>
              </a:rPr>
              <a:t/>
            </a:r>
          </a:p>
          <a:p>
            <a:pPr algn="l"/>
            <a:r>
              <a:rPr sz="1100" b="0">
                <a:solidFill>
                  <a:srgbClr val="101828"/>
                </a:solidFill>
                <a:latin typeface="Calibri"/>
              </a:rPr>
              <a:t>Implies ~65-70% utilisation,</a:t>
            </a:r>
          </a:p>
          <a:p>
            <a:pPr algn="l"/>
            <a:r>
              <a:rPr sz="1100" b="0">
                <a:solidFill>
                  <a:srgbClr val="101828"/>
                </a:solidFill>
                <a:latin typeface="Calibri"/>
              </a:rPr>
              <a:t>which is normal for change-</a:t>
            </a:r>
          </a:p>
          <a:p>
            <a:pPr algn="l"/>
            <a:r>
              <a:rPr sz="1100" b="0">
                <a:solidFill>
                  <a:srgbClr val="101828"/>
                </a:solidFill>
                <a:latin typeface="Calibri"/>
              </a:rPr>
              <a:t>heavy programs.</a:t>
            </a:r>
          </a:p>
        </p:txBody>
      </p:sp>
      <p:sp>
        <p:nvSpPr>
          <p:cNvPr id="12" name="Rectangle 11"/>
          <p:cNvSpPr/>
          <p:nvPr/>
        </p:nvSpPr>
        <p:spPr>
          <a:xfrm>
            <a:off x="365760" y="5257800"/>
            <a:ext cx="11430000"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303520"/>
            <a:ext cx="11155680" cy="274320"/>
          </a:xfrm>
          <a:prstGeom prst="rect">
            <a:avLst/>
          </a:prstGeom>
          <a:noFill/>
        </p:spPr>
        <p:txBody>
          <a:bodyPr wrap="square" lIns="45720" rIns="45720" tIns="18288" bIns="18288" anchor="t">
            <a:spAutoFit/>
          </a:bodyPr>
          <a:lstStyle/>
          <a:p>
            <a:pPr algn="l"/>
            <a:r>
              <a:rPr sz="1200" b="1">
                <a:solidFill>
                  <a:srgbClr val="1F4D42"/>
                </a:solidFill>
                <a:latin typeface="Calibri"/>
              </a:rPr>
              <a:t>Available on-demand (NOT on delivery headcount)</a:t>
            </a:r>
          </a:p>
        </p:txBody>
      </p:sp>
      <p:sp>
        <p:nvSpPr>
          <p:cNvPr id="14" name="TextBox 13"/>
          <p:cNvSpPr txBox="1"/>
          <p:nvPr/>
        </p:nvSpPr>
        <p:spPr>
          <a:xfrm>
            <a:off x="502920" y="5577840"/>
            <a:ext cx="11155680" cy="822960"/>
          </a:xfrm>
          <a:prstGeom prst="rect">
            <a:avLst/>
          </a:prstGeom>
          <a:noFill/>
        </p:spPr>
        <p:txBody>
          <a:bodyPr wrap="square" lIns="45720" rIns="45720" tIns="18288" bIns="18288" anchor="t">
            <a:spAutoFit/>
          </a:bodyPr>
          <a:lstStyle/>
          <a:p>
            <a:pPr algn="l"/>
            <a:r>
              <a:rPr sz="1100" b="0">
                <a:solidFill>
                  <a:srgbClr val="101828"/>
                </a:solidFill>
                <a:latin typeface="Calibri"/>
              </a:rPr>
              <a:t>- Sponsor (steering chair)   - MoJ ADO Project Collection Admins   - Repo Owners (~100, smoke-test sign-off)</a:t>
            </a:r>
          </a:p>
          <a:p>
            <a:pPr algn="l"/>
            <a:r>
              <a:rPr sz="1100" b="0">
                <a:solidFill>
                  <a:srgbClr val="101828"/>
                </a:solidFill>
                <a:latin typeface="Calibri"/>
              </a:rPr>
              <a:t>- Application SMEs / process owners   - Procurement / Licensing   - IT Ops (CMDB updates at archive)</a:t>
            </a:r>
          </a:p>
        </p:txBody>
      </p:sp>
      <p:sp>
        <p:nvSpPr>
          <p:cNvPr id="15" name="TextBox 14"/>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16" name="TextBox 15"/>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Resource Heatmap</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Effort intensity by role across the five stages</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68880" y="1280160"/>
            <a:ext cx="1737360" cy="45720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0" y="1280160"/>
            <a:ext cx="1737360" cy="457200"/>
          </a:xfrm>
          <a:prstGeom prst="rect">
            <a:avLst/>
          </a:prstGeom>
          <a:noFill/>
        </p:spPr>
        <p:txBody>
          <a:bodyPr wrap="square" lIns="45720" rIns="45720" tIns="18288" bIns="18288" anchor="ctr">
            <a:spAutoFit/>
          </a:bodyPr>
          <a:lstStyle/>
          <a:p>
            <a:pPr algn="ctr"/>
            <a:r>
              <a:rPr sz="1100" b="1">
                <a:solidFill>
                  <a:srgbClr val="FFFFFF"/>
                </a:solidFill>
                <a:latin typeface="Calibri"/>
              </a:rPr>
              <a:t>S0 Mobilise</a:t>
            </a:r>
          </a:p>
        </p:txBody>
      </p:sp>
      <p:sp>
        <p:nvSpPr>
          <p:cNvPr id="9" name="Rectangle 8"/>
          <p:cNvSpPr/>
          <p:nvPr/>
        </p:nvSpPr>
        <p:spPr>
          <a:xfrm>
            <a:off x="4206240" y="1280160"/>
            <a:ext cx="1737360" cy="45720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1280160"/>
            <a:ext cx="1737360" cy="457200"/>
          </a:xfrm>
          <a:prstGeom prst="rect">
            <a:avLst/>
          </a:prstGeom>
          <a:noFill/>
        </p:spPr>
        <p:txBody>
          <a:bodyPr wrap="square" lIns="45720" rIns="45720" tIns="18288" bIns="18288" anchor="ctr">
            <a:spAutoFit/>
          </a:bodyPr>
          <a:lstStyle/>
          <a:p>
            <a:pPr algn="ctr"/>
            <a:r>
              <a:rPr sz="1100" b="1">
                <a:solidFill>
                  <a:srgbClr val="FFFFFF"/>
                </a:solidFill>
                <a:latin typeface="Calibri"/>
              </a:rPr>
              <a:t>S1 Foundation</a:t>
            </a:r>
          </a:p>
        </p:txBody>
      </p:sp>
      <p:sp>
        <p:nvSpPr>
          <p:cNvPr id="11" name="Rectangle 10"/>
          <p:cNvSpPr/>
          <p:nvPr/>
        </p:nvSpPr>
        <p:spPr>
          <a:xfrm>
            <a:off x="5943600" y="1280160"/>
            <a:ext cx="1737360" cy="45720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0" y="1280160"/>
            <a:ext cx="1737360" cy="457200"/>
          </a:xfrm>
          <a:prstGeom prst="rect">
            <a:avLst/>
          </a:prstGeom>
          <a:noFill/>
        </p:spPr>
        <p:txBody>
          <a:bodyPr wrap="square" lIns="45720" rIns="45720" tIns="18288" bIns="18288" anchor="ctr">
            <a:spAutoFit/>
          </a:bodyPr>
          <a:lstStyle/>
          <a:p>
            <a:pPr algn="ctr"/>
            <a:r>
              <a:rPr sz="1100" b="1">
                <a:solidFill>
                  <a:srgbClr val="FFFFFF"/>
                </a:solidFill>
                <a:latin typeface="Calibri"/>
              </a:rPr>
              <a:t>S2 Pilot</a:t>
            </a:r>
          </a:p>
        </p:txBody>
      </p:sp>
      <p:sp>
        <p:nvSpPr>
          <p:cNvPr id="13" name="Rectangle 12"/>
          <p:cNvSpPr/>
          <p:nvPr/>
        </p:nvSpPr>
        <p:spPr>
          <a:xfrm>
            <a:off x="7680960" y="1280160"/>
            <a:ext cx="1737360" cy="45720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0" y="1280160"/>
            <a:ext cx="1737360" cy="457200"/>
          </a:xfrm>
          <a:prstGeom prst="rect">
            <a:avLst/>
          </a:prstGeom>
          <a:noFill/>
        </p:spPr>
        <p:txBody>
          <a:bodyPr wrap="square" lIns="45720" rIns="45720" tIns="18288" bIns="18288" anchor="ctr">
            <a:spAutoFit/>
          </a:bodyPr>
          <a:lstStyle/>
          <a:p>
            <a:pPr algn="ctr"/>
            <a:r>
              <a:rPr sz="1100" b="1">
                <a:solidFill>
                  <a:srgbClr val="FFFFFF"/>
                </a:solidFill>
                <a:latin typeface="Calibri"/>
              </a:rPr>
              <a:t>S3 Waves</a:t>
            </a:r>
          </a:p>
        </p:txBody>
      </p:sp>
      <p:sp>
        <p:nvSpPr>
          <p:cNvPr id="15" name="Rectangle 14"/>
          <p:cNvSpPr/>
          <p:nvPr/>
        </p:nvSpPr>
        <p:spPr>
          <a:xfrm>
            <a:off x="9418320" y="1280160"/>
            <a:ext cx="1737360" cy="45720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0" y="1280160"/>
            <a:ext cx="1737360" cy="457200"/>
          </a:xfrm>
          <a:prstGeom prst="rect">
            <a:avLst/>
          </a:prstGeom>
          <a:noFill/>
        </p:spPr>
        <p:txBody>
          <a:bodyPr wrap="square" lIns="45720" rIns="45720" tIns="18288" bIns="18288" anchor="ctr">
            <a:spAutoFit/>
          </a:bodyPr>
          <a:lstStyle/>
          <a:p>
            <a:pPr algn="ctr"/>
            <a:r>
              <a:rPr sz="1100" b="1">
                <a:solidFill>
                  <a:srgbClr val="FFFFFF"/>
                </a:solidFill>
                <a:latin typeface="Calibri"/>
              </a:rPr>
              <a:t>S4 Close</a:t>
            </a:r>
          </a:p>
        </p:txBody>
      </p:sp>
      <p:sp>
        <p:nvSpPr>
          <p:cNvPr id="17" name="Rectangle 16"/>
          <p:cNvSpPr/>
          <p:nvPr/>
        </p:nvSpPr>
        <p:spPr>
          <a:xfrm>
            <a:off x="365760" y="1737360"/>
            <a:ext cx="210312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1737360"/>
            <a:ext cx="2057400" cy="502920"/>
          </a:xfrm>
          <a:prstGeom prst="rect">
            <a:avLst/>
          </a:prstGeom>
          <a:noFill/>
        </p:spPr>
        <p:txBody>
          <a:bodyPr wrap="square" lIns="45720" rIns="45720" tIns="18288" bIns="18288" anchor="ctr">
            <a:spAutoFit/>
          </a:bodyPr>
          <a:lstStyle/>
          <a:p>
            <a:pPr algn="l"/>
            <a:r>
              <a:rPr sz="1100" b="1">
                <a:solidFill>
                  <a:srgbClr val="1F4D42"/>
                </a:solidFill>
                <a:latin typeface="Calibri"/>
              </a:rPr>
              <a:t>Program Manager</a:t>
            </a:r>
          </a:p>
        </p:txBody>
      </p:sp>
      <p:sp>
        <p:nvSpPr>
          <p:cNvPr id="19" name="Rectangle 18"/>
          <p:cNvSpPr/>
          <p:nvPr/>
        </p:nvSpPr>
        <p:spPr>
          <a:xfrm>
            <a:off x="2468880" y="1737360"/>
            <a:ext cx="1737360" cy="502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68880" y="173736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Normal</a:t>
            </a:r>
          </a:p>
        </p:txBody>
      </p:sp>
      <p:sp>
        <p:nvSpPr>
          <p:cNvPr id="21" name="Rectangle 20"/>
          <p:cNvSpPr/>
          <p:nvPr/>
        </p:nvSpPr>
        <p:spPr>
          <a:xfrm>
            <a:off x="4206240" y="1737360"/>
            <a:ext cx="1737360" cy="502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06240" y="173736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Normal</a:t>
            </a:r>
          </a:p>
        </p:txBody>
      </p:sp>
      <p:sp>
        <p:nvSpPr>
          <p:cNvPr id="23" name="Rectangle 22"/>
          <p:cNvSpPr/>
          <p:nvPr/>
        </p:nvSpPr>
        <p:spPr>
          <a:xfrm>
            <a:off x="5943600" y="1737360"/>
            <a:ext cx="1737360" cy="502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0" y="173736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Normal</a:t>
            </a:r>
          </a:p>
        </p:txBody>
      </p:sp>
      <p:sp>
        <p:nvSpPr>
          <p:cNvPr id="25" name="Rectangle 24"/>
          <p:cNvSpPr/>
          <p:nvPr/>
        </p:nvSpPr>
        <p:spPr>
          <a:xfrm>
            <a:off x="7680960" y="1737360"/>
            <a:ext cx="1737360" cy="502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0" y="173736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Normal</a:t>
            </a:r>
          </a:p>
        </p:txBody>
      </p:sp>
      <p:sp>
        <p:nvSpPr>
          <p:cNvPr id="27" name="Rectangle 26"/>
          <p:cNvSpPr/>
          <p:nvPr/>
        </p:nvSpPr>
        <p:spPr>
          <a:xfrm>
            <a:off x="9418320" y="1737360"/>
            <a:ext cx="1737360" cy="502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18320" y="173736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Normal</a:t>
            </a:r>
          </a:p>
        </p:txBody>
      </p:sp>
      <p:sp>
        <p:nvSpPr>
          <p:cNvPr id="29" name="Rectangle 28"/>
          <p:cNvSpPr/>
          <p:nvPr/>
        </p:nvSpPr>
        <p:spPr>
          <a:xfrm>
            <a:off x="365760" y="2240280"/>
            <a:ext cx="210312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240280"/>
            <a:ext cx="2057400" cy="502920"/>
          </a:xfrm>
          <a:prstGeom prst="rect">
            <a:avLst/>
          </a:prstGeom>
          <a:noFill/>
        </p:spPr>
        <p:txBody>
          <a:bodyPr wrap="square" lIns="45720" rIns="45720" tIns="18288" bIns="18288" anchor="ctr">
            <a:spAutoFit/>
          </a:bodyPr>
          <a:lstStyle/>
          <a:p>
            <a:pPr algn="l"/>
            <a:r>
              <a:rPr sz="1100" b="1">
                <a:solidFill>
                  <a:srgbClr val="1F4D42"/>
                </a:solidFill>
                <a:latin typeface="Calibri"/>
              </a:rPr>
              <a:t>Tech Lead / Architect</a:t>
            </a:r>
          </a:p>
        </p:txBody>
      </p:sp>
      <p:sp>
        <p:nvSpPr>
          <p:cNvPr id="31" name="Rectangle 30"/>
          <p:cNvSpPr/>
          <p:nvPr/>
        </p:nvSpPr>
        <p:spPr>
          <a:xfrm>
            <a:off x="2468880" y="2240280"/>
            <a:ext cx="1737360" cy="502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68880" y="224028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Normal</a:t>
            </a:r>
          </a:p>
        </p:txBody>
      </p:sp>
      <p:sp>
        <p:nvSpPr>
          <p:cNvPr id="33" name="Rectangle 32"/>
          <p:cNvSpPr/>
          <p:nvPr/>
        </p:nvSpPr>
        <p:spPr>
          <a:xfrm>
            <a:off x="4206240" y="2240280"/>
            <a:ext cx="1737360" cy="502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06240" y="224028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Normal</a:t>
            </a:r>
          </a:p>
        </p:txBody>
      </p:sp>
      <p:sp>
        <p:nvSpPr>
          <p:cNvPr id="35" name="Rectangle 34"/>
          <p:cNvSpPr/>
          <p:nvPr/>
        </p:nvSpPr>
        <p:spPr>
          <a:xfrm>
            <a:off x="5943600" y="2240280"/>
            <a:ext cx="1737360" cy="502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0" y="224028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Normal</a:t>
            </a:r>
          </a:p>
        </p:txBody>
      </p:sp>
      <p:sp>
        <p:nvSpPr>
          <p:cNvPr id="37" name="Rectangle 36"/>
          <p:cNvSpPr/>
          <p:nvPr/>
        </p:nvSpPr>
        <p:spPr>
          <a:xfrm>
            <a:off x="7680960" y="2240280"/>
            <a:ext cx="1737360" cy="502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0" y="224028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Normal</a:t>
            </a:r>
          </a:p>
        </p:txBody>
      </p:sp>
      <p:sp>
        <p:nvSpPr>
          <p:cNvPr id="39" name="Rectangle 38"/>
          <p:cNvSpPr/>
          <p:nvPr/>
        </p:nvSpPr>
        <p:spPr>
          <a:xfrm>
            <a:off x="9418320" y="2240280"/>
            <a:ext cx="1737360" cy="50292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18320" y="224028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Light</a:t>
            </a:r>
          </a:p>
        </p:txBody>
      </p:sp>
      <p:sp>
        <p:nvSpPr>
          <p:cNvPr id="41" name="Rectangle 40"/>
          <p:cNvSpPr/>
          <p:nvPr/>
        </p:nvSpPr>
        <p:spPr>
          <a:xfrm>
            <a:off x="365760" y="2743200"/>
            <a:ext cx="210312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2743200"/>
            <a:ext cx="2057400" cy="502920"/>
          </a:xfrm>
          <a:prstGeom prst="rect">
            <a:avLst/>
          </a:prstGeom>
          <a:noFill/>
        </p:spPr>
        <p:txBody>
          <a:bodyPr wrap="square" lIns="45720" rIns="45720" tIns="18288" bIns="18288" anchor="ctr">
            <a:spAutoFit/>
          </a:bodyPr>
          <a:lstStyle/>
          <a:p>
            <a:pPr algn="l"/>
            <a:r>
              <a:rPr sz="1100" b="1">
                <a:solidFill>
                  <a:srgbClr val="1F4D42"/>
                </a:solidFill>
                <a:latin typeface="Calibri"/>
              </a:rPr>
              <a:t>IAM Engineer</a:t>
            </a:r>
          </a:p>
        </p:txBody>
      </p:sp>
      <p:sp>
        <p:nvSpPr>
          <p:cNvPr id="43" name="Rectangle 42"/>
          <p:cNvSpPr/>
          <p:nvPr/>
        </p:nvSpPr>
        <p:spPr>
          <a:xfrm>
            <a:off x="2468880" y="2743200"/>
            <a:ext cx="1737360" cy="50292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468880" y="274320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Light</a:t>
            </a:r>
          </a:p>
        </p:txBody>
      </p:sp>
      <p:sp>
        <p:nvSpPr>
          <p:cNvPr id="45" name="Rectangle 44"/>
          <p:cNvSpPr/>
          <p:nvPr/>
        </p:nvSpPr>
        <p:spPr>
          <a:xfrm>
            <a:off x="4206240" y="2743200"/>
            <a:ext cx="1737360" cy="50292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206240" y="274320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Peak</a:t>
            </a:r>
          </a:p>
        </p:txBody>
      </p:sp>
      <p:sp>
        <p:nvSpPr>
          <p:cNvPr id="47" name="Rectangle 46"/>
          <p:cNvSpPr/>
          <p:nvPr/>
        </p:nvSpPr>
        <p:spPr>
          <a:xfrm>
            <a:off x="5943600" y="2743200"/>
            <a:ext cx="1737360" cy="50292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0" y="274320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Light</a:t>
            </a:r>
          </a:p>
        </p:txBody>
      </p:sp>
      <p:sp>
        <p:nvSpPr>
          <p:cNvPr id="49" name="Rectangle 48"/>
          <p:cNvSpPr/>
          <p:nvPr/>
        </p:nvSpPr>
        <p:spPr>
          <a:xfrm>
            <a:off x="7680960" y="2743200"/>
            <a:ext cx="1737360" cy="50292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0960" y="274320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Light</a:t>
            </a:r>
          </a:p>
        </p:txBody>
      </p:sp>
      <p:sp>
        <p:nvSpPr>
          <p:cNvPr id="51" name="Rectangle 50"/>
          <p:cNvSpPr/>
          <p:nvPr/>
        </p:nvSpPr>
        <p:spPr>
          <a:xfrm>
            <a:off x="9418320" y="2743200"/>
            <a:ext cx="1737360" cy="502920"/>
          </a:xfrm>
          <a:prstGeom prst="rect">
            <a:avLst/>
          </a:prstGeom>
          <a:solidFill>
            <a:srgbClr val="CB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418320" y="274320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Off</a:t>
            </a:r>
          </a:p>
        </p:txBody>
      </p:sp>
      <p:sp>
        <p:nvSpPr>
          <p:cNvPr id="53" name="Rectangle 52"/>
          <p:cNvSpPr/>
          <p:nvPr/>
        </p:nvSpPr>
        <p:spPr>
          <a:xfrm>
            <a:off x="365760" y="3246120"/>
            <a:ext cx="210312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80" y="3246120"/>
            <a:ext cx="2057400" cy="502920"/>
          </a:xfrm>
          <a:prstGeom prst="rect">
            <a:avLst/>
          </a:prstGeom>
          <a:noFill/>
        </p:spPr>
        <p:txBody>
          <a:bodyPr wrap="square" lIns="45720" rIns="45720" tIns="18288" bIns="18288" anchor="ctr">
            <a:spAutoFit/>
          </a:bodyPr>
          <a:lstStyle/>
          <a:p>
            <a:pPr algn="l"/>
            <a:r>
              <a:rPr sz="1100" b="1">
                <a:solidFill>
                  <a:srgbClr val="1F4D42"/>
                </a:solidFill>
                <a:latin typeface="Calibri"/>
              </a:rPr>
              <a:t>Platform Eng x2</a:t>
            </a:r>
          </a:p>
        </p:txBody>
      </p:sp>
      <p:sp>
        <p:nvSpPr>
          <p:cNvPr id="55" name="Rectangle 54"/>
          <p:cNvSpPr/>
          <p:nvPr/>
        </p:nvSpPr>
        <p:spPr>
          <a:xfrm>
            <a:off x="2468880" y="3246120"/>
            <a:ext cx="1737360" cy="50292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468880" y="324612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Light</a:t>
            </a:r>
          </a:p>
        </p:txBody>
      </p:sp>
      <p:sp>
        <p:nvSpPr>
          <p:cNvPr id="57" name="Rectangle 56"/>
          <p:cNvSpPr/>
          <p:nvPr/>
        </p:nvSpPr>
        <p:spPr>
          <a:xfrm>
            <a:off x="4206240" y="3246120"/>
            <a:ext cx="1737360" cy="502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206240" y="324612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Normal</a:t>
            </a:r>
          </a:p>
        </p:txBody>
      </p:sp>
      <p:sp>
        <p:nvSpPr>
          <p:cNvPr id="59" name="Rectangle 58"/>
          <p:cNvSpPr/>
          <p:nvPr/>
        </p:nvSpPr>
        <p:spPr>
          <a:xfrm>
            <a:off x="5943600" y="3246120"/>
            <a:ext cx="1737360" cy="50292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943600" y="324612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Peak</a:t>
            </a:r>
          </a:p>
        </p:txBody>
      </p:sp>
      <p:sp>
        <p:nvSpPr>
          <p:cNvPr id="61" name="Rectangle 60"/>
          <p:cNvSpPr/>
          <p:nvPr/>
        </p:nvSpPr>
        <p:spPr>
          <a:xfrm>
            <a:off x="7680960" y="3246120"/>
            <a:ext cx="1737360" cy="50292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680960" y="324612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Peak</a:t>
            </a:r>
          </a:p>
        </p:txBody>
      </p:sp>
      <p:sp>
        <p:nvSpPr>
          <p:cNvPr id="63" name="Rectangle 62"/>
          <p:cNvSpPr/>
          <p:nvPr/>
        </p:nvSpPr>
        <p:spPr>
          <a:xfrm>
            <a:off x="9418320" y="3246120"/>
            <a:ext cx="1737360" cy="50292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418320" y="324612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Light</a:t>
            </a:r>
          </a:p>
        </p:txBody>
      </p:sp>
      <p:sp>
        <p:nvSpPr>
          <p:cNvPr id="65" name="Rectangle 64"/>
          <p:cNvSpPr/>
          <p:nvPr/>
        </p:nvSpPr>
        <p:spPr>
          <a:xfrm>
            <a:off x="365760" y="3749040"/>
            <a:ext cx="210312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11480" y="3749040"/>
            <a:ext cx="2057400" cy="502920"/>
          </a:xfrm>
          <a:prstGeom prst="rect">
            <a:avLst/>
          </a:prstGeom>
          <a:noFill/>
        </p:spPr>
        <p:txBody>
          <a:bodyPr wrap="square" lIns="45720" rIns="45720" tIns="18288" bIns="18288" anchor="ctr">
            <a:spAutoFit/>
          </a:bodyPr>
          <a:lstStyle/>
          <a:p>
            <a:pPr algn="l"/>
            <a:r>
              <a:rPr sz="1100" b="1">
                <a:solidFill>
                  <a:srgbClr val="1F4D42"/>
                </a:solidFill>
                <a:latin typeface="Calibri"/>
              </a:rPr>
              <a:t>DevEx Engineer</a:t>
            </a:r>
          </a:p>
        </p:txBody>
      </p:sp>
      <p:sp>
        <p:nvSpPr>
          <p:cNvPr id="67" name="Rectangle 66"/>
          <p:cNvSpPr/>
          <p:nvPr/>
        </p:nvSpPr>
        <p:spPr>
          <a:xfrm>
            <a:off x="2468880" y="3749040"/>
            <a:ext cx="1737360" cy="502920"/>
          </a:xfrm>
          <a:prstGeom prst="rect">
            <a:avLst/>
          </a:prstGeom>
          <a:solidFill>
            <a:srgbClr val="CB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468880" y="374904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Off</a:t>
            </a:r>
          </a:p>
        </p:txBody>
      </p:sp>
      <p:sp>
        <p:nvSpPr>
          <p:cNvPr id="69" name="Rectangle 68"/>
          <p:cNvSpPr/>
          <p:nvPr/>
        </p:nvSpPr>
        <p:spPr>
          <a:xfrm>
            <a:off x="4206240" y="3749040"/>
            <a:ext cx="1737360" cy="50292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206240" y="374904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Light</a:t>
            </a:r>
          </a:p>
        </p:txBody>
      </p:sp>
      <p:sp>
        <p:nvSpPr>
          <p:cNvPr id="71" name="Rectangle 70"/>
          <p:cNvSpPr/>
          <p:nvPr/>
        </p:nvSpPr>
        <p:spPr>
          <a:xfrm>
            <a:off x="5943600" y="3749040"/>
            <a:ext cx="1737360" cy="50292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943600" y="374904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Peak</a:t>
            </a:r>
          </a:p>
        </p:txBody>
      </p:sp>
      <p:sp>
        <p:nvSpPr>
          <p:cNvPr id="73" name="Rectangle 72"/>
          <p:cNvSpPr/>
          <p:nvPr/>
        </p:nvSpPr>
        <p:spPr>
          <a:xfrm>
            <a:off x="7680960" y="3749040"/>
            <a:ext cx="1737360" cy="50292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680960" y="374904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Peak</a:t>
            </a:r>
          </a:p>
        </p:txBody>
      </p:sp>
      <p:sp>
        <p:nvSpPr>
          <p:cNvPr id="75" name="Rectangle 74"/>
          <p:cNvSpPr/>
          <p:nvPr/>
        </p:nvSpPr>
        <p:spPr>
          <a:xfrm>
            <a:off x="9418320" y="3749040"/>
            <a:ext cx="1737360" cy="50292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418320" y="374904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Light</a:t>
            </a:r>
          </a:p>
        </p:txBody>
      </p:sp>
      <p:sp>
        <p:nvSpPr>
          <p:cNvPr id="77" name="Rectangle 76"/>
          <p:cNvSpPr/>
          <p:nvPr/>
        </p:nvSpPr>
        <p:spPr>
          <a:xfrm>
            <a:off x="365760" y="4251960"/>
            <a:ext cx="210312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11480" y="4251960"/>
            <a:ext cx="2057400" cy="502920"/>
          </a:xfrm>
          <a:prstGeom prst="rect">
            <a:avLst/>
          </a:prstGeom>
          <a:noFill/>
        </p:spPr>
        <p:txBody>
          <a:bodyPr wrap="square" lIns="45720" rIns="45720" tIns="18288" bIns="18288" anchor="ctr">
            <a:spAutoFit/>
          </a:bodyPr>
          <a:lstStyle/>
          <a:p>
            <a:pPr algn="l"/>
            <a:r>
              <a:rPr sz="1100" b="1">
                <a:solidFill>
                  <a:srgbClr val="1F4D42"/>
                </a:solidFill>
                <a:latin typeface="Calibri"/>
              </a:rPr>
              <a:t>InfoSec Engineer</a:t>
            </a:r>
          </a:p>
        </p:txBody>
      </p:sp>
      <p:sp>
        <p:nvSpPr>
          <p:cNvPr id="79" name="Rectangle 78"/>
          <p:cNvSpPr/>
          <p:nvPr/>
        </p:nvSpPr>
        <p:spPr>
          <a:xfrm>
            <a:off x="2468880" y="4251960"/>
            <a:ext cx="1737360" cy="50292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468880" y="425196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Light</a:t>
            </a:r>
          </a:p>
        </p:txBody>
      </p:sp>
      <p:sp>
        <p:nvSpPr>
          <p:cNvPr id="81" name="Rectangle 80"/>
          <p:cNvSpPr/>
          <p:nvPr/>
        </p:nvSpPr>
        <p:spPr>
          <a:xfrm>
            <a:off x="4206240" y="4251960"/>
            <a:ext cx="1737360" cy="50292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206240" y="425196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Light</a:t>
            </a:r>
          </a:p>
        </p:txBody>
      </p:sp>
      <p:sp>
        <p:nvSpPr>
          <p:cNvPr id="83" name="Rectangle 82"/>
          <p:cNvSpPr/>
          <p:nvPr/>
        </p:nvSpPr>
        <p:spPr>
          <a:xfrm>
            <a:off x="5943600" y="4251960"/>
            <a:ext cx="1737360" cy="502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943600" y="425196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Normal</a:t>
            </a:r>
          </a:p>
        </p:txBody>
      </p:sp>
      <p:sp>
        <p:nvSpPr>
          <p:cNvPr id="85" name="Rectangle 84"/>
          <p:cNvSpPr/>
          <p:nvPr/>
        </p:nvSpPr>
        <p:spPr>
          <a:xfrm>
            <a:off x="7680960" y="4251960"/>
            <a:ext cx="1737360" cy="502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680960" y="425196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Normal</a:t>
            </a:r>
          </a:p>
        </p:txBody>
      </p:sp>
      <p:sp>
        <p:nvSpPr>
          <p:cNvPr id="87" name="Rectangle 86"/>
          <p:cNvSpPr/>
          <p:nvPr/>
        </p:nvSpPr>
        <p:spPr>
          <a:xfrm>
            <a:off x="9418320" y="4251960"/>
            <a:ext cx="1737360" cy="502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418320" y="425196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Normal</a:t>
            </a:r>
          </a:p>
        </p:txBody>
      </p:sp>
      <p:sp>
        <p:nvSpPr>
          <p:cNvPr id="89" name="Rectangle 88"/>
          <p:cNvSpPr/>
          <p:nvPr/>
        </p:nvSpPr>
        <p:spPr>
          <a:xfrm>
            <a:off x="365760" y="4754880"/>
            <a:ext cx="210312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11480" y="4754880"/>
            <a:ext cx="2057400" cy="502920"/>
          </a:xfrm>
          <a:prstGeom prst="rect">
            <a:avLst/>
          </a:prstGeom>
          <a:noFill/>
        </p:spPr>
        <p:txBody>
          <a:bodyPr wrap="square" lIns="45720" rIns="45720" tIns="18288" bIns="18288" anchor="ctr">
            <a:spAutoFit/>
          </a:bodyPr>
          <a:lstStyle/>
          <a:p>
            <a:pPr algn="l"/>
            <a:r>
              <a:rPr sz="1100" b="1">
                <a:solidFill>
                  <a:srgbClr val="1F4D42"/>
                </a:solidFill>
                <a:latin typeface="Calibri"/>
              </a:rPr>
              <a:t>Change Manager</a:t>
            </a:r>
          </a:p>
        </p:txBody>
      </p:sp>
      <p:sp>
        <p:nvSpPr>
          <p:cNvPr id="91" name="Rectangle 90"/>
          <p:cNvSpPr/>
          <p:nvPr/>
        </p:nvSpPr>
        <p:spPr>
          <a:xfrm>
            <a:off x="2468880" y="4754880"/>
            <a:ext cx="1737360" cy="50292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468880" y="475488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Peak</a:t>
            </a:r>
          </a:p>
        </p:txBody>
      </p:sp>
      <p:sp>
        <p:nvSpPr>
          <p:cNvPr id="93" name="Rectangle 92"/>
          <p:cNvSpPr/>
          <p:nvPr/>
        </p:nvSpPr>
        <p:spPr>
          <a:xfrm>
            <a:off x="4206240" y="4754880"/>
            <a:ext cx="1737360" cy="50292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4206240" y="475488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Light</a:t>
            </a:r>
          </a:p>
        </p:txBody>
      </p:sp>
      <p:sp>
        <p:nvSpPr>
          <p:cNvPr id="95" name="Rectangle 94"/>
          <p:cNvSpPr/>
          <p:nvPr/>
        </p:nvSpPr>
        <p:spPr>
          <a:xfrm>
            <a:off x="5943600" y="4754880"/>
            <a:ext cx="1737360" cy="502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943600" y="475488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Normal</a:t>
            </a:r>
          </a:p>
        </p:txBody>
      </p:sp>
      <p:sp>
        <p:nvSpPr>
          <p:cNvPr id="97" name="Rectangle 96"/>
          <p:cNvSpPr/>
          <p:nvPr/>
        </p:nvSpPr>
        <p:spPr>
          <a:xfrm>
            <a:off x="7680960" y="4754880"/>
            <a:ext cx="1737360" cy="5029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680960" y="475488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Normal</a:t>
            </a:r>
          </a:p>
        </p:txBody>
      </p:sp>
      <p:sp>
        <p:nvSpPr>
          <p:cNvPr id="99" name="Rectangle 98"/>
          <p:cNvSpPr/>
          <p:nvPr/>
        </p:nvSpPr>
        <p:spPr>
          <a:xfrm>
            <a:off x="9418320" y="4754880"/>
            <a:ext cx="1737360" cy="50292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418320" y="4754880"/>
            <a:ext cx="1737360" cy="502920"/>
          </a:xfrm>
          <a:prstGeom prst="rect">
            <a:avLst/>
          </a:prstGeom>
          <a:noFill/>
        </p:spPr>
        <p:txBody>
          <a:bodyPr wrap="square" lIns="45720" rIns="45720" tIns="18288" bIns="18288" anchor="ctr">
            <a:spAutoFit/>
          </a:bodyPr>
          <a:lstStyle/>
          <a:p>
            <a:pPr algn="ctr"/>
            <a:r>
              <a:rPr sz="1000" b="1">
                <a:solidFill>
                  <a:srgbClr val="FFFFFF"/>
                </a:solidFill>
                <a:latin typeface="Calibri"/>
              </a:rPr>
              <a:t>Light</a:t>
            </a:r>
          </a:p>
        </p:txBody>
      </p:sp>
      <p:sp>
        <p:nvSpPr>
          <p:cNvPr id="101" name="TextBox 100"/>
          <p:cNvSpPr txBox="1"/>
          <p:nvPr/>
        </p:nvSpPr>
        <p:spPr>
          <a:xfrm>
            <a:off x="365760" y="5029200"/>
            <a:ext cx="10972800" cy="274320"/>
          </a:xfrm>
          <a:prstGeom prst="rect">
            <a:avLst/>
          </a:prstGeom>
          <a:noFill/>
        </p:spPr>
        <p:txBody>
          <a:bodyPr wrap="square" lIns="45720" rIns="45720" tIns="18288" bIns="18288" anchor="t">
            <a:spAutoFit/>
          </a:bodyPr>
          <a:lstStyle/>
          <a:p>
            <a:pPr algn="l"/>
            <a:r>
              <a:rPr sz="1200" b="1">
                <a:solidFill>
                  <a:srgbClr val="1F4D42"/>
                </a:solidFill>
                <a:latin typeface="Calibri"/>
              </a:rPr>
              <a:t>Legend</a:t>
            </a:r>
          </a:p>
        </p:txBody>
      </p:sp>
      <p:sp>
        <p:nvSpPr>
          <p:cNvPr id="102" name="Rectangle 101"/>
          <p:cNvSpPr/>
          <p:nvPr/>
        </p:nvSpPr>
        <p:spPr>
          <a:xfrm>
            <a:off x="365760" y="5394960"/>
            <a:ext cx="365760" cy="27432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77240" y="5394960"/>
            <a:ext cx="914400" cy="274320"/>
          </a:xfrm>
          <a:prstGeom prst="rect">
            <a:avLst/>
          </a:prstGeom>
          <a:noFill/>
        </p:spPr>
        <p:txBody>
          <a:bodyPr wrap="square" lIns="45720" rIns="45720" tIns="18288" bIns="18288" anchor="ctr">
            <a:spAutoFit/>
          </a:bodyPr>
          <a:lstStyle/>
          <a:p>
            <a:pPr algn="l"/>
            <a:r>
              <a:rPr sz="1100" b="0">
                <a:solidFill>
                  <a:srgbClr val="101828"/>
                </a:solidFill>
                <a:latin typeface="Calibri"/>
              </a:rPr>
              <a:t>Peak</a:t>
            </a:r>
          </a:p>
        </p:txBody>
      </p:sp>
      <p:sp>
        <p:nvSpPr>
          <p:cNvPr id="104" name="Rectangle 103"/>
          <p:cNvSpPr/>
          <p:nvPr/>
        </p:nvSpPr>
        <p:spPr>
          <a:xfrm>
            <a:off x="1645920" y="5394960"/>
            <a:ext cx="365760" cy="274320"/>
          </a:xfrm>
          <a:prstGeom prst="rect">
            <a:avLst/>
          </a:prstGeom>
          <a:solidFill>
            <a:srgbClr val="2E8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057400" y="5394960"/>
            <a:ext cx="914400" cy="274320"/>
          </a:xfrm>
          <a:prstGeom prst="rect">
            <a:avLst/>
          </a:prstGeom>
          <a:noFill/>
        </p:spPr>
        <p:txBody>
          <a:bodyPr wrap="square" lIns="45720" rIns="45720" tIns="18288" bIns="18288" anchor="ctr">
            <a:spAutoFit/>
          </a:bodyPr>
          <a:lstStyle/>
          <a:p>
            <a:pPr algn="l"/>
            <a:r>
              <a:rPr sz="1100" b="0">
                <a:solidFill>
                  <a:srgbClr val="101828"/>
                </a:solidFill>
                <a:latin typeface="Calibri"/>
              </a:rPr>
              <a:t>Normal</a:t>
            </a:r>
          </a:p>
        </p:txBody>
      </p:sp>
      <p:sp>
        <p:nvSpPr>
          <p:cNvPr id="106" name="Rectangle 105"/>
          <p:cNvSpPr/>
          <p:nvPr/>
        </p:nvSpPr>
        <p:spPr>
          <a:xfrm>
            <a:off x="2926080" y="5394960"/>
            <a:ext cx="365760" cy="27432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3337560" y="5394960"/>
            <a:ext cx="914400" cy="274320"/>
          </a:xfrm>
          <a:prstGeom prst="rect">
            <a:avLst/>
          </a:prstGeom>
          <a:noFill/>
        </p:spPr>
        <p:txBody>
          <a:bodyPr wrap="square" lIns="45720" rIns="45720" tIns="18288" bIns="18288" anchor="ctr">
            <a:spAutoFit/>
          </a:bodyPr>
          <a:lstStyle/>
          <a:p>
            <a:pPr algn="l"/>
            <a:r>
              <a:rPr sz="1100" b="0">
                <a:solidFill>
                  <a:srgbClr val="101828"/>
                </a:solidFill>
                <a:latin typeface="Calibri"/>
              </a:rPr>
              <a:t>Light</a:t>
            </a:r>
          </a:p>
        </p:txBody>
      </p:sp>
      <p:sp>
        <p:nvSpPr>
          <p:cNvPr id="108" name="Rectangle 107"/>
          <p:cNvSpPr/>
          <p:nvPr/>
        </p:nvSpPr>
        <p:spPr>
          <a:xfrm>
            <a:off x="4206240" y="5394960"/>
            <a:ext cx="365760" cy="274320"/>
          </a:xfrm>
          <a:prstGeom prst="rect">
            <a:avLst/>
          </a:prstGeom>
          <a:solidFill>
            <a:srgbClr val="CB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617720" y="5394960"/>
            <a:ext cx="914400" cy="274320"/>
          </a:xfrm>
          <a:prstGeom prst="rect">
            <a:avLst/>
          </a:prstGeom>
          <a:noFill/>
        </p:spPr>
        <p:txBody>
          <a:bodyPr wrap="square" lIns="45720" rIns="45720" tIns="18288" bIns="18288" anchor="ctr">
            <a:spAutoFit/>
          </a:bodyPr>
          <a:lstStyle/>
          <a:p>
            <a:pPr algn="l"/>
            <a:r>
              <a:rPr sz="1100" b="0">
                <a:solidFill>
                  <a:srgbClr val="101828"/>
                </a:solidFill>
                <a:latin typeface="Calibri"/>
              </a:rPr>
              <a:t>Off</a:t>
            </a:r>
          </a:p>
        </p:txBody>
      </p:sp>
      <p:sp>
        <p:nvSpPr>
          <p:cNvPr id="110" name="Rectangle 109"/>
          <p:cNvSpPr/>
          <p:nvPr/>
        </p:nvSpPr>
        <p:spPr>
          <a:xfrm>
            <a:off x="365760" y="5760720"/>
            <a:ext cx="11430000" cy="64008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502920" y="5760720"/>
            <a:ext cx="11155680" cy="640080"/>
          </a:xfrm>
          <a:prstGeom prst="rect">
            <a:avLst/>
          </a:prstGeom>
          <a:noFill/>
        </p:spPr>
        <p:txBody>
          <a:bodyPr wrap="square" lIns="45720" rIns="45720" tIns="18288" bIns="18288" anchor="ctr">
            <a:spAutoFit/>
          </a:bodyPr>
          <a:lstStyle/>
          <a:p>
            <a:pPr algn="l"/>
            <a:r>
              <a:rPr sz="1100" b="1">
                <a:solidFill>
                  <a:srgbClr val="101828"/>
                </a:solidFill>
                <a:latin typeface="Calibri"/>
              </a:rPr>
              <a:t>Critical: IAM Engineer is the single biggest schedule risk. SAML + SCIM peak is Weeks 3-4. Book MoJ IAM resource at Week 1 and have a backup.</a:t>
            </a:r>
          </a:p>
        </p:txBody>
      </p:sp>
      <p:sp>
        <p:nvSpPr>
          <p:cNvPr id="112" name="TextBox 111"/>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113" name="TextBox 112"/>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Effort Breakdown by Workstream</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150 person-days across 11 workstreams</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365760" y="1051560"/>
          <a:ext cx="7315200" cy="4572000"/>
        </p:xfrm>
        <a:graphic>
          <a:graphicData uri="http://schemas.openxmlformats.org/drawingml/2006/table">
            <a:tbl>
              <a:tblPr firstRow="1" bandRow="1">
                <a:tableStyleId>{5C22544A-7EE6-4342-B048-85BDC9FD1C3A}</a:tableStyleId>
              </a:tblPr>
              <a:tblGrid>
                <a:gridCol w="640080"/>
                <a:gridCol w="4572000"/>
                <a:gridCol w="1097280"/>
                <a:gridCol w="1005840"/>
              </a:tblGrid>
              <a:tr h="351692">
                <a:tc>
                  <a:txBody>
                    <a:bodyPr wrap="square"/>
                    <a:lstStyle/>
                    <a:p>
                      <a:pPr algn="l"/>
                      <a:r>
                        <a:rPr sz="1100" b="1">
                          <a:solidFill>
                            <a:srgbClr val="FFFFFF"/>
                          </a:solidFill>
                          <a:latin typeface="Calibri"/>
                        </a:rPr>
                        <a:t>#</a:t>
                      </a:r>
                    </a:p>
                  </a:txBody>
                  <a:tcPr marL="45720" marR="45720" marT="18288" marB="18288">
                    <a:solidFill>
                      <a:srgbClr val="1F4D42"/>
                    </a:solidFill>
                  </a:tcPr>
                </a:tc>
                <a:tc>
                  <a:txBody>
                    <a:bodyPr wrap="square"/>
                    <a:lstStyle/>
                    <a:p>
                      <a:pPr algn="l"/>
                      <a:r>
                        <a:rPr sz="1100" b="1">
                          <a:solidFill>
                            <a:srgbClr val="FFFFFF"/>
                          </a:solidFill>
                          <a:latin typeface="Calibri"/>
                        </a:rPr>
                        <a:t>Workstream</a:t>
                      </a:r>
                    </a:p>
                  </a:txBody>
                  <a:tcPr marL="45720" marR="45720" marT="18288" marB="18288">
                    <a:solidFill>
                      <a:srgbClr val="1F4D42"/>
                    </a:solidFill>
                  </a:tcPr>
                </a:tc>
                <a:tc>
                  <a:txBody>
                    <a:bodyPr wrap="square"/>
                    <a:lstStyle/>
                    <a:p>
                      <a:pPr algn="l"/>
                      <a:r>
                        <a:rPr sz="1100" b="1">
                          <a:solidFill>
                            <a:srgbClr val="FFFFFF"/>
                          </a:solidFill>
                          <a:latin typeface="Calibri"/>
                        </a:rPr>
                        <a:t>Effort (p-days)</a:t>
                      </a:r>
                    </a:p>
                  </a:txBody>
                  <a:tcPr marL="45720" marR="45720" marT="18288" marB="18288">
                    <a:solidFill>
                      <a:srgbClr val="1F4D42"/>
                    </a:solidFill>
                  </a:tcPr>
                </a:tc>
                <a:tc>
                  <a:txBody>
                    <a:bodyPr wrap="square"/>
                    <a:lstStyle/>
                    <a:p>
                      <a:pPr algn="l"/>
                      <a:r>
                        <a:rPr sz="1100" b="1">
                          <a:solidFill>
                            <a:srgbClr val="FFFFFF"/>
                          </a:solidFill>
                          <a:latin typeface="Calibri"/>
                        </a:rPr>
                        <a:t>% of Total</a:t>
                      </a:r>
                    </a:p>
                  </a:txBody>
                  <a:tcPr marL="45720" marR="45720" marT="18288" marB="18288">
                    <a:solidFill>
                      <a:srgbClr val="1F4D42"/>
                    </a:solidFill>
                  </a:tcPr>
                </a:tc>
              </a:tr>
              <a:tr h="351692">
                <a:tc>
                  <a:txBody>
                    <a:bodyPr wrap="square"/>
                    <a:lstStyle/>
                    <a:p>
                      <a:pPr algn="l"/>
                      <a:r>
                        <a:rPr sz="1100" b="0">
                          <a:solidFill>
                            <a:srgbClr val="101828"/>
                          </a:solidFill>
                          <a:latin typeface="Calibri"/>
                        </a:rPr>
                        <a:t>WS1</a:t>
                      </a:r>
                    </a:p>
                  </a:txBody>
                  <a:tcPr marL="45720" marR="45720" marT="18288" marB="18288">
                    <a:solidFill>
                      <a:srgbClr val="FFFFFF"/>
                    </a:solidFill>
                  </a:tcPr>
                </a:tc>
                <a:tc>
                  <a:txBody>
                    <a:bodyPr wrap="square"/>
                    <a:lstStyle/>
                    <a:p>
                      <a:pPr algn="l"/>
                      <a:r>
                        <a:rPr sz="1100" b="0">
                          <a:solidFill>
                            <a:srgbClr val="101828"/>
                          </a:solidFill>
                          <a:latin typeface="Calibri"/>
                        </a:rPr>
                        <a:t>Program Management &amp; PMO</a:t>
                      </a:r>
                    </a:p>
                  </a:txBody>
                  <a:tcPr marL="45720" marR="45720" marT="18288" marB="18288">
                    <a:solidFill>
                      <a:srgbClr val="FFFFFF"/>
                    </a:solidFill>
                  </a:tcPr>
                </a:tc>
                <a:tc>
                  <a:txBody>
                    <a:bodyPr wrap="square"/>
                    <a:lstStyle/>
                    <a:p>
                      <a:pPr algn="l"/>
                      <a:r>
                        <a:rPr sz="1100" b="0">
                          <a:solidFill>
                            <a:srgbClr val="101828"/>
                          </a:solidFill>
                          <a:latin typeface="Calibri"/>
                        </a:rPr>
                        <a:t>25</a:t>
                      </a:r>
                    </a:p>
                  </a:txBody>
                  <a:tcPr marL="45720" marR="45720" marT="18288" marB="18288">
                    <a:solidFill>
                      <a:srgbClr val="FFFFFF"/>
                    </a:solidFill>
                  </a:tcPr>
                </a:tc>
                <a:tc>
                  <a:txBody>
                    <a:bodyPr wrap="square"/>
                    <a:lstStyle/>
                    <a:p>
                      <a:pPr algn="l"/>
                      <a:r>
                        <a:rPr sz="1100" b="0">
                          <a:solidFill>
                            <a:srgbClr val="101828"/>
                          </a:solidFill>
                          <a:latin typeface="Calibri"/>
                        </a:rPr>
                        <a:t>17%</a:t>
                      </a:r>
                    </a:p>
                  </a:txBody>
                  <a:tcPr marL="45720" marR="45720" marT="18288" marB="18288">
                    <a:solidFill>
                      <a:srgbClr val="FFFFFF"/>
                    </a:solidFill>
                  </a:tcPr>
                </a:tc>
              </a:tr>
              <a:tr h="351692">
                <a:tc>
                  <a:txBody>
                    <a:bodyPr wrap="square"/>
                    <a:lstStyle/>
                    <a:p>
                      <a:pPr algn="l"/>
                      <a:r>
                        <a:rPr sz="1100" b="0">
                          <a:solidFill>
                            <a:srgbClr val="101828"/>
                          </a:solidFill>
                          <a:latin typeface="Calibri"/>
                        </a:rPr>
                        <a:t>WS2</a:t>
                      </a:r>
                    </a:p>
                  </a:txBody>
                  <a:tcPr marL="45720" marR="45720" marT="18288" marB="18288">
                    <a:solidFill>
                      <a:srgbClr val="F2F4F7"/>
                    </a:solidFill>
                  </a:tcPr>
                </a:tc>
                <a:tc>
                  <a:txBody>
                    <a:bodyPr wrap="square"/>
                    <a:lstStyle/>
                    <a:p>
                      <a:pPr algn="l"/>
                      <a:r>
                        <a:rPr sz="1100" b="0">
                          <a:solidFill>
                            <a:srgbClr val="101828"/>
                          </a:solidFill>
                          <a:latin typeface="Calibri"/>
                        </a:rPr>
                        <a:t>Identity &amp; Access (EMU + SAML + SCIM)</a:t>
                      </a:r>
                    </a:p>
                  </a:txBody>
                  <a:tcPr marL="45720" marR="45720" marT="18288" marB="18288">
                    <a:solidFill>
                      <a:srgbClr val="F2F4F7"/>
                    </a:solidFill>
                  </a:tcPr>
                </a:tc>
                <a:tc>
                  <a:txBody>
                    <a:bodyPr wrap="square"/>
                    <a:lstStyle/>
                    <a:p>
                      <a:pPr algn="l"/>
                      <a:r>
                        <a:rPr sz="1100" b="0">
                          <a:solidFill>
                            <a:srgbClr val="101828"/>
                          </a:solidFill>
                          <a:latin typeface="Calibri"/>
                        </a:rPr>
                        <a:t>14</a:t>
                      </a:r>
                    </a:p>
                  </a:txBody>
                  <a:tcPr marL="45720" marR="45720" marT="18288" marB="18288">
                    <a:solidFill>
                      <a:srgbClr val="F2F4F7"/>
                    </a:solidFill>
                  </a:tcPr>
                </a:tc>
                <a:tc>
                  <a:txBody>
                    <a:bodyPr wrap="square"/>
                    <a:lstStyle/>
                    <a:p>
                      <a:pPr algn="l"/>
                      <a:r>
                        <a:rPr sz="1100" b="0">
                          <a:solidFill>
                            <a:srgbClr val="101828"/>
                          </a:solidFill>
                          <a:latin typeface="Calibri"/>
                        </a:rPr>
                        <a:t>9%</a:t>
                      </a:r>
                    </a:p>
                  </a:txBody>
                  <a:tcPr marL="45720" marR="45720" marT="18288" marB="18288">
                    <a:solidFill>
                      <a:srgbClr val="F2F4F7"/>
                    </a:solidFill>
                  </a:tcPr>
                </a:tc>
              </a:tr>
              <a:tr h="351692">
                <a:tc>
                  <a:txBody>
                    <a:bodyPr wrap="square"/>
                    <a:lstStyle/>
                    <a:p>
                      <a:pPr algn="l"/>
                      <a:r>
                        <a:rPr sz="1100" b="0">
                          <a:solidFill>
                            <a:srgbClr val="101828"/>
                          </a:solidFill>
                          <a:latin typeface="Calibri"/>
                        </a:rPr>
                        <a:t>WS3</a:t>
                      </a:r>
                    </a:p>
                  </a:txBody>
                  <a:tcPr marL="45720" marR="45720" marT="18288" marB="18288">
                    <a:solidFill>
                      <a:srgbClr val="FFFFFF"/>
                    </a:solidFill>
                  </a:tcPr>
                </a:tc>
                <a:tc>
                  <a:txBody>
                    <a:bodyPr wrap="square"/>
                    <a:lstStyle/>
                    <a:p>
                      <a:pPr algn="l"/>
                      <a:r>
                        <a:rPr sz="1100" b="0">
                          <a:solidFill>
                            <a:srgbClr val="101828"/>
                          </a:solidFill>
                          <a:latin typeface="Calibri"/>
                        </a:rPr>
                        <a:t>Platform / Migration Factory</a:t>
                      </a:r>
                    </a:p>
                  </a:txBody>
                  <a:tcPr marL="45720" marR="45720" marT="18288" marB="18288">
                    <a:solidFill>
                      <a:srgbClr val="FFFFFF"/>
                    </a:solidFill>
                  </a:tcPr>
                </a:tc>
                <a:tc>
                  <a:txBody>
                    <a:bodyPr wrap="square"/>
                    <a:lstStyle/>
                    <a:p>
                      <a:pPr algn="l"/>
                      <a:r>
                        <a:rPr sz="1100" b="0">
                          <a:solidFill>
                            <a:srgbClr val="101828"/>
                          </a:solidFill>
                          <a:latin typeface="Calibri"/>
                        </a:rPr>
                        <a:t>10</a:t>
                      </a:r>
                    </a:p>
                  </a:txBody>
                  <a:tcPr marL="45720" marR="45720" marT="18288" marB="18288">
                    <a:solidFill>
                      <a:srgbClr val="FFFFFF"/>
                    </a:solidFill>
                  </a:tcPr>
                </a:tc>
                <a:tc>
                  <a:txBody>
                    <a:bodyPr wrap="square"/>
                    <a:lstStyle/>
                    <a:p>
                      <a:pPr algn="l"/>
                      <a:r>
                        <a:rPr sz="1100" b="0">
                          <a:solidFill>
                            <a:srgbClr val="101828"/>
                          </a:solidFill>
                          <a:latin typeface="Calibri"/>
                        </a:rPr>
                        <a:t>7%</a:t>
                      </a:r>
                    </a:p>
                  </a:txBody>
                  <a:tcPr marL="45720" marR="45720" marT="18288" marB="18288">
                    <a:solidFill>
                      <a:srgbClr val="FFFFFF"/>
                    </a:solidFill>
                  </a:tcPr>
                </a:tc>
              </a:tr>
              <a:tr h="351692">
                <a:tc>
                  <a:txBody>
                    <a:bodyPr wrap="square"/>
                    <a:lstStyle/>
                    <a:p>
                      <a:pPr algn="l"/>
                      <a:r>
                        <a:rPr sz="1100" b="0">
                          <a:solidFill>
                            <a:srgbClr val="101828"/>
                          </a:solidFill>
                          <a:latin typeface="Calibri"/>
                        </a:rPr>
                        <a:t>WS4</a:t>
                      </a:r>
                    </a:p>
                  </a:txBody>
                  <a:tcPr marL="45720" marR="45720" marT="18288" marB="18288">
                    <a:solidFill>
                      <a:srgbClr val="F2F4F7"/>
                    </a:solidFill>
                  </a:tcPr>
                </a:tc>
                <a:tc>
                  <a:txBody>
                    <a:bodyPr wrap="square"/>
                    <a:lstStyle/>
                    <a:p>
                      <a:pPr algn="l"/>
                      <a:r>
                        <a:rPr sz="1100" b="0">
                          <a:solidFill>
                            <a:srgbClr val="101828"/>
                          </a:solidFill>
                          <a:latin typeface="Calibri"/>
                        </a:rPr>
                        <a:t>Repo Migration (Pilot + 4 waves)</a:t>
                      </a:r>
                    </a:p>
                  </a:txBody>
                  <a:tcPr marL="45720" marR="45720" marT="18288" marB="18288">
                    <a:solidFill>
                      <a:srgbClr val="F2F4F7"/>
                    </a:solidFill>
                  </a:tcPr>
                </a:tc>
                <a:tc>
                  <a:txBody>
                    <a:bodyPr wrap="square"/>
                    <a:lstStyle/>
                    <a:p>
                      <a:pPr algn="l"/>
                      <a:r>
                        <a:rPr sz="1100" b="0">
                          <a:solidFill>
                            <a:srgbClr val="101828"/>
                          </a:solidFill>
                          <a:latin typeface="Calibri"/>
                        </a:rPr>
                        <a:t>25</a:t>
                      </a:r>
                    </a:p>
                  </a:txBody>
                  <a:tcPr marL="45720" marR="45720" marT="18288" marB="18288">
                    <a:solidFill>
                      <a:srgbClr val="F2F4F7"/>
                    </a:solidFill>
                  </a:tcPr>
                </a:tc>
                <a:tc>
                  <a:txBody>
                    <a:bodyPr wrap="square"/>
                    <a:lstStyle/>
                    <a:p>
                      <a:pPr algn="l"/>
                      <a:r>
                        <a:rPr sz="1100" b="0">
                          <a:solidFill>
                            <a:srgbClr val="101828"/>
                          </a:solidFill>
                          <a:latin typeface="Calibri"/>
                        </a:rPr>
                        <a:t>17%</a:t>
                      </a:r>
                    </a:p>
                  </a:txBody>
                  <a:tcPr marL="45720" marR="45720" marT="18288" marB="18288">
                    <a:solidFill>
                      <a:srgbClr val="F2F4F7"/>
                    </a:solidFill>
                  </a:tcPr>
                </a:tc>
              </a:tr>
              <a:tr h="351692">
                <a:tc>
                  <a:txBody>
                    <a:bodyPr wrap="square"/>
                    <a:lstStyle/>
                    <a:p>
                      <a:pPr algn="l"/>
                      <a:r>
                        <a:rPr sz="1100" b="0">
                          <a:solidFill>
                            <a:srgbClr val="101828"/>
                          </a:solidFill>
                          <a:latin typeface="Calibri"/>
                        </a:rPr>
                        <a:t>WS5</a:t>
                      </a:r>
                    </a:p>
                  </a:txBody>
                  <a:tcPr marL="45720" marR="45720" marT="18288" marB="18288">
                    <a:solidFill>
                      <a:srgbClr val="FFFFFF"/>
                    </a:solidFill>
                  </a:tcPr>
                </a:tc>
                <a:tc>
                  <a:txBody>
                    <a:bodyPr wrap="square"/>
                    <a:lstStyle/>
                    <a:p>
                      <a:pPr algn="l"/>
                      <a:r>
                        <a:rPr sz="1100" b="0">
                          <a:solidFill>
                            <a:srgbClr val="101828"/>
                          </a:solidFill>
                          <a:latin typeface="Calibri"/>
                        </a:rPr>
                        <a:t>Azure Boards GitHub App Integration</a:t>
                      </a:r>
                    </a:p>
                  </a:txBody>
                  <a:tcPr marL="45720" marR="45720" marT="18288" marB="18288">
                    <a:solidFill>
                      <a:srgbClr val="FFFFFF"/>
                    </a:solidFill>
                  </a:tcPr>
                </a:tc>
                <a:tc>
                  <a:txBody>
                    <a:bodyPr wrap="square"/>
                    <a:lstStyle/>
                    <a:p>
                      <a:pPr algn="l"/>
                      <a:r>
                        <a:rPr sz="1100" b="0">
                          <a:solidFill>
                            <a:srgbClr val="101828"/>
                          </a:solidFill>
                          <a:latin typeface="Calibri"/>
                        </a:rPr>
                        <a:t>4</a:t>
                      </a:r>
                    </a:p>
                  </a:txBody>
                  <a:tcPr marL="45720" marR="45720" marT="18288" marB="18288">
                    <a:solidFill>
                      <a:srgbClr val="FFFFFF"/>
                    </a:solidFill>
                  </a:tcPr>
                </a:tc>
                <a:tc>
                  <a:txBody>
                    <a:bodyPr wrap="square"/>
                    <a:lstStyle/>
                    <a:p>
                      <a:pPr algn="l"/>
                      <a:r>
                        <a:rPr sz="1100" b="0">
                          <a:solidFill>
                            <a:srgbClr val="101828"/>
                          </a:solidFill>
                          <a:latin typeface="Calibri"/>
                        </a:rPr>
                        <a:t>3%</a:t>
                      </a:r>
                    </a:p>
                  </a:txBody>
                  <a:tcPr marL="45720" marR="45720" marT="18288" marB="18288">
                    <a:solidFill>
                      <a:srgbClr val="FFFFFF"/>
                    </a:solidFill>
                  </a:tcPr>
                </a:tc>
              </a:tr>
              <a:tr h="351692">
                <a:tc>
                  <a:txBody>
                    <a:bodyPr wrap="square"/>
                    <a:lstStyle/>
                    <a:p>
                      <a:pPr algn="l"/>
                      <a:r>
                        <a:rPr sz="1100" b="0">
                          <a:solidFill>
                            <a:srgbClr val="101828"/>
                          </a:solidFill>
                          <a:latin typeface="Calibri"/>
                        </a:rPr>
                        <a:t>WS6</a:t>
                      </a:r>
                    </a:p>
                  </a:txBody>
                  <a:tcPr marL="45720" marR="45720" marT="18288" marB="18288">
                    <a:solidFill>
                      <a:srgbClr val="F2F4F7"/>
                    </a:solidFill>
                  </a:tcPr>
                </a:tc>
                <a:tc>
                  <a:txBody>
                    <a:bodyPr wrap="square"/>
                    <a:lstStyle/>
                    <a:p>
                      <a:pPr algn="l"/>
                      <a:r>
                        <a:rPr sz="1100" b="0">
                          <a:solidFill>
                            <a:srgbClr val="101828"/>
                          </a:solidFill>
                          <a:latin typeface="Calibri"/>
                        </a:rPr>
                        <a:t>Pipeline Source Re-pointing</a:t>
                      </a:r>
                    </a:p>
                  </a:txBody>
                  <a:tcPr marL="45720" marR="45720" marT="18288" marB="18288">
                    <a:solidFill>
                      <a:srgbClr val="F2F4F7"/>
                    </a:solidFill>
                  </a:tcPr>
                </a:tc>
                <a:tc>
                  <a:txBody>
                    <a:bodyPr wrap="square"/>
                    <a:lstStyle/>
                    <a:p>
                      <a:pPr algn="l"/>
                      <a:r>
                        <a:rPr sz="1100" b="0">
                          <a:solidFill>
                            <a:srgbClr val="101828"/>
                          </a:solidFill>
                          <a:latin typeface="Calibri"/>
                        </a:rPr>
                        <a:t>20</a:t>
                      </a:r>
                    </a:p>
                  </a:txBody>
                  <a:tcPr marL="45720" marR="45720" marT="18288" marB="18288">
                    <a:solidFill>
                      <a:srgbClr val="F2F4F7"/>
                    </a:solidFill>
                  </a:tcPr>
                </a:tc>
                <a:tc>
                  <a:txBody>
                    <a:bodyPr wrap="square"/>
                    <a:lstStyle/>
                    <a:p>
                      <a:pPr algn="l"/>
                      <a:r>
                        <a:rPr sz="1100" b="0">
                          <a:solidFill>
                            <a:srgbClr val="101828"/>
                          </a:solidFill>
                          <a:latin typeface="Calibri"/>
                        </a:rPr>
                        <a:t>13%</a:t>
                      </a:r>
                    </a:p>
                  </a:txBody>
                  <a:tcPr marL="45720" marR="45720" marT="18288" marB="18288">
                    <a:solidFill>
                      <a:srgbClr val="F2F4F7"/>
                    </a:solidFill>
                  </a:tcPr>
                </a:tc>
              </a:tr>
              <a:tr h="351692">
                <a:tc>
                  <a:txBody>
                    <a:bodyPr wrap="square"/>
                    <a:lstStyle/>
                    <a:p>
                      <a:pPr algn="l"/>
                      <a:r>
                        <a:rPr sz="1100" b="0">
                          <a:solidFill>
                            <a:srgbClr val="101828"/>
                          </a:solidFill>
                          <a:latin typeface="Calibri"/>
                        </a:rPr>
                        <a:t>WS7</a:t>
                      </a:r>
                    </a:p>
                  </a:txBody>
                  <a:tcPr marL="45720" marR="45720" marT="18288" marB="18288">
                    <a:solidFill>
                      <a:srgbClr val="FFFFFF"/>
                    </a:solidFill>
                  </a:tcPr>
                </a:tc>
                <a:tc>
                  <a:txBody>
                    <a:bodyPr wrap="square"/>
                    <a:lstStyle/>
                    <a:p>
                      <a:pPr algn="l"/>
                      <a:r>
                        <a:rPr sz="1100" b="0">
                          <a:solidFill>
                            <a:srgbClr val="101828"/>
                          </a:solidFill>
                          <a:latin typeface="Calibri"/>
                        </a:rPr>
                        <a:t>Security, Policy &amp; Rulesets</a:t>
                      </a:r>
                    </a:p>
                  </a:txBody>
                  <a:tcPr marL="45720" marR="45720" marT="18288" marB="18288">
                    <a:solidFill>
                      <a:srgbClr val="FFFFFF"/>
                    </a:solidFill>
                  </a:tcPr>
                </a:tc>
                <a:tc>
                  <a:txBody>
                    <a:bodyPr wrap="square"/>
                    <a:lstStyle/>
                    <a:p>
                      <a:pPr algn="l"/>
                      <a:r>
                        <a:rPr sz="1100" b="0">
                          <a:solidFill>
                            <a:srgbClr val="101828"/>
                          </a:solidFill>
                          <a:latin typeface="Calibri"/>
                        </a:rPr>
                        <a:t>7</a:t>
                      </a:r>
                    </a:p>
                  </a:txBody>
                  <a:tcPr marL="45720" marR="45720" marT="18288" marB="18288">
                    <a:solidFill>
                      <a:srgbClr val="FFFFFF"/>
                    </a:solidFill>
                  </a:tcPr>
                </a:tc>
                <a:tc>
                  <a:txBody>
                    <a:bodyPr wrap="square"/>
                    <a:lstStyle/>
                    <a:p>
                      <a:pPr algn="l"/>
                      <a:r>
                        <a:rPr sz="1100" b="0">
                          <a:solidFill>
                            <a:srgbClr val="101828"/>
                          </a:solidFill>
                          <a:latin typeface="Calibri"/>
                        </a:rPr>
                        <a:t>5%</a:t>
                      </a:r>
                    </a:p>
                  </a:txBody>
                  <a:tcPr marL="45720" marR="45720" marT="18288" marB="18288">
                    <a:solidFill>
                      <a:srgbClr val="FFFFFF"/>
                    </a:solidFill>
                  </a:tcPr>
                </a:tc>
              </a:tr>
              <a:tr h="351692">
                <a:tc>
                  <a:txBody>
                    <a:bodyPr wrap="square"/>
                    <a:lstStyle/>
                    <a:p>
                      <a:pPr algn="l"/>
                      <a:r>
                        <a:rPr sz="1100" b="0">
                          <a:solidFill>
                            <a:srgbClr val="101828"/>
                          </a:solidFill>
                          <a:latin typeface="Calibri"/>
                        </a:rPr>
                        <a:t>WS8</a:t>
                      </a:r>
                    </a:p>
                  </a:txBody>
                  <a:tcPr marL="45720" marR="45720" marT="18288" marB="18288">
                    <a:solidFill>
                      <a:srgbClr val="F2F4F7"/>
                    </a:solidFill>
                  </a:tcPr>
                </a:tc>
                <a:tc>
                  <a:txBody>
                    <a:bodyPr wrap="square"/>
                    <a:lstStyle/>
                    <a:p>
                      <a:pPr algn="l"/>
                      <a:r>
                        <a:rPr sz="1100" b="0">
                          <a:solidFill>
                            <a:srgbClr val="101828"/>
                          </a:solidFill>
                          <a:latin typeface="Calibri"/>
                        </a:rPr>
                        <a:t>Comms &amp; Training</a:t>
                      </a:r>
                    </a:p>
                  </a:txBody>
                  <a:tcPr marL="45720" marR="45720" marT="18288" marB="18288">
                    <a:solidFill>
                      <a:srgbClr val="F2F4F7"/>
                    </a:solidFill>
                  </a:tcPr>
                </a:tc>
                <a:tc>
                  <a:txBody>
                    <a:bodyPr wrap="square"/>
                    <a:lstStyle/>
                    <a:p>
                      <a:pPr algn="l"/>
                      <a:r>
                        <a:rPr sz="1100" b="0">
                          <a:solidFill>
                            <a:srgbClr val="101828"/>
                          </a:solidFill>
                          <a:latin typeface="Calibri"/>
                        </a:rPr>
                        <a:t>15</a:t>
                      </a:r>
                    </a:p>
                  </a:txBody>
                  <a:tcPr marL="45720" marR="45720" marT="18288" marB="18288">
                    <a:solidFill>
                      <a:srgbClr val="F2F4F7"/>
                    </a:solidFill>
                  </a:tcPr>
                </a:tc>
                <a:tc>
                  <a:txBody>
                    <a:bodyPr wrap="square"/>
                    <a:lstStyle/>
                    <a:p>
                      <a:pPr algn="l"/>
                      <a:r>
                        <a:rPr sz="1100" b="0">
                          <a:solidFill>
                            <a:srgbClr val="101828"/>
                          </a:solidFill>
                          <a:latin typeface="Calibri"/>
                        </a:rPr>
                        <a:t>10%</a:t>
                      </a:r>
                    </a:p>
                  </a:txBody>
                  <a:tcPr marL="45720" marR="45720" marT="18288" marB="18288">
                    <a:solidFill>
                      <a:srgbClr val="F2F4F7"/>
                    </a:solidFill>
                  </a:tcPr>
                </a:tc>
              </a:tr>
              <a:tr h="351692">
                <a:tc>
                  <a:txBody>
                    <a:bodyPr wrap="square"/>
                    <a:lstStyle/>
                    <a:p>
                      <a:pPr algn="l"/>
                      <a:r>
                        <a:rPr sz="1100" b="0">
                          <a:solidFill>
                            <a:srgbClr val="101828"/>
                          </a:solidFill>
                          <a:latin typeface="Calibri"/>
                        </a:rPr>
                        <a:t>WS9</a:t>
                      </a:r>
                    </a:p>
                  </a:txBody>
                  <a:tcPr marL="45720" marR="45720" marT="18288" marB="18288">
                    <a:solidFill>
                      <a:srgbClr val="FFFFFF"/>
                    </a:solidFill>
                  </a:tcPr>
                </a:tc>
                <a:tc>
                  <a:txBody>
                    <a:bodyPr wrap="square"/>
                    <a:lstStyle/>
                    <a:p>
                      <a:pPr algn="l"/>
                      <a:r>
                        <a:rPr sz="1100" b="0">
                          <a:solidFill>
                            <a:srgbClr val="101828"/>
                          </a:solidFill>
                          <a:latin typeface="Calibri"/>
                        </a:rPr>
                        <a:t>Decommission Prep (read-only freeze)</a:t>
                      </a:r>
                    </a:p>
                  </a:txBody>
                  <a:tcPr marL="45720" marR="45720" marT="18288" marB="18288">
                    <a:solidFill>
                      <a:srgbClr val="FFFFFF"/>
                    </a:solidFill>
                  </a:tcPr>
                </a:tc>
                <a:tc>
                  <a:txBody>
                    <a:bodyPr wrap="square"/>
                    <a:lstStyle/>
                    <a:p>
                      <a:pPr algn="l"/>
                      <a:r>
                        <a:rPr sz="1100" b="0">
                          <a:solidFill>
                            <a:srgbClr val="101828"/>
                          </a:solidFill>
                          <a:latin typeface="Calibri"/>
                        </a:rPr>
                        <a:t>5</a:t>
                      </a:r>
                    </a:p>
                  </a:txBody>
                  <a:tcPr marL="45720" marR="45720" marT="18288" marB="18288">
                    <a:solidFill>
                      <a:srgbClr val="FFFFFF"/>
                    </a:solidFill>
                  </a:tcPr>
                </a:tc>
                <a:tc>
                  <a:txBody>
                    <a:bodyPr wrap="square"/>
                    <a:lstStyle/>
                    <a:p>
                      <a:pPr algn="l"/>
                      <a:r>
                        <a:rPr sz="1100" b="0">
                          <a:solidFill>
                            <a:srgbClr val="101828"/>
                          </a:solidFill>
                          <a:latin typeface="Calibri"/>
                        </a:rPr>
                        <a:t>3%</a:t>
                      </a:r>
                    </a:p>
                  </a:txBody>
                  <a:tcPr marL="45720" marR="45720" marT="18288" marB="18288">
                    <a:solidFill>
                      <a:srgbClr val="FFFFFF"/>
                    </a:solidFill>
                  </a:tcPr>
                </a:tc>
              </a:tr>
              <a:tr h="351692">
                <a:tc>
                  <a:txBody>
                    <a:bodyPr wrap="square"/>
                    <a:lstStyle/>
                    <a:p>
                      <a:pPr algn="l"/>
                      <a:r>
                        <a:rPr sz="1100" b="0">
                          <a:solidFill>
                            <a:srgbClr val="101828"/>
                          </a:solidFill>
                          <a:latin typeface="Calibri"/>
                        </a:rPr>
                        <a:t>WS10</a:t>
                      </a:r>
                    </a:p>
                  </a:txBody>
                  <a:tcPr marL="45720" marR="45720" marT="18288" marB="18288">
                    <a:solidFill>
                      <a:srgbClr val="F2F4F7"/>
                    </a:solidFill>
                  </a:tcPr>
                </a:tc>
                <a:tc>
                  <a:txBody>
                    <a:bodyPr wrap="square"/>
                    <a:lstStyle/>
                    <a:p>
                      <a:pPr algn="l"/>
                      <a:r>
                        <a:rPr sz="1100" b="0">
                          <a:solidFill>
                            <a:srgbClr val="101828"/>
                          </a:solidFill>
                          <a:latin typeface="Calibri"/>
                        </a:rPr>
                        <a:t>Hypercare (x5 waves)</a:t>
                      </a:r>
                    </a:p>
                  </a:txBody>
                  <a:tcPr marL="45720" marR="45720" marT="18288" marB="18288">
                    <a:solidFill>
                      <a:srgbClr val="F2F4F7"/>
                    </a:solidFill>
                  </a:tcPr>
                </a:tc>
                <a:tc>
                  <a:txBody>
                    <a:bodyPr wrap="square"/>
                    <a:lstStyle/>
                    <a:p>
                      <a:pPr algn="l"/>
                      <a:r>
                        <a:rPr sz="1100" b="0">
                          <a:solidFill>
                            <a:srgbClr val="101828"/>
                          </a:solidFill>
                          <a:latin typeface="Calibri"/>
                        </a:rPr>
                        <a:t>15</a:t>
                      </a:r>
                    </a:p>
                  </a:txBody>
                  <a:tcPr marL="45720" marR="45720" marT="18288" marB="18288">
                    <a:solidFill>
                      <a:srgbClr val="F2F4F7"/>
                    </a:solidFill>
                  </a:tcPr>
                </a:tc>
                <a:tc>
                  <a:txBody>
                    <a:bodyPr wrap="square"/>
                    <a:lstStyle/>
                    <a:p>
                      <a:pPr algn="l"/>
                      <a:r>
                        <a:rPr sz="1100" b="0">
                          <a:solidFill>
                            <a:srgbClr val="101828"/>
                          </a:solidFill>
                          <a:latin typeface="Calibri"/>
                        </a:rPr>
                        <a:t>10%</a:t>
                      </a:r>
                    </a:p>
                  </a:txBody>
                  <a:tcPr marL="45720" marR="45720" marT="18288" marB="18288">
                    <a:solidFill>
                      <a:srgbClr val="F2F4F7"/>
                    </a:solidFill>
                  </a:tcPr>
                </a:tc>
              </a:tr>
              <a:tr h="351692">
                <a:tc>
                  <a:txBody>
                    <a:bodyPr wrap="square"/>
                    <a:lstStyle/>
                    <a:p>
                      <a:pPr algn="l"/>
                      <a:r>
                        <a:rPr sz="1100" b="0">
                          <a:solidFill>
                            <a:srgbClr val="101828"/>
                          </a:solidFill>
                          <a:latin typeface="Calibri"/>
                        </a:rPr>
                        <a:t>WS11</a:t>
                      </a:r>
                    </a:p>
                  </a:txBody>
                  <a:tcPr marL="45720" marR="45720" marT="18288" marB="18288">
                    <a:solidFill>
                      <a:srgbClr val="FFFFFF"/>
                    </a:solidFill>
                  </a:tcPr>
                </a:tc>
                <a:tc>
                  <a:txBody>
                    <a:bodyPr wrap="square"/>
                    <a:lstStyle/>
                    <a:p>
                      <a:pPr algn="l"/>
                      <a:r>
                        <a:rPr sz="1100" b="0">
                          <a:solidFill>
                            <a:srgbClr val="101828"/>
                          </a:solidFill>
                          <a:latin typeface="Calibri"/>
                        </a:rPr>
                        <a:t>Contingency (10%)</a:t>
                      </a:r>
                    </a:p>
                  </a:txBody>
                  <a:tcPr marL="45720" marR="45720" marT="18288" marB="18288">
                    <a:solidFill>
                      <a:srgbClr val="FFFFFF"/>
                    </a:solidFill>
                  </a:tcPr>
                </a:tc>
                <a:tc>
                  <a:txBody>
                    <a:bodyPr wrap="square"/>
                    <a:lstStyle/>
                    <a:p>
                      <a:pPr algn="l"/>
                      <a:r>
                        <a:rPr sz="1100" b="0">
                          <a:solidFill>
                            <a:srgbClr val="101828"/>
                          </a:solidFill>
                          <a:latin typeface="Calibri"/>
                        </a:rPr>
                        <a:t>10</a:t>
                      </a:r>
                    </a:p>
                  </a:txBody>
                  <a:tcPr marL="45720" marR="45720" marT="18288" marB="18288">
                    <a:solidFill>
                      <a:srgbClr val="FFFFFF"/>
                    </a:solidFill>
                  </a:tcPr>
                </a:tc>
                <a:tc>
                  <a:txBody>
                    <a:bodyPr wrap="square"/>
                    <a:lstStyle/>
                    <a:p>
                      <a:pPr algn="l"/>
                      <a:r>
                        <a:rPr sz="1100" b="0">
                          <a:solidFill>
                            <a:srgbClr val="101828"/>
                          </a:solidFill>
                          <a:latin typeface="Calibri"/>
                        </a:rPr>
                        <a:t>7%</a:t>
                      </a:r>
                    </a:p>
                  </a:txBody>
                  <a:tcPr marL="45720" marR="45720" marT="18288" marB="18288">
                    <a:solidFill>
                      <a:srgbClr val="FFFFFF"/>
                    </a:solidFill>
                  </a:tcPr>
                </a:tc>
              </a:tr>
              <a:tr h="351696">
                <a:tc>
                  <a:txBody>
                    <a:bodyPr wrap="square"/>
                    <a:lstStyle/>
                    <a:p>
                      <a:pPr algn="l"/>
                    </a:p>
                  </a:txBody>
                  <a:tcPr marL="45720" marR="45720" marT="18288" marB="18288">
                    <a:solidFill>
                      <a:srgbClr val="F2F4F7"/>
                    </a:solidFill>
                  </a:tcPr>
                </a:tc>
                <a:tc>
                  <a:txBody>
                    <a:bodyPr wrap="square"/>
                    <a:lstStyle/>
                    <a:p>
                      <a:pPr algn="l"/>
                      <a:r>
                        <a:rPr sz="1100" b="0">
                          <a:solidFill>
                            <a:srgbClr val="101828"/>
                          </a:solidFill>
                          <a:latin typeface="Calibri"/>
                        </a:rPr>
                        <a:t>TOTAL</a:t>
                      </a:r>
                    </a:p>
                  </a:txBody>
                  <a:tcPr marL="45720" marR="45720" marT="18288" marB="18288">
                    <a:solidFill>
                      <a:srgbClr val="F2F4F7"/>
                    </a:solidFill>
                  </a:tcPr>
                </a:tc>
                <a:tc>
                  <a:txBody>
                    <a:bodyPr wrap="square"/>
                    <a:lstStyle/>
                    <a:p>
                      <a:pPr algn="l"/>
                      <a:r>
                        <a:rPr sz="1100" b="0">
                          <a:solidFill>
                            <a:srgbClr val="101828"/>
                          </a:solidFill>
                          <a:latin typeface="Calibri"/>
                        </a:rPr>
                        <a:t>150</a:t>
                      </a:r>
                    </a:p>
                  </a:txBody>
                  <a:tcPr marL="45720" marR="45720" marT="18288" marB="18288">
                    <a:solidFill>
                      <a:srgbClr val="F2F4F7"/>
                    </a:solidFill>
                  </a:tcPr>
                </a:tc>
                <a:tc>
                  <a:txBody>
                    <a:bodyPr wrap="square"/>
                    <a:lstStyle/>
                    <a:p>
                      <a:pPr algn="l"/>
                      <a:r>
                        <a:rPr sz="1100" b="0">
                          <a:solidFill>
                            <a:srgbClr val="101828"/>
                          </a:solidFill>
                          <a:latin typeface="Calibri"/>
                        </a:rPr>
                        <a:t>100%</a:t>
                      </a:r>
                    </a:p>
                  </a:txBody>
                  <a:tcPr marL="45720" marR="45720" marT="18288" marB="18288">
                    <a:solidFill>
                      <a:srgbClr val="F2F4F7"/>
                    </a:solidFill>
                  </a:tcPr>
                </a:tc>
              </a:tr>
            </a:tbl>
          </a:graphicData>
        </a:graphic>
      </p:graphicFrame>
      <p:sp>
        <p:nvSpPr>
          <p:cNvPr id="8" name="Rectangle 7"/>
          <p:cNvSpPr/>
          <p:nvPr/>
        </p:nvSpPr>
        <p:spPr>
          <a:xfrm>
            <a:off x="7955279" y="1051560"/>
            <a:ext cx="3840480" cy="4572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051560"/>
            <a:ext cx="3840480" cy="4114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79" y="1051560"/>
            <a:ext cx="3840480" cy="411480"/>
          </a:xfrm>
          <a:prstGeom prst="rect">
            <a:avLst/>
          </a:prstGeom>
          <a:noFill/>
        </p:spPr>
        <p:txBody>
          <a:bodyPr wrap="square" lIns="45720" rIns="45720" tIns="18288" bIns="18288" anchor="ctr">
            <a:spAutoFit/>
          </a:bodyPr>
          <a:lstStyle/>
          <a:p>
            <a:pPr algn="ctr"/>
            <a:r>
              <a:rPr sz="1200" b="1">
                <a:solidFill>
                  <a:srgbClr val="FFFFFF"/>
                </a:solidFill>
                <a:latin typeface="Calibri"/>
              </a:rPr>
              <a:t>Top Effort Drivers</a:t>
            </a:r>
          </a:p>
        </p:txBody>
      </p:sp>
      <p:sp>
        <p:nvSpPr>
          <p:cNvPr id="11" name="TextBox 10"/>
          <p:cNvSpPr txBox="1"/>
          <p:nvPr/>
        </p:nvSpPr>
        <p:spPr>
          <a:xfrm>
            <a:off x="8092440" y="1554480"/>
            <a:ext cx="3657600" cy="3931920"/>
          </a:xfrm>
          <a:prstGeom prst="rect">
            <a:avLst/>
          </a:prstGeom>
          <a:noFill/>
        </p:spPr>
        <p:txBody>
          <a:bodyPr wrap="square" lIns="45720" rIns="45720" tIns="18288" bIns="18288" anchor="t">
            <a:spAutoFit/>
          </a:bodyPr>
          <a:lstStyle/>
          <a:p>
            <a:pPr algn="l"/>
            <a:r>
              <a:rPr sz="1100" b="0">
                <a:solidFill>
                  <a:srgbClr val="101828"/>
                </a:solidFill>
                <a:latin typeface="Calibri"/>
              </a:rPr>
              <a:t>1. PMO + Repo Migration (25 p-days each)</a:t>
            </a:r>
          </a:p>
          <a:p>
            <a:pPr algn="l"/>
            <a:r>
              <a:rPr sz="1100" b="0">
                <a:solidFill>
                  <a:srgbClr val="101828"/>
                </a:solidFill>
                <a:latin typeface="Calibri"/>
              </a:rPr>
              <a:t>   Largest cost centres</a:t>
            </a:r>
          </a:p>
          <a:p>
            <a:pPr algn="l"/>
            <a:r>
              <a:rPr sz="1100" b="0">
                <a:solidFill>
                  <a:srgbClr val="101828"/>
                </a:solidFill>
                <a:latin typeface="Calibri"/>
              </a:rPr>
              <a:t/>
            </a:r>
          </a:p>
          <a:p>
            <a:pPr algn="l"/>
            <a:r>
              <a:rPr sz="1100" b="0">
                <a:solidFill>
                  <a:srgbClr val="101828"/>
                </a:solidFill>
                <a:latin typeface="Calibri"/>
              </a:rPr>
              <a:t>2. Pipeline Re-pointing (20 p-days)</a:t>
            </a:r>
          </a:p>
          <a:p>
            <a:pPr algn="l"/>
            <a:r>
              <a:rPr sz="1100" b="0">
                <a:solidFill>
                  <a:srgbClr val="101828"/>
                </a:solidFill>
                <a:latin typeface="Calibri"/>
              </a:rPr>
              <a:t>   Higher if Classic-pipeline heavy</a:t>
            </a:r>
          </a:p>
          <a:p>
            <a:pPr algn="l"/>
            <a:r>
              <a:rPr sz="1100" b="0">
                <a:solidFill>
                  <a:srgbClr val="101828"/>
                </a:solidFill>
                <a:latin typeface="Calibri"/>
              </a:rPr>
              <a:t/>
            </a:r>
          </a:p>
          <a:p>
            <a:pPr algn="l"/>
            <a:r>
              <a:rPr sz="1100" b="0">
                <a:solidFill>
                  <a:srgbClr val="101828"/>
                </a:solidFill>
                <a:latin typeface="Calibri"/>
              </a:rPr>
              <a:t>3. Comms &amp; Training (15 p-days)</a:t>
            </a:r>
          </a:p>
          <a:p>
            <a:pPr algn="l"/>
            <a:r>
              <a:rPr sz="1100" b="0">
                <a:solidFill>
                  <a:srgbClr val="101828"/>
                </a:solidFill>
                <a:latin typeface="Calibri"/>
              </a:rPr>
              <a:t>   Underestimating this is the #1</a:t>
            </a:r>
          </a:p>
          <a:p>
            <a:pPr algn="l"/>
            <a:r>
              <a:rPr sz="1100" b="0">
                <a:solidFill>
                  <a:srgbClr val="101828"/>
                </a:solidFill>
                <a:latin typeface="Calibri"/>
              </a:rPr>
              <a:t>   reason large migrations slip</a:t>
            </a:r>
          </a:p>
          <a:p>
            <a:pPr algn="l"/>
            <a:r>
              <a:rPr sz="1100" b="0">
                <a:solidFill>
                  <a:srgbClr val="101828"/>
                </a:solidFill>
                <a:latin typeface="Calibri"/>
              </a:rPr>
              <a:t/>
            </a:r>
          </a:p>
          <a:p>
            <a:pPr algn="l"/>
            <a:r>
              <a:rPr sz="1100" b="0">
                <a:solidFill>
                  <a:srgbClr val="101828"/>
                </a:solidFill>
                <a:latin typeface="Calibri"/>
              </a:rPr>
              <a:t>4. Hypercare (15 p-days)</a:t>
            </a:r>
          </a:p>
          <a:p>
            <a:pPr algn="l"/>
            <a:r>
              <a:rPr sz="1100" b="0">
                <a:solidFill>
                  <a:srgbClr val="101828"/>
                </a:solidFill>
                <a:latin typeface="Calibri"/>
              </a:rPr>
              <a:t>   Cap concurrent waves at 2</a:t>
            </a:r>
          </a:p>
          <a:p>
            <a:pPr algn="l"/>
            <a:r>
              <a:rPr sz="1100" b="0">
                <a:solidFill>
                  <a:srgbClr val="101828"/>
                </a:solidFill>
                <a:latin typeface="Calibri"/>
              </a:rPr>
              <a:t/>
            </a:r>
          </a:p>
          <a:p>
            <a:pPr algn="l"/>
            <a:r>
              <a:rPr sz="1100" b="0">
                <a:solidFill>
                  <a:srgbClr val="101828"/>
                </a:solidFill>
                <a:latin typeface="Calibri"/>
              </a:rPr>
              <a:t>5. IAM (14 p-days)</a:t>
            </a:r>
          </a:p>
          <a:p>
            <a:pPr algn="l"/>
            <a:r>
              <a:rPr sz="1100" b="0">
                <a:solidFill>
                  <a:srgbClr val="101828"/>
                </a:solidFill>
                <a:latin typeface="Calibri"/>
              </a:rPr>
              <a:t>   Critical path -- highest schedule</a:t>
            </a:r>
          </a:p>
          <a:p>
            <a:pPr algn="l"/>
            <a:r>
              <a:rPr sz="1100" b="0">
                <a:solidFill>
                  <a:srgbClr val="101828"/>
                </a:solidFill>
                <a:latin typeface="Calibri"/>
              </a:rPr>
              <a:t>   risk despite lower effort</a:t>
            </a:r>
          </a:p>
        </p:txBody>
      </p:sp>
      <p:sp>
        <p:nvSpPr>
          <p:cNvPr id="12" name="TextBox 11"/>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13" name="TextBox 12"/>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L1 Plan - Milestones</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Five sequential stages with explicit exit gates</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365760" y="1097280"/>
          <a:ext cx="11430000" cy="2560320"/>
        </p:xfrm>
        <a:graphic>
          <a:graphicData uri="http://schemas.openxmlformats.org/drawingml/2006/table">
            <a:tbl>
              <a:tblPr firstRow="1" bandRow="1">
                <a:tableStyleId>{5C22544A-7EE6-4342-B048-85BDC9FD1C3A}</a:tableStyleId>
              </a:tblPr>
              <a:tblGrid>
                <a:gridCol w="476250"/>
                <a:gridCol w="2857500"/>
                <a:gridCol w="6667500"/>
                <a:gridCol w="1428750"/>
              </a:tblGrid>
              <a:tr h="426720">
                <a:tc>
                  <a:txBody>
                    <a:bodyPr wrap="square"/>
                    <a:lstStyle/>
                    <a:p>
                      <a:pPr algn="l"/>
                      <a:r>
                        <a:rPr sz="1100" b="1">
                          <a:solidFill>
                            <a:srgbClr val="FFFFFF"/>
                          </a:solidFill>
                          <a:latin typeface="Calibri"/>
                        </a:rPr>
                        <a:t>#</a:t>
                      </a:r>
                    </a:p>
                  </a:txBody>
                  <a:tcPr marL="45720" marR="45720" marT="18288" marB="18288">
                    <a:solidFill>
                      <a:srgbClr val="1F4D42"/>
                    </a:solidFill>
                  </a:tcPr>
                </a:tc>
                <a:tc>
                  <a:txBody>
                    <a:bodyPr wrap="square"/>
                    <a:lstStyle/>
                    <a:p>
                      <a:pPr algn="l"/>
                      <a:r>
                        <a:rPr sz="1100" b="1">
                          <a:solidFill>
                            <a:srgbClr val="FFFFFF"/>
                          </a:solidFill>
                          <a:latin typeface="Calibri"/>
                        </a:rPr>
                        <a:t>Milestone</a:t>
                      </a:r>
                    </a:p>
                  </a:txBody>
                  <a:tcPr marL="45720" marR="45720" marT="18288" marB="18288">
                    <a:solidFill>
                      <a:srgbClr val="1F4D42"/>
                    </a:solidFill>
                  </a:tcPr>
                </a:tc>
                <a:tc>
                  <a:txBody>
                    <a:bodyPr wrap="square"/>
                    <a:lstStyle/>
                    <a:p>
                      <a:pPr algn="l"/>
                      <a:r>
                        <a:rPr sz="1100" b="1">
                          <a:solidFill>
                            <a:srgbClr val="FFFFFF"/>
                          </a:solidFill>
                          <a:latin typeface="Calibri"/>
                        </a:rPr>
                        <a:t>Exit Gate</a:t>
                      </a:r>
                    </a:p>
                  </a:txBody>
                  <a:tcPr marL="45720" marR="45720" marT="18288" marB="18288">
                    <a:solidFill>
                      <a:srgbClr val="1F4D42"/>
                    </a:solidFill>
                  </a:tcPr>
                </a:tc>
                <a:tc>
                  <a:txBody>
                    <a:bodyPr wrap="square"/>
                    <a:lstStyle/>
                    <a:p>
                      <a:pPr algn="l"/>
                      <a:r>
                        <a:rPr sz="1100" b="1">
                          <a:solidFill>
                            <a:srgbClr val="FFFFFF"/>
                          </a:solidFill>
                          <a:latin typeface="Calibri"/>
                        </a:rPr>
                        <a:t>Calendar Week</a:t>
                      </a:r>
                    </a:p>
                  </a:txBody>
                  <a:tcPr marL="45720" marR="45720" marT="18288" marB="18288">
                    <a:solidFill>
                      <a:srgbClr val="1F4D42"/>
                    </a:solidFill>
                  </a:tcPr>
                </a:tc>
              </a:tr>
              <a:tr h="426720">
                <a:tc>
                  <a:txBody>
                    <a:bodyPr wrap="square"/>
                    <a:lstStyle/>
                    <a:p>
                      <a:pPr algn="l"/>
                      <a:r>
                        <a:rPr sz="1100" b="0">
                          <a:solidFill>
                            <a:srgbClr val="101828"/>
                          </a:solidFill>
                          <a:latin typeface="Calibri"/>
                        </a:rPr>
                        <a:t>M1</a:t>
                      </a:r>
                    </a:p>
                  </a:txBody>
                  <a:tcPr marL="45720" marR="45720" marT="18288" marB="18288">
                    <a:solidFill>
                      <a:srgbClr val="FFFFFF"/>
                    </a:solidFill>
                  </a:tcPr>
                </a:tc>
                <a:tc>
                  <a:txBody>
                    <a:bodyPr wrap="square"/>
                    <a:lstStyle/>
                    <a:p>
                      <a:pPr algn="l"/>
                      <a:r>
                        <a:rPr sz="1100" b="0">
                          <a:solidFill>
                            <a:srgbClr val="101828"/>
                          </a:solidFill>
                          <a:latin typeface="Calibri"/>
                        </a:rPr>
                        <a:t>Mobilise &amp; Discovery complete</a:t>
                      </a:r>
                    </a:p>
                  </a:txBody>
                  <a:tcPr marL="45720" marR="45720" marT="18288" marB="18288">
                    <a:solidFill>
                      <a:srgbClr val="FFFFFF"/>
                    </a:solidFill>
                  </a:tcPr>
                </a:tc>
                <a:tc>
                  <a:txBody>
                    <a:bodyPr wrap="square"/>
                    <a:lstStyle/>
                    <a:p>
                      <a:pPr algn="l"/>
                      <a:r>
                        <a:rPr sz="1100" b="0">
                          <a:solidFill>
                            <a:srgbClr val="101828"/>
                          </a:solidFill>
                          <a:latin typeface="Calibri"/>
                        </a:rPr>
                        <a:t>Steering sign-off on scope, wave plan, risk register</a:t>
                      </a:r>
                    </a:p>
                  </a:txBody>
                  <a:tcPr marL="45720" marR="45720" marT="18288" marB="18288">
                    <a:solidFill>
                      <a:srgbClr val="FFFFFF"/>
                    </a:solidFill>
                  </a:tcPr>
                </a:tc>
                <a:tc>
                  <a:txBody>
                    <a:bodyPr wrap="square"/>
                    <a:lstStyle/>
                    <a:p>
                      <a:pPr algn="l"/>
                      <a:r>
                        <a:rPr sz="1100" b="0">
                          <a:solidFill>
                            <a:srgbClr val="101828"/>
                          </a:solidFill>
                          <a:latin typeface="Calibri"/>
                        </a:rPr>
                        <a:t>End of Week 2</a:t>
                      </a:r>
                    </a:p>
                  </a:txBody>
                  <a:tcPr marL="45720" marR="45720" marT="18288" marB="18288">
                    <a:solidFill>
                      <a:srgbClr val="FFFFFF"/>
                    </a:solidFill>
                  </a:tcPr>
                </a:tc>
              </a:tr>
              <a:tr h="426720">
                <a:tc>
                  <a:txBody>
                    <a:bodyPr wrap="square"/>
                    <a:lstStyle/>
                    <a:p>
                      <a:pPr algn="l"/>
                      <a:r>
                        <a:rPr sz="1100" b="0">
                          <a:solidFill>
                            <a:srgbClr val="101828"/>
                          </a:solidFill>
                          <a:latin typeface="Calibri"/>
                        </a:rPr>
                        <a:t>M2</a:t>
                      </a:r>
                    </a:p>
                  </a:txBody>
                  <a:tcPr marL="45720" marR="45720" marT="18288" marB="18288">
                    <a:solidFill>
                      <a:srgbClr val="F2F4F7"/>
                    </a:solidFill>
                  </a:tcPr>
                </a:tc>
                <a:tc>
                  <a:txBody>
                    <a:bodyPr wrap="square"/>
                    <a:lstStyle/>
                    <a:p>
                      <a:pPr algn="l"/>
                      <a:r>
                        <a:rPr sz="1100" b="0">
                          <a:solidFill>
                            <a:srgbClr val="101828"/>
                          </a:solidFill>
                          <a:latin typeface="Calibri"/>
                        </a:rPr>
                        <a:t>Identity Foundation live</a:t>
                      </a:r>
                    </a:p>
                  </a:txBody>
                  <a:tcPr marL="45720" marR="45720" marT="18288" marB="18288">
                    <a:solidFill>
                      <a:srgbClr val="F2F4F7"/>
                    </a:solidFill>
                  </a:tcPr>
                </a:tc>
                <a:tc>
                  <a:txBody>
                    <a:bodyPr wrap="square"/>
                    <a:lstStyle/>
                    <a:p>
                      <a:pPr algn="l"/>
                      <a:r>
                        <a:rPr sz="1100" b="0">
                          <a:solidFill>
                            <a:srgbClr val="101828"/>
                          </a:solidFill>
                          <a:latin typeface="Calibri"/>
                        </a:rPr>
                        <a:t>EMU + SAML + SCIM in production, &gt;=95% users provisionable</a:t>
                      </a:r>
                    </a:p>
                  </a:txBody>
                  <a:tcPr marL="45720" marR="45720" marT="18288" marB="18288">
                    <a:solidFill>
                      <a:srgbClr val="F2F4F7"/>
                    </a:solidFill>
                  </a:tcPr>
                </a:tc>
                <a:tc>
                  <a:txBody>
                    <a:bodyPr wrap="square"/>
                    <a:lstStyle/>
                    <a:p>
                      <a:pPr algn="l"/>
                      <a:r>
                        <a:rPr sz="1100" b="0">
                          <a:solidFill>
                            <a:srgbClr val="101828"/>
                          </a:solidFill>
                          <a:latin typeface="Calibri"/>
                        </a:rPr>
                        <a:t>End of Week 4</a:t>
                      </a:r>
                    </a:p>
                  </a:txBody>
                  <a:tcPr marL="45720" marR="45720" marT="18288" marB="18288">
                    <a:solidFill>
                      <a:srgbClr val="F2F4F7"/>
                    </a:solidFill>
                  </a:tcPr>
                </a:tc>
              </a:tr>
              <a:tr h="426720">
                <a:tc>
                  <a:txBody>
                    <a:bodyPr wrap="square"/>
                    <a:lstStyle/>
                    <a:p>
                      <a:pPr algn="l"/>
                      <a:r>
                        <a:rPr sz="1100" b="0">
                          <a:solidFill>
                            <a:srgbClr val="101828"/>
                          </a:solidFill>
                          <a:latin typeface="Calibri"/>
                        </a:rPr>
                        <a:t>M3</a:t>
                      </a:r>
                    </a:p>
                  </a:txBody>
                  <a:tcPr marL="45720" marR="45720" marT="18288" marB="18288">
                    <a:solidFill>
                      <a:srgbClr val="FFFFFF"/>
                    </a:solidFill>
                  </a:tcPr>
                </a:tc>
                <a:tc>
                  <a:txBody>
                    <a:bodyPr wrap="square"/>
                    <a:lstStyle/>
                    <a:p>
                      <a:pPr algn="l"/>
                      <a:r>
                        <a:rPr sz="1100" b="0">
                          <a:solidFill>
                            <a:srgbClr val="101828"/>
                          </a:solidFill>
                          <a:latin typeface="Calibri"/>
                        </a:rPr>
                        <a:t>Pilot Wave complete</a:t>
                      </a:r>
                    </a:p>
                  </a:txBody>
                  <a:tcPr marL="45720" marR="45720" marT="18288" marB="18288">
                    <a:solidFill>
                      <a:srgbClr val="FFFFFF"/>
                    </a:solidFill>
                  </a:tcPr>
                </a:tc>
                <a:tc>
                  <a:txBody>
                    <a:bodyPr wrap="square"/>
                    <a:lstStyle/>
                    <a:p>
                      <a:pPr algn="l"/>
                      <a:r>
                        <a:rPr sz="1100" b="0">
                          <a:solidFill>
                            <a:srgbClr val="101828"/>
                          </a:solidFill>
                          <a:latin typeface="Calibri"/>
                        </a:rPr>
                        <a:t>5 repos migrated, Boards link verified, pipelines re-pointed, retrospective signed off</a:t>
                      </a:r>
                    </a:p>
                  </a:txBody>
                  <a:tcPr marL="45720" marR="45720" marT="18288" marB="18288">
                    <a:solidFill>
                      <a:srgbClr val="FFFFFF"/>
                    </a:solidFill>
                  </a:tcPr>
                </a:tc>
                <a:tc>
                  <a:txBody>
                    <a:bodyPr wrap="square"/>
                    <a:lstStyle/>
                    <a:p>
                      <a:pPr algn="l"/>
                      <a:r>
                        <a:rPr sz="1100" b="0">
                          <a:solidFill>
                            <a:srgbClr val="101828"/>
                          </a:solidFill>
                          <a:latin typeface="Calibri"/>
                        </a:rPr>
                        <a:t>End of Week 6</a:t>
                      </a:r>
                    </a:p>
                  </a:txBody>
                  <a:tcPr marL="45720" marR="45720" marT="18288" marB="18288">
                    <a:solidFill>
                      <a:srgbClr val="FFFFFF"/>
                    </a:solidFill>
                  </a:tcPr>
                </a:tc>
              </a:tr>
              <a:tr h="426720">
                <a:tc>
                  <a:txBody>
                    <a:bodyPr wrap="square"/>
                    <a:lstStyle/>
                    <a:p>
                      <a:pPr algn="l"/>
                      <a:r>
                        <a:rPr sz="1100" b="0">
                          <a:solidFill>
                            <a:srgbClr val="101828"/>
                          </a:solidFill>
                          <a:latin typeface="Calibri"/>
                        </a:rPr>
                        <a:t>M4</a:t>
                      </a:r>
                    </a:p>
                  </a:txBody>
                  <a:tcPr marL="45720" marR="45720" marT="18288" marB="18288">
                    <a:solidFill>
                      <a:srgbClr val="F2F4F7"/>
                    </a:solidFill>
                  </a:tcPr>
                </a:tc>
                <a:tc>
                  <a:txBody>
                    <a:bodyPr wrap="square"/>
                    <a:lstStyle/>
                    <a:p>
                      <a:pPr algn="l"/>
                      <a:r>
                        <a:rPr sz="1100" b="0">
                          <a:solidFill>
                            <a:srgbClr val="101828"/>
                          </a:solidFill>
                          <a:latin typeface="Calibri"/>
                        </a:rPr>
                        <a:t>Production Waves complete</a:t>
                      </a:r>
                    </a:p>
                  </a:txBody>
                  <a:tcPr marL="45720" marR="45720" marT="18288" marB="18288">
                    <a:solidFill>
                      <a:srgbClr val="F2F4F7"/>
                    </a:solidFill>
                  </a:tcPr>
                </a:tc>
                <a:tc>
                  <a:txBody>
                    <a:bodyPr wrap="square"/>
                    <a:lstStyle/>
                    <a:p>
                      <a:pPr algn="l"/>
                      <a:r>
                        <a:rPr sz="1100" b="0">
                          <a:solidFill>
                            <a:srgbClr val="101828"/>
                          </a:solidFill>
                          <a:latin typeface="Calibri"/>
                        </a:rPr>
                        <a:t>All 100 repos in GHE, all in-scope pipelines re-pointed and green</a:t>
                      </a:r>
                    </a:p>
                  </a:txBody>
                  <a:tcPr marL="45720" marR="45720" marT="18288" marB="18288">
                    <a:solidFill>
                      <a:srgbClr val="F2F4F7"/>
                    </a:solidFill>
                  </a:tcPr>
                </a:tc>
                <a:tc>
                  <a:txBody>
                    <a:bodyPr wrap="square"/>
                    <a:lstStyle/>
                    <a:p>
                      <a:pPr algn="l"/>
                      <a:r>
                        <a:rPr sz="1100" b="0">
                          <a:solidFill>
                            <a:srgbClr val="101828"/>
                          </a:solidFill>
                          <a:latin typeface="Calibri"/>
                        </a:rPr>
                        <a:t>End of Week 9</a:t>
                      </a:r>
                    </a:p>
                  </a:txBody>
                  <a:tcPr marL="45720" marR="45720" marT="18288" marB="18288">
                    <a:solidFill>
                      <a:srgbClr val="F2F4F7"/>
                    </a:solidFill>
                  </a:tcPr>
                </a:tc>
              </a:tr>
              <a:tr h="426720">
                <a:tc>
                  <a:txBody>
                    <a:bodyPr wrap="square"/>
                    <a:lstStyle/>
                    <a:p>
                      <a:pPr algn="l"/>
                      <a:r>
                        <a:rPr sz="1100" b="0">
                          <a:solidFill>
                            <a:srgbClr val="101828"/>
                          </a:solidFill>
                          <a:latin typeface="Calibri"/>
                        </a:rPr>
                        <a:t>M5</a:t>
                      </a:r>
                    </a:p>
                  </a:txBody>
                  <a:tcPr marL="45720" marR="45720" marT="18288" marB="18288">
                    <a:solidFill>
                      <a:srgbClr val="FFFFFF"/>
                    </a:solidFill>
                  </a:tcPr>
                </a:tc>
                <a:tc>
                  <a:txBody>
                    <a:bodyPr wrap="square"/>
                    <a:lstStyle/>
                    <a:p>
                      <a:pPr algn="l"/>
                      <a:r>
                        <a:rPr sz="1100" b="0">
                          <a:solidFill>
                            <a:srgbClr val="101828"/>
                          </a:solidFill>
                          <a:latin typeface="Calibri"/>
                        </a:rPr>
                        <a:t>Phase 1 closed</a:t>
                      </a:r>
                    </a:p>
                  </a:txBody>
                  <a:tcPr marL="45720" marR="45720" marT="18288" marB="18288">
                    <a:solidFill>
                      <a:srgbClr val="FFFFFF"/>
                    </a:solidFill>
                  </a:tcPr>
                </a:tc>
                <a:tc>
                  <a:txBody>
                    <a:bodyPr wrap="square"/>
                    <a:lstStyle/>
                    <a:p>
                      <a:pPr algn="l"/>
                      <a:r>
                        <a:rPr sz="1100" b="0">
                          <a:solidFill>
                            <a:srgbClr val="101828"/>
                          </a:solidFill>
                          <a:latin typeface="Calibri"/>
                        </a:rPr>
                        <a:t>Hypercare exited, ADO repos archived, lessons logged, Phase 2 mandate decision taken</a:t>
                      </a:r>
                    </a:p>
                  </a:txBody>
                  <a:tcPr marL="45720" marR="45720" marT="18288" marB="18288">
                    <a:solidFill>
                      <a:srgbClr val="FFFFFF"/>
                    </a:solidFill>
                  </a:tcPr>
                </a:tc>
                <a:tc>
                  <a:txBody>
                    <a:bodyPr wrap="square"/>
                    <a:lstStyle/>
                    <a:p>
                      <a:pPr algn="l"/>
                      <a:r>
                        <a:rPr sz="1100" b="0">
                          <a:solidFill>
                            <a:srgbClr val="101828"/>
                          </a:solidFill>
                          <a:latin typeface="Calibri"/>
                        </a:rPr>
                        <a:t>End of Week 10</a:t>
                      </a:r>
                    </a:p>
                  </a:txBody>
                  <a:tcPr marL="45720" marR="45720" marT="18288" marB="18288">
                    <a:solidFill>
                      <a:srgbClr val="FFFFFF"/>
                    </a:solidFill>
                  </a:tcPr>
                </a:tc>
              </a:tr>
            </a:tbl>
          </a:graphicData>
        </a:graphic>
      </p:graphicFrame>
      <p:sp>
        <p:nvSpPr>
          <p:cNvPr id="8" name="TextBox 7"/>
          <p:cNvSpPr txBox="1"/>
          <p:nvPr/>
        </p:nvSpPr>
        <p:spPr>
          <a:xfrm>
            <a:off x="365760" y="3749039"/>
            <a:ext cx="11430000" cy="365760"/>
          </a:xfrm>
          <a:prstGeom prst="rect">
            <a:avLst/>
          </a:prstGeom>
          <a:noFill/>
        </p:spPr>
        <p:txBody>
          <a:bodyPr wrap="square" lIns="45720" rIns="45720" tIns="18288" bIns="18288" anchor="t">
            <a:spAutoFit/>
          </a:bodyPr>
          <a:lstStyle/>
          <a:p>
            <a:pPr algn="l"/>
            <a:r>
              <a:rPr sz="1400" b="1">
                <a:solidFill>
                  <a:srgbClr val="1F4D42"/>
                </a:solidFill>
                <a:latin typeface="Calibri"/>
              </a:rPr>
              <a:t>Critical Path</a:t>
            </a:r>
          </a:p>
        </p:txBody>
      </p:sp>
      <p:sp>
        <p:nvSpPr>
          <p:cNvPr id="9" name="Rectangle 8"/>
          <p:cNvSpPr/>
          <p:nvPr/>
        </p:nvSpPr>
        <p:spPr>
          <a:xfrm>
            <a:off x="365760" y="4206240"/>
            <a:ext cx="1392516"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4206240"/>
            <a:ext cx="1392516" cy="822960"/>
          </a:xfrm>
          <a:prstGeom prst="rect">
            <a:avLst/>
          </a:prstGeom>
          <a:noFill/>
        </p:spPr>
        <p:txBody>
          <a:bodyPr wrap="square" lIns="45720" rIns="45720" tIns="18288" bIns="18288" anchor="ctr">
            <a:spAutoFit/>
          </a:bodyPr>
          <a:lstStyle/>
          <a:p>
            <a:pPr algn="ctr"/>
            <a:r>
              <a:rPr sz="1000" b="1">
                <a:solidFill>
                  <a:srgbClr val="FFFFFF"/>
                </a:solidFill>
                <a:latin typeface="Calibri"/>
              </a:rPr>
              <a:t>Sponsor sign-off</a:t>
            </a:r>
          </a:p>
        </p:txBody>
      </p:sp>
      <p:sp>
        <p:nvSpPr>
          <p:cNvPr id="11" name="Rectangle 10"/>
          <p:cNvSpPr/>
          <p:nvPr/>
        </p:nvSpPr>
        <p:spPr>
          <a:xfrm>
            <a:off x="1803996" y="4206240"/>
            <a:ext cx="1392516" cy="82296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03996" y="4206240"/>
            <a:ext cx="1392516" cy="822960"/>
          </a:xfrm>
          <a:prstGeom prst="rect">
            <a:avLst/>
          </a:prstGeom>
          <a:noFill/>
        </p:spPr>
        <p:txBody>
          <a:bodyPr wrap="square" lIns="45720" rIns="45720" tIns="18288" bIns="18288" anchor="ctr">
            <a:spAutoFit/>
          </a:bodyPr>
          <a:lstStyle/>
          <a:p>
            <a:pPr algn="ctr"/>
            <a:r>
              <a:rPr sz="1000" b="1">
                <a:solidFill>
                  <a:srgbClr val="FFFFFF"/>
                </a:solidFill>
                <a:latin typeface="Calibri"/>
              </a:rPr>
              <a:t>Discovery &amp; inventory</a:t>
            </a:r>
          </a:p>
        </p:txBody>
      </p:sp>
      <p:sp>
        <p:nvSpPr>
          <p:cNvPr id="13" name="Rectangle 12"/>
          <p:cNvSpPr/>
          <p:nvPr/>
        </p:nvSpPr>
        <p:spPr>
          <a:xfrm>
            <a:off x="3242233" y="4206240"/>
            <a:ext cx="1392516" cy="82296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2233" y="4206240"/>
            <a:ext cx="1392516" cy="822960"/>
          </a:xfrm>
          <a:prstGeom prst="rect">
            <a:avLst/>
          </a:prstGeom>
          <a:noFill/>
        </p:spPr>
        <p:txBody>
          <a:bodyPr wrap="square" lIns="45720" rIns="45720" tIns="18288" bIns="18288" anchor="ctr">
            <a:spAutoFit/>
          </a:bodyPr>
          <a:lstStyle/>
          <a:p>
            <a:pPr algn="ctr"/>
            <a:r>
              <a:rPr sz="1000" b="1">
                <a:solidFill>
                  <a:srgbClr val="FFFFFF"/>
                </a:solidFill>
                <a:latin typeface="Calibri"/>
              </a:rPr>
              <a:t>Identity foundation</a:t>
            </a:r>
          </a:p>
        </p:txBody>
      </p:sp>
      <p:sp>
        <p:nvSpPr>
          <p:cNvPr id="15" name="Rectangle 14"/>
          <p:cNvSpPr/>
          <p:nvPr/>
        </p:nvSpPr>
        <p:spPr>
          <a:xfrm>
            <a:off x="4680470" y="4206240"/>
            <a:ext cx="1392516" cy="82296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80470" y="4206240"/>
            <a:ext cx="1392516" cy="822960"/>
          </a:xfrm>
          <a:prstGeom prst="rect">
            <a:avLst/>
          </a:prstGeom>
          <a:noFill/>
        </p:spPr>
        <p:txBody>
          <a:bodyPr wrap="square" lIns="45720" rIns="45720" tIns="18288" bIns="18288" anchor="ctr">
            <a:spAutoFit/>
          </a:bodyPr>
          <a:lstStyle/>
          <a:p>
            <a:pPr algn="ctr"/>
            <a:r>
              <a:rPr sz="1000" b="1">
                <a:solidFill>
                  <a:srgbClr val="FFFFFF"/>
                </a:solidFill>
                <a:latin typeface="Calibri"/>
              </a:rPr>
              <a:t>Factory smoke test</a:t>
            </a:r>
          </a:p>
        </p:txBody>
      </p:sp>
      <p:sp>
        <p:nvSpPr>
          <p:cNvPr id="17" name="Rectangle 16"/>
          <p:cNvSpPr/>
          <p:nvPr/>
        </p:nvSpPr>
        <p:spPr>
          <a:xfrm>
            <a:off x="6118707" y="4206240"/>
            <a:ext cx="1392516" cy="82296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18707" y="4206240"/>
            <a:ext cx="1392516" cy="822960"/>
          </a:xfrm>
          <a:prstGeom prst="rect">
            <a:avLst/>
          </a:prstGeom>
          <a:noFill/>
        </p:spPr>
        <p:txBody>
          <a:bodyPr wrap="square" lIns="45720" rIns="45720" tIns="18288" bIns="18288" anchor="ctr">
            <a:spAutoFit/>
          </a:bodyPr>
          <a:lstStyle/>
          <a:p>
            <a:pPr algn="ctr"/>
            <a:r>
              <a:rPr sz="1000" b="1">
                <a:solidFill>
                  <a:srgbClr val="FFFFFF"/>
                </a:solidFill>
                <a:latin typeface="Calibri"/>
              </a:rPr>
              <a:t>Pilot wave</a:t>
            </a:r>
          </a:p>
        </p:txBody>
      </p:sp>
      <p:sp>
        <p:nvSpPr>
          <p:cNvPr id="19" name="Rectangle 18"/>
          <p:cNvSpPr/>
          <p:nvPr/>
        </p:nvSpPr>
        <p:spPr>
          <a:xfrm>
            <a:off x="7556944" y="4206240"/>
            <a:ext cx="1392516" cy="82296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6944" y="4206240"/>
            <a:ext cx="1392516" cy="822960"/>
          </a:xfrm>
          <a:prstGeom prst="rect">
            <a:avLst/>
          </a:prstGeom>
          <a:noFill/>
        </p:spPr>
        <p:txBody>
          <a:bodyPr wrap="square" lIns="45720" rIns="45720" tIns="18288" bIns="18288" anchor="ctr">
            <a:spAutoFit/>
          </a:bodyPr>
          <a:lstStyle/>
          <a:p>
            <a:pPr algn="ctr"/>
            <a:r>
              <a:rPr sz="1000" b="1">
                <a:solidFill>
                  <a:srgbClr val="FFFFFF"/>
                </a:solidFill>
                <a:latin typeface="Calibri"/>
              </a:rPr>
              <a:t>M3 gate</a:t>
            </a:r>
          </a:p>
        </p:txBody>
      </p:sp>
      <p:sp>
        <p:nvSpPr>
          <p:cNvPr id="21" name="Rectangle 20"/>
          <p:cNvSpPr/>
          <p:nvPr/>
        </p:nvSpPr>
        <p:spPr>
          <a:xfrm>
            <a:off x="8995181" y="4206240"/>
            <a:ext cx="1392516" cy="82296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95181" y="4206240"/>
            <a:ext cx="1392516" cy="822960"/>
          </a:xfrm>
          <a:prstGeom prst="rect">
            <a:avLst/>
          </a:prstGeom>
          <a:noFill/>
        </p:spPr>
        <p:txBody>
          <a:bodyPr wrap="square" lIns="45720" rIns="45720" tIns="18288" bIns="18288" anchor="ctr">
            <a:spAutoFit/>
          </a:bodyPr>
          <a:lstStyle/>
          <a:p>
            <a:pPr algn="ctr"/>
            <a:r>
              <a:rPr sz="1000" b="1">
                <a:solidFill>
                  <a:srgbClr val="FFFFFF"/>
                </a:solidFill>
                <a:latin typeface="Calibri"/>
              </a:rPr>
              <a:t>Waves 1-4 (overlap)</a:t>
            </a:r>
          </a:p>
        </p:txBody>
      </p:sp>
      <p:sp>
        <p:nvSpPr>
          <p:cNvPr id="23" name="Rectangle 22"/>
          <p:cNvSpPr/>
          <p:nvPr/>
        </p:nvSpPr>
        <p:spPr>
          <a:xfrm>
            <a:off x="10433418" y="4206240"/>
            <a:ext cx="1392516"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33418" y="4206240"/>
            <a:ext cx="1392516" cy="822960"/>
          </a:xfrm>
          <a:prstGeom prst="rect">
            <a:avLst/>
          </a:prstGeom>
          <a:noFill/>
        </p:spPr>
        <p:txBody>
          <a:bodyPr wrap="square" lIns="45720" rIns="45720" tIns="18288" bIns="18288" anchor="ctr">
            <a:spAutoFit/>
          </a:bodyPr>
          <a:lstStyle/>
          <a:p>
            <a:pPr algn="ctr"/>
            <a:r>
              <a:rPr sz="1000" b="1">
                <a:solidFill>
                  <a:srgbClr val="FFFFFF"/>
                </a:solidFill>
                <a:latin typeface="Calibri"/>
              </a:rPr>
              <a:t>M5 close</a:t>
            </a:r>
          </a:p>
        </p:txBody>
      </p:sp>
      <p:sp>
        <p:nvSpPr>
          <p:cNvPr id="25" name="Rectangle 24"/>
          <p:cNvSpPr/>
          <p:nvPr/>
        </p:nvSpPr>
        <p:spPr>
          <a:xfrm>
            <a:off x="365760" y="5394960"/>
            <a:ext cx="11430000" cy="1005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5440680"/>
            <a:ext cx="11155680" cy="274320"/>
          </a:xfrm>
          <a:prstGeom prst="rect">
            <a:avLst/>
          </a:prstGeom>
          <a:noFill/>
        </p:spPr>
        <p:txBody>
          <a:bodyPr wrap="square" lIns="45720" rIns="45720" tIns="18288" bIns="18288" anchor="t">
            <a:spAutoFit/>
          </a:bodyPr>
          <a:lstStyle/>
          <a:p>
            <a:pPr algn="l"/>
            <a:r>
              <a:rPr sz="1100" b="1">
                <a:solidFill>
                  <a:srgbClr val="B03A2E"/>
                </a:solidFill>
                <a:latin typeface="Calibri"/>
              </a:rPr>
              <a:t>Critical Path Risk</a:t>
            </a:r>
          </a:p>
        </p:txBody>
      </p:sp>
      <p:sp>
        <p:nvSpPr>
          <p:cNvPr id="27" name="TextBox 26"/>
          <p:cNvSpPr txBox="1"/>
          <p:nvPr/>
        </p:nvSpPr>
        <p:spPr>
          <a:xfrm>
            <a:off x="502920" y="5715000"/>
            <a:ext cx="11155680" cy="640080"/>
          </a:xfrm>
          <a:prstGeom prst="rect">
            <a:avLst/>
          </a:prstGeom>
          <a:noFill/>
        </p:spPr>
        <p:txBody>
          <a:bodyPr wrap="square" lIns="45720" rIns="45720" tIns="18288" bIns="18288" anchor="t">
            <a:spAutoFit/>
          </a:bodyPr>
          <a:lstStyle/>
          <a:p>
            <a:pPr algn="l"/>
            <a:r>
              <a:rPr sz="1100" b="0">
                <a:solidFill>
                  <a:srgbClr val="101828"/>
                </a:solidFill>
                <a:latin typeface="Calibri"/>
              </a:rPr>
              <a:t>The identity foundation (M2) is the longest-pole dependency.</a:t>
            </a:r>
          </a:p>
          <a:p>
            <a:pPr algn="l"/>
            <a:r>
              <a:rPr sz="1100" b="0">
                <a:solidFill>
                  <a:srgbClr val="101828"/>
                </a:solidFill>
                <a:latin typeface="Calibri"/>
              </a:rPr>
              <a:t>Any delay in MoJ Entra ID admin availability for SAML / SCIM will slip the whole program 1:1.</a:t>
            </a:r>
          </a:p>
          <a:p>
            <a:pPr algn="l"/>
            <a:r>
              <a:rPr sz="1100" b="0">
                <a:solidFill>
                  <a:srgbClr val="101828"/>
                </a:solidFill>
                <a:latin typeface="Calibri"/>
              </a:rPr>
              <a:t>Mitigation: book MoJ IAM resource in Week 1 and front-load the SCIM dry-run.</a:t>
            </a:r>
          </a:p>
        </p:txBody>
      </p:sp>
      <p:sp>
        <p:nvSpPr>
          <p:cNvPr id="28" name="TextBox 27"/>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29" name="TextBox 28"/>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L2 Plan - Workstream Activities</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Stages 0 &amp; 1: Mobilise, Discovery, Identity, Foundation</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097280"/>
            <a:ext cx="5669280" cy="4114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97280"/>
            <a:ext cx="5669280" cy="411480"/>
          </a:xfrm>
          <a:prstGeom prst="rect">
            <a:avLst/>
          </a:prstGeom>
          <a:noFill/>
        </p:spPr>
        <p:txBody>
          <a:bodyPr wrap="square" lIns="45720" rIns="45720" tIns="18288" bIns="18288" anchor="ctr">
            <a:spAutoFit/>
          </a:bodyPr>
          <a:lstStyle/>
          <a:p>
            <a:pPr algn="ctr"/>
            <a:r>
              <a:rPr sz="1200" b="1">
                <a:solidFill>
                  <a:srgbClr val="FFFFFF"/>
                </a:solidFill>
                <a:latin typeface="Calibri"/>
              </a:rPr>
              <a:t>Stage 0 - Mobilise &amp; Discovery  (W1-2, ~20 p-days)</a:t>
            </a:r>
          </a:p>
        </p:txBody>
      </p:sp>
      <p:graphicFrame>
        <p:nvGraphicFramePr>
          <p:cNvPr id="9" name="Table 8"/>
          <p:cNvGraphicFramePr>
            <a:graphicFrameLocks noGrp="1"/>
          </p:cNvGraphicFramePr>
          <p:nvPr/>
        </p:nvGraphicFramePr>
        <p:xfrm>
          <a:off x="365760" y="1554480"/>
          <a:ext cx="5669280" cy="3657600"/>
        </p:xfrm>
        <a:graphic>
          <a:graphicData uri="http://schemas.openxmlformats.org/drawingml/2006/table">
            <a:tbl>
              <a:tblPr firstRow="1" bandRow="1">
                <a:tableStyleId>{5C22544A-7EE6-4342-B048-85BDC9FD1C3A}</a:tableStyleId>
              </a:tblPr>
              <a:tblGrid>
                <a:gridCol w="4297680"/>
                <a:gridCol w="914400"/>
                <a:gridCol w="457200"/>
              </a:tblGrid>
              <a:tr h="365760">
                <a:tc>
                  <a:txBody>
                    <a:bodyPr wrap="square"/>
                    <a:lstStyle/>
                    <a:p>
                      <a:pPr algn="l"/>
                      <a:r>
                        <a:rPr sz="1000" b="1">
                          <a:solidFill>
                            <a:srgbClr val="FFFFFF"/>
                          </a:solidFill>
                          <a:latin typeface="Calibri"/>
                        </a:rPr>
                        <a:t>Activity</a:t>
                      </a:r>
                    </a:p>
                  </a:txBody>
                  <a:tcPr marL="45720" marR="45720" marT="18288" marB="18288">
                    <a:solidFill>
                      <a:srgbClr val="1F4D42"/>
                    </a:solidFill>
                  </a:tcPr>
                </a:tc>
                <a:tc>
                  <a:txBody>
                    <a:bodyPr wrap="square"/>
                    <a:lstStyle/>
                    <a:p>
                      <a:pPr algn="l"/>
                      <a:r>
                        <a:rPr sz="1000" b="1">
                          <a:solidFill>
                            <a:srgbClr val="FFFFFF"/>
                          </a:solidFill>
                          <a:latin typeface="Calibri"/>
                        </a:rPr>
                        <a:t>Owner</a:t>
                      </a:r>
                    </a:p>
                  </a:txBody>
                  <a:tcPr marL="45720" marR="45720" marT="18288" marB="18288">
                    <a:solidFill>
                      <a:srgbClr val="1F4D42"/>
                    </a:solidFill>
                  </a:tcPr>
                </a:tc>
                <a:tc>
                  <a:txBody>
                    <a:bodyPr wrap="square"/>
                    <a:lstStyle/>
                    <a:p>
                      <a:pPr algn="l"/>
                      <a:r>
                        <a:rPr sz="1000" b="1">
                          <a:solidFill>
                            <a:srgbClr val="FFFFFF"/>
                          </a:solidFill>
                          <a:latin typeface="Calibri"/>
                        </a:rPr>
                        <a:t>Days</a:t>
                      </a:r>
                    </a:p>
                  </a:txBody>
                  <a:tcPr marL="45720" marR="45720" marT="18288" marB="18288">
                    <a:solidFill>
                      <a:srgbClr val="1F4D42"/>
                    </a:solidFill>
                  </a:tcPr>
                </a:tc>
              </a:tr>
              <a:tr h="365760">
                <a:tc>
                  <a:txBody>
                    <a:bodyPr wrap="square"/>
                    <a:lstStyle/>
                    <a:p>
                      <a:pPr algn="l"/>
                      <a:r>
                        <a:rPr sz="1000" b="0">
                          <a:solidFill>
                            <a:srgbClr val="101828"/>
                          </a:solidFill>
                          <a:latin typeface="Calibri"/>
                        </a:rPr>
                        <a:t>Charter, RACI, steering setup</a:t>
                      </a:r>
                    </a:p>
                  </a:txBody>
                  <a:tcPr marL="45720" marR="45720" marT="18288" marB="18288">
                    <a:solidFill>
                      <a:srgbClr val="FFFFFF"/>
                    </a:solidFill>
                  </a:tcPr>
                </a:tc>
                <a:tc>
                  <a:txBody>
                    <a:bodyPr wrap="square"/>
                    <a:lstStyle/>
                    <a:p>
                      <a:pPr algn="l"/>
                      <a:r>
                        <a:rPr sz="1000" b="0">
                          <a:solidFill>
                            <a:srgbClr val="101828"/>
                          </a:solidFill>
                          <a:latin typeface="Calibri"/>
                        </a:rPr>
                        <a:t>PM</a:t>
                      </a:r>
                    </a:p>
                  </a:txBody>
                  <a:tcPr marL="45720" marR="45720" marT="18288" marB="18288">
                    <a:solidFill>
                      <a:srgbClr val="FFFFFF"/>
                    </a:solidFill>
                  </a:tcPr>
                </a:tc>
                <a:tc>
                  <a:txBody>
                    <a:bodyPr wrap="square"/>
                    <a:lstStyle/>
                    <a:p>
                      <a:pPr algn="l"/>
                      <a:r>
                        <a:rPr sz="1000" b="0">
                          <a:solidFill>
                            <a:srgbClr val="101828"/>
                          </a:solidFill>
                          <a:latin typeface="Calibri"/>
                        </a:rPr>
                        <a:t>2</a:t>
                      </a:r>
                    </a:p>
                  </a:txBody>
                  <a:tcPr marL="45720" marR="45720" marT="18288" marB="18288">
                    <a:solidFill>
                      <a:srgbClr val="FFFFFF"/>
                    </a:solidFill>
                  </a:tcPr>
                </a:tc>
              </a:tr>
              <a:tr h="365760">
                <a:tc>
                  <a:txBody>
                    <a:bodyPr wrap="square"/>
                    <a:lstStyle/>
                    <a:p>
                      <a:pPr algn="l"/>
                      <a:r>
                        <a:rPr sz="1000" b="0">
                          <a:solidFill>
                            <a:srgbClr val="101828"/>
                          </a:solidFill>
                          <a:latin typeface="Calibri"/>
                        </a:rPr>
                        <a:t>RAID log &amp; first review</a:t>
                      </a:r>
                    </a:p>
                  </a:txBody>
                  <a:tcPr marL="45720" marR="45720" marT="18288" marB="18288">
                    <a:solidFill>
                      <a:srgbClr val="F2F4F7"/>
                    </a:solidFill>
                  </a:tcPr>
                </a:tc>
                <a:tc>
                  <a:txBody>
                    <a:bodyPr wrap="square"/>
                    <a:lstStyle/>
                    <a:p>
                      <a:pPr algn="l"/>
                      <a:r>
                        <a:rPr sz="1000" b="0">
                          <a:solidFill>
                            <a:srgbClr val="101828"/>
                          </a:solidFill>
                          <a:latin typeface="Calibri"/>
                        </a:rPr>
                        <a:t>PM</a:t>
                      </a:r>
                    </a:p>
                  </a:txBody>
                  <a:tcPr marL="45720" marR="45720" marT="18288" marB="18288">
                    <a:solidFill>
                      <a:srgbClr val="F2F4F7"/>
                    </a:solidFill>
                  </a:tcPr>
                </a:tc>
                <a:tc>
                  <a:txBody>
                    <a:bodyPr wrap="square"/>
                    <a:lstStyle/>
                    <a:p>
                      <a:pPr algn="l"/>
                      <a:r>
                        <a:rPr sz="1000" b="0">
                          <a:solidFill>
                            <a:srgbClr val="101828"/>
                          </a:solidFill>
                          <a:latin typeface="Calibri"/>
                        </a:rPr>
                        <a:t>1</a:t>
                      </a:r>
                    </a:p>
                  </a:txBody>
                  <a:tcPr marL="45720" marR="45720" marT="18288" marB="18288">
                    <a:solidFill>
                      <a:srgbClr val="F2F4F7"/>
                    </a:solidFill>
                  </a:tcPr>
                </a:tc>
              </a:tr>
              <a:tr h="365760">
                <a:tc>
                  <a:txBody>
                    <a:bodyPr wrap="square"/>
                    <a:lstStyle/>
                    <a:p>
                      <a:pPr algn="l"/>
                      <a:r>
                        <a:rPr sz="1000" b="0">
                          <a:solidFill>
                            <a:srgbClr val="101828"/>
                          </a:solidFill>
                          <a:latin typeface="Calibri"/>
                        </a:rPr>
                        <a:t>Comms plan, templates, distribution lists</a:t>
                      </a:r>
                    </a:p>
                  </a:txBody>
                  <a:tcPr marL="45720" marR="45720" marT="18288" marB="18288">
                    <a:solidFill>
                      <a:srgbClr val="FFFFFF"/>
                    </a:solidFill>
                  </a:tcPr>
                </a:tc>
                <a:tc>
                  <a:txBody>
                    <a:bodyPr wrap="square"/>
                    <a:lstStyle/>
                    <a:p>
                      <a:pPr algn="l"/>
                      <a:r>
                        <a:rPr sz="1000" b="0">
                          <a:solidFill>
                            <a:srgbClr val="101828"/>
                          </a:solidFill>
                          <a:latin typeface="Calibri"/>
                        </a:rPr>
                        <a:t>Change</a:t>
                      </a:r>
                    </a:p>
                  </a:txBody>
                  <a:tcPr marL="45720" marR="45720" marT="18288" marB="18288">
                    <a:solidFill>
                      <a:srgbClr val="FFFFFF"/>
                    </a:solidFill>
                  </a:tcPr>
                </a:tc>
                <a:tc>
                  <a:txBody>
                    <a:bodyPr wrap="square"/>
                    <a:lstStyle/>
                    <a:p>
                      <a:pPr algn="l"/>
                      <a:r>
                        <a:rPr sz="1000" b="0">
                          <a:solidFill>
                            <a:srgbClr val="101828"/>
                          </a:solidFill>
                          <a:latin typeface="Calibri"/>
                        </a:rPr>
                        <a:t>3</a:t>
                      </a:r>
                    </a:p>
                  </a:txBody>
                  <a:tcPr marL="45720" marR="45720" marT="18288" marB="18288">
                    <a:solidFill>
                      <a:srgbClr val="FFFFFF"/>
                    </a:solidFill>
                  </a:tcPr>
                </a:tc>
              </a:tr>
              <a:tr h="365760">
                <a:tc>
                  <a:txBody>
                    <a:bodyPr wrap="square"/>
                    <a:lstStyle/>
                    <a:p>
                      <a:pPr algn="l"/>
                      <a:r>
                        <a:rPr sz="1000" b="0">
                          <a:solidFill>
                            <a:srgbClr val="101828"/>
                          </a:solidFill>
                          <a:latin typeface="Calibri"/>
                        </a:rPr>
                        <a:t>Identity mapping CSV (ADO -&gt; Entra UPN)</a:t>
                      </a:r>
                    </a:p>
                  </a:txBody>
                  <a:tcPr marL="45720" marR="45720" marT="18288" marB="18288">
                    <a:solidFill>
                      <a:srgbClr val="F2F4F7"/>
                    </a:solidFill>
                  </a:tcPr>
                </a:tc>
                <a:tc>
                  <a:txBody>
                    <a:bodyPr wrap="square"/>
                    <a:lstStyle/>
                    <a:p>
                      <a:pPr algn="l"/>
                      <a:r>
                        <a:rPr sz="1000" b="0">
                          <a:solidFill>
                            <a:srgbClr val="101828"/>
                          </a:solidFill>
                          <a:latin typeface="Calibri"/>
                        </a:rPr>
                        <a:t>IAM</a:t>
                      </a:r>
                    </a:p>
                  </a:txBody>
                  <a:tcPr marL="45720" marR="45720" marT="18288" marB="18288">
                    <a:solidFill>
                      <a:srgbClr val="F2F4F7"/>
                    </a:solidFill>
                  </a:tcPr>
                </a:tc>
                <a:tc>
                  <a:txBody>
                    <a:bodyPr wrap="square"/>
                    <a:lstStyle/>
                    <a:p>
                      <a:pPr algn="l"/>
                      <a:r>
                        <a:rPr sz="1000" b="0">
                          <a:solidFill>
                            <a:srgbClr val="101828"/>
                          </a:solidFill>
                          <a:latin typeface="Calibri"/>
                        </a:rPr>
                        <a:t>3</a:t>
                      </a:r>
                    </a:p>
                  </a:txBody>
                  <a:tcPr marL="45720" marR="45720" marT="18288" marB="18288">
                    <a:solidFill>
                      <a:srgbClr val="F2F4F7"/>
                    </a:solidFill>
                  </a:tcPr>
                </a:tc>
              </a:tr>
              <a:tr h="365760">
                <a:tc>
                  <a:txBody>
                    <a:bodyPr wrap="square"/>
                    <a:lstStyle/>
                    <a:p>
                      <a:pPr algn="l"/>
                      <a:r>
                        <a:rPr sz="1000" b="0">
                          <a:solidFill>
                            <a:srgbClr val="101828"/>
                          </a:solidFill>
                          <a:latin typeface="Calibri"/>
                        </a:rPr>
                        <a:t>Inventory all 100 repos</a:t>
                      </a:r>
                    </a:p>
                  </a:txBody>
                  <a:tcPr marL="45720" marR="45720" marT="18288" marB="18288">
                    <a:solidFill>
                      <a:srgbClr val="FFFFFF"/>
                    </a:solidFill>
                  </a:tcPr>
                </a:tc>
                <a:tc>
                  <a:txBody>
                    <a:bodyPr wrap="square"/>
                    <a:lstStyle/>
                    <a:p>
                      <a:pPr algn="l"/>
                      <a:r>
                        <a:rPr sz="1000" b="0">
                          <a:solidFill>
                            <a:srgbClr val="101828"/>
                          </a:solidFill>
                          <a:latin typeface="Calibri"/>
                        </a:rPr>
                        <a:t>Platform</a:t>
                      </a:r>
                    </a:p>
                  </a:txBody>
                  <a:tcPr marL="45720" marR="45720" marT="18288" marB="18288">
                    <a:solidFill>
                      <a:srgbClr val="FFFFFF"/>
                    </a:solidFill>
                  </a:tcPr>
                </a:tc>
                <a:tc>
                  <a:txBody>
                    <a:bodyPr wrap="square"/>
                    <a:lstStyle/>
                    <a:p>
                      <a:pPr algn="l"/>
                      <a:r>
                        <a:rPr sz="1000" b="0">
                          <a:solidFill>
                            <a:srgbClr val="101828"/>
                          </a:solidFill>
                          <a:latin typeface="Calibri"/>
                        </a:rPr>
                        <a:t>3</a:t>
                      </a:r>
                    </a:p>
                  </a:txBody>
                  <a:tcPr marL="45720" marR="45720" marT="18288" marB="18288">
                    <a:solidFill>
                      <a:srgbClr val="FFFFFF"/>
                    </a:solidFill>
                  </a:tcPr>
                </a:tc>
              </a:tr>
              <a:tr h="365760">
                <a:tc>
                  <a:txBody>
                    <a:bodyPr wrap="square"/>
                    <a:lstStyle/>
                    <a:p>
                      <a:pPr algn="l"/>
                      <a:r>
                        <a:rPr sz="1000" b="0">
                          <a:solidFill>
                            <a:srgbClr val="101828"/>
                          </a:solidFill>
                          <a:latin typeface="Calibri"/>
                        </a:rPr>
                        <a:t>Inventory all pipelines per repo</a:t>
                      </a:r>
                    </a:p>
                  </a:txBody>
                  <a:tcPr marL="45720" marR="45720" marT="18288" marB="18288">
                    <a:solidFill>
                      <a:srgbClr val="F2F4F7"/>
                    </a:solidFill>
                  </a:tcPr>
                </a:tc>
                <a:tc>
                  <a:txBody>
                    <a:bodyPr wrap="square"/>
                    <a:lstStyle/>
                    <a:p>
                      <a:pPr algn="l"/>
                      <a:r>
                        <a:rPr sz="1000" b="0">
                          <a:solidFill>
                            <a:srgbClr val="101828"/>
                          </a:solidFill>
                          <a:latin typeface="Calibri"/>
                        </a:rPr>
                        <a:t>DevEx</a:t>
                      </a:r>
                    </a:p>
                  </a:txBody>
                  <a:tcPr marL="45720" marR="45720" marT="18288" marB="18288">
                    <a:solidFill>
                      <a:srgbClr val="F2F4F7"/>
                    </a:solidFill>
                  </a:tcPr>
                </a:tc>
                <a:tc>
                  <a:txBody>
                    <a:bodyPr wrap="square"/>
                    <a:lstStyle/>
                    <a:p>
                      <a:pPr algn="l"/>
                      <a:r>
                        <a:rPr sz="1000" b="0">
                          <a:solidFill>
                            <a:srgbClr val="101828"/>
                          </a:solidFill>
                          <a:latin typeface="Calibri"/>
                        </a:rPr>
                        <a:t>2</a:t>
                      </a:r>
                    </a:p>
                  </a:txBody>
                  <a:tcPr marL="45720" marR="45720" marT="18288" marB="18288">
                    <a:solidFill>
                      <a:srgbClr val="F2F4F7"/>
                    </a:solidFill>
                  </a:tcPr>
                </a:tc>
              </a:tr>
              <a:tr h="365760">
                <a:tc>
                  <a:txBody>
                    <a:bodyPr wrap="square"/>
                    <a:lstStyle/>
                    <a:p>
                      <a:pPr algn="l"/>
                      <a:r>
                        <a:rPr sz="1000" b="0">
                          <a:solidFill>
                            <a:srgbClr val="101828"/>
                          </a:solidFill>
                          <a:latin typeface="Calibri"/>
                        </a:rPr>
                        <a:t>Inventory ADO branch policies per repo</a:t>
                      </a:r>
                    </a:p>
                  </a:txBody>
                  <a:tcPr marL="45720" marR="45720" marT="18288" marB="18288">
                    <a:solidFill>
                      <a:srgbClr val="FFFFFF"/>
                    </a:solidFill>
                  </a:tcPr>
                </a:tc>
                <a:tc>
                  <a:txBody>
                    <a:bodyPr wrap="square"/>
                    <a:lstStyle/>
                    <a:p>
                      <a:pPr algn="l"/>
                      <a:r>
                        <a:rPr sz="1000" b="0">
                          <a:solidFill>
                            <a:srgbClr val="101828"/>
                          </a:solidFill>
                          <a:latin typeface="Calibri"/>
                        </a:rPr>
                        <a:t>Platform</a:t>
                      </a:r>
                    </a:p>
                  </a:txBody>
                  <a:tcPr marL="45720" marR="45720" marT="18288" marB="18288">
                    <a:solidFill>
                      <a:srgbClr val="FFFFFF"/>
                    </a:solidFill>
                  </a:tcPr>
                </a:tc>
                <a:tc>
                  <a:txBody>
                    <a:bodyPr wrap="square"/>
                    <a:lstStyle/>
                    <a:p>
                      <a:pPr algn="l"/>
                      <a:r>
                        <a:rPr sz="1000" b="0">
                          <a:solidFill>
                            <a:srgbClr val="101828"/>
                          </a:solidFill>
                          <a:latin typeface="Calibri"/>
                        </a:rPr>
                        <a:t>2</a:t>
                      </a:r>
                    </a:p>
                  </a:txBody>
                  <a:tcPr marL="45720" marR="45720" marT="18288" marB="18288">
                    <a:solidFill>
                      <a:srgbClr val="FFFFFF"/>
                    </a:solidFill>
                  </a:tcPr>
                </a:tc>
              </a:tr>
              <a:tr h="365760">
                <a:tc>
                  <a:txBody>
                    <a:bodyPr wrap="square"/>
                    <a:lstStyle/>
                    <a:p>
                      <a:pPr algn="l"/>
                      <a:r>
                        <a:rPr sz="1000" b="0">
                          <a:solidFill>
                            <a:srgbClr val="101828"/>
                          </a:solidFill>
                          <a:latin typeface="Calibri"/>
                        </a:rPr>
                        <a:t>Baseline ruleset JSON definition</a:t>
                      </a:r>
                    </a:p>
                  </a:txBody>
                  <a:tcPr marL="45720" marR="45720" marT="18288" marB="18288">
                    <a:solidFill>
                      <a:srgbClr val="F2F4F7"/>
                    </a:solidFill>
                  </a:tcPr>
                </a:tc>
                <a:tc>
                  <a:txBody>
                    <a:bodyPr wrap="square"/>
                    <a:lstStyle/>
                    <a:p>
                      <a:pPr algn="l"/>
                      <a:r>
                        <a:rPr sz="1000" b="0">
                          <a:solidFill>
                            <a:srgbClr val="101828"/>
                          </a:solidFill>
                          <a:latin typeface="Calibri"/>
                        </a:rPr>
                        <a:t>InfoSec</a:t>
                      </a:r>
                    </a:p>
                  </a:txBody>
                  <a:tcPr marL="45720" marR="45720" marT="18288" marB="18288">
                    <a:solidFill>
                      <a:srgbClr val="F2F4F7"/>
                    </a:solidFill>
                  </a:tcPr>
                </a:tc>
                <a:tc>
                  <a:txBody>
                    <a:bodyPr wrap="square"/>
                    <a:lstStyle/>
                    <a:p>
                      <a:pPr algn="l"/>
                      <a:r>
                        <a:rPr sz="1000" b="0">
                          <a:solidFill>
                            <a:srgbClr val="101828"/>
                          </a:solidFill>
                          <a:latin typeface="Calibri"/>
                        </a:rPr>
                        <a:t>2</a:t>
                      </a:r>
                    </a:p>
                  </a:txBody>
                  <a:tcPr marL="45720" marR="45720" marT="18288" marB="18288">
                    <a:solidFill>
                      <a:srgbClr val="F2F4F7"/>
                    </a:solidFill>
                  </a:tcPr>
                </a:tc>
              </a:tr>
              <a:tr h="365760">
                <a:tc>
                  <a:txBody>
                    <a:bodyPr wrap="square"/>
                    <a:lstStyle/>
                    <a:p>
                      <a:pPr algn="l"/>
                      <a:r>
                        <a:rPr sz="1000" b="0">
                          <a:solidFill>
                            <a:srgbClr val="101828"/>
                          </a:solidFill>
                          <a:latin typeface="Calibri"/>
                        </a:rPr>
                        <a:t>Wave assignment (Pilot + 4 waves)</a:t>
                      </a:r>
                    </a:p>
                  </a:txBody>
                  <a:tcPr marL="45720" marR="45720" marT="18288" marB="18288">
                    <a:solidFill>
                      <a:srgbClr val="FFFFFF"/>
                    </a:solidFill>
                  </a:tcPr>
                </a:tc>
                <a:tc>
                  <a:txBody>
                    <a:bodyPr wrap="square"/>
                    <a:lstStyle/>
                    <a:p>
                      <a:pPr algn="l"/>
                      <a:r>
                        <a:rPr sz="1000" b="0">
                          <a:solidFill>
                            <a:srgbClr val="101828"/>
                          </a:solidFill>
                          <a:latin typeface="Calibri"/>
                        </a:rPr>
                        <a:t>Tech Lead</a:t>
                      </a:r>
                    </a:p>
                  </a:txBody>
                  <a:tcPr marL="45720" marR="45720" marT="18288" marB="18288">
                    <a:solidFill>
                      <a:srgbClr val="FFFFFF"/>
                    </a:solidFill>
                  </a:tcPr>
                </a:tc>
                <a:tc>
                  <a:txBody>
                    <a:bodyPr wrap="square"/>
                    <a:lstStyle/>
                    <a:p>
                      <a:pPr algn="l"/>
                      <a:r>
                        <a:rPr sz="1000" b="0">
                          <a:solidFill>
                            <a:srgbClr val="101828"/>
                          </a:solidFill>
                          <a:latin typeface="Calibri"/>
                        </a:rPr>
                        <a:t>2</a:t>
                      </a:r>
                    </a:p>
                  </a:txBody>
                  <a:tcPr marL="45720" marR="45720" marT="18288" marB="18288">
                    <a:solidFill>
                      <a:srgbClr val="FFFFFF"/>
                    </a:solidFill>
                  </a:tcPr>
                </a:tc>
              </a:tr>
            </a:tbl>
          </a:graphicData>
        </a:graphic>
      </p:graphicFrame>
      <p:sp>
        <p:nvSpPr>
          <p:cNvPr id="10" name="Rectangle 9"/>
          <p:cNvSpPr/>
          <p:nvPr/>
        </p:nvSpPr>
        <p:spPr>
          <a:xfrm>
            <a:off x="6217920" y="1097280"/>
            <a:ext cx="5669280" cy="41148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097280"/>
            <a:ext cx="5669280" cy="411480"/>
          </a:xfrm>
          <a:prstGeom prst="rect">
            <a:avLst/>
          </a:prstGeom>
          <a:noFill/>
        </p:spPr>
        <p:txBody>
          <a:bodyPr wrap="square" lIns="45720" rIns="45720" tIns="18288" bIns="18288" anchor="ctr">
            <a:spAutoFit/>
          </a:bodyPr>
          <a:lstStyle/>
          <a:p>
            <a:pPr algn="ctr"/>
            <a:r>
              <a:rPr sz="1200" b="1">
                <a:solidFill>
                  <a:srgbClr val="FFFFFF"/>
                </a:solidFill>
                <a:latin typeface="Calibri"/>
              </a:rPr>
              <a:t>Stage 1 - Identity &amp; Foundation  (W3-4, ~22 p-days)</a:t>
            </a:r>
          </a:p>
        </p:txBody>
      </p:sp>
      <p:graphicFrame>
        <p:nvGraphicFramePr>
          <p:cNvPr id="12" name="Table 11"/>
          <p:cNvGraphicFramePr>
            <a:graphicFrameLocks noGrp="1"/>
          </p:cNvGraphicFramePr>
          <p:nvPr/>
        </p:nvGraphicFramePr>
        <p:xfrm>
          <a:off x="6217920" y="1554480"/>
          <a:ext cx="5669280" cy="3657600"/>
        </p:xfrm>
        <a:graphic>
          <a:graphicData uri="http://schemas.openxmlformats.org/drawingml/2006/table">
            <a:tbl>
              <a:tblPr firstRow="1" bandRow="1">
                <a:tableStyleId>{5C22544A-7EE6-4342-B048-85BDC9FD1C3A}</a:tableStyleId>
              </a:tblPr>
              <a:tblGrid>
                <a:gridCol w="4297680"/>
                <a:gridCol w="914400"/>
                <a:gridCol w="457200"/>
              </a:tblGrid>
              <a:tr h="332509">
                <a:tc>
                  <a:txBody>
                    <a:bodyPr wrap="square"/>
                    <a:lstStyle/>
                    <a:p>
                      <a:pPr algn="l"/>
                      <a:r>
                        <a:rPr sz="1000" b="1">
                          <a:solidFill>
                            <a:srgbClr val="FFFFFF"/>
                          </a:solidFill>
                          <a:latin typeface="Calibri"/>
                        </a:rPr>
                        <a:t>Activity</a:t>
                      </a:r>
                    </a:p>
                  </a:txBody>
                  <a:tcPr marL="45720" marR="45720" marT="18288" marB="18288">
                    <a:solidFill>
                      <a:srgbClr val="1F4D42"/>
                    </a:solidFill>
                  </a:tcPr>
                </a:tc>
                <a:tc>
                  <a:txBody>
                    <a:bodyPr wrap="square"/>
                    <a:lstStyle/>
                    <a:p>
                      <a:pPr algn="l"/>
                      <a:r>
                        <a:rPr sz="1000" b="1">
                          <a:solidFill>
                            <a:srgbClr val="FFFFFF"/>
                          </a:solidFill>
                          <a:latin typeface="Calibri"/>
                        </a:rPr>
                        <a:t>Owner</a:t>
                      </a:r>
                    </a:p>
                  </a:txBody>
                  <a:tcPr marL="45720" marR="45720" marT="18288" marB="18288">
                    <a:solidFill>
                      <a:srgbClr val="1F4D42"/>
                    </a:solidFill>
                  </a:tcPr>
                </a:tc>
                <a:tc>
                  <a:txBody>
                    <a:bodyPr wrap="square"/>
                    <a:lstStyle/>
                    <a:p>
                      <a:pPr algn="l"/>
                      <a:r>
                        <a:rPr sz="1000" b="1">
                          <a:solidFill>
                            <a:srgbClr val="FFFFFF"/>
                          </a:solidFill>
                          <a:latin typeface="Calibri"/>
                        </a:rPr>
                        <a:t>Days</a:t>
                      </a:r>
                    </a:p>
                  </a:txBody>
                  <a:tcPr marL="45720" marR="45720" marT="18288" marB="18288">
                    <a:solidFill>
                      <a:srgbClr val="1F4D42"/>
                    </a:solidFill>
                  </a:tcPr>
                </a:tc>
              </a:tr>
              <a:tr h="332509">
                <a:tc>
                  <a:txBody>
                    <a:bodyPr wrap="square"/>
                    <a:lstStyle/>
                    <a:p>
                      <a:pPr algn="l"/>
                      <a:r>
                        <a:rPr sz="1000" b="0">
                          <a:solidFill>
                            <a:srgbClr val="101828"/>
                          </a:solidFill>
                          <a:latin typeface="Calibri"/>
                        </a:rPr>
                        <a:t>EMU enterprise shell configuration</a:t>
                      </a:r>
                    </a:p>
                  </a:txBody>
                  <a:tcPr marL="45720" marR="45720" marT="18288" marB="18288">
                    <a:solidFill>
                      <a:srgbClr val="FFFFFF"/>
                    </a:solidFill>
                  </a:tcPr>
                </a:tc>
                <a:tc>
                  <a:txBody>
                    <a:bodyPr wrap="square"/>
                    <a:lstStyle/>
                    <a:p>
                      <a:pPr algn="l"/>
                      <a:r>
                        <a:rPr sz="1000" b="0">
                          <a:solidFill>
                            <a:srgbClr val="101828"/>
                          </a:solidFill>
                          <a:latin typeface="Calibri"/>
                        </a:rPr>
                        <a:t>IAM</a:t>
                      </a:r>
                    </a:p>
                  </a:txBody>
                  <a:tcPr marL="45720" marR="45720" marT="18288" marB="18288">
                    <a:solidFill>
                      <a:srgbClr val="FFFFFF"/>
                    </a:solidFill>
                  </a:tcPr>
                </a:tc>
                <a:tc>
                  <a:txBody>
                    <a:bodyPr wrap="square"/>
                    <a:lstStyle/>
                    <a:p>
                      <a:pPr algn="l"/>
                      <a:r>
                        <a:rPr sz="1000" b="0">
                          <a:solidFill>
                            <a:srgbClr val="101828"/>
                          </a:solidFill>
                          <a:latin typeface="Calibri"/>
                        </a:rPr>
                        <a:t>2</a:t>
                      </a:r>
                    </a:p>
                  </a:txBody>
                  <a:tcPr marL="45720" marR="45720" marT="18288" marB="18288">
                    <a:solidFill>
                      <a:srgbClr val="FFFFFF"/>
                    </a:solidFill>
                  </a:tcPr>
                </a:tc>
              </a:tr>
              <a:tr h="332509">
                <a:tc>
                  <a:txBody>
                    <a:bodyPr wrap="square"/>
                    <a:lstStyle/>
                    <a:p>
                      <a:pPr algn="l"/>
                      <a:r>
                        <a:rPr sz="1000" b="0">
                          <a:solidFill>
                            <a:srgbClr val="101828"/>
                          </a:solidFill>
                          <a:latin typeface="Calibri"/>
                        </a:rPr>
                        <a:t>SAML SSO with MoJ Entra ID</a:t>
                      </a:r>
                    </a:p>
                  </a:txBody>
                  <a:tcPr marL="45720" marR="45720" marT="18288" marB="18288">
                    <a:solidFill>
                      <a:srgbClr val="F2F4F7"/>
                    </a:solidFill>
                  </a:tcPr>
                </a:tc>
                <a:tc>
                  <a:txBody>
                    <a:bodyPr wrap="square"/>
                    <a:lstStyle/>
                    <a:p>
                      <a:pPr algn="l"/>
                      <a:r>
                        <a:rPr sz="1000" b="0">
                          <a:solidFill>
                            <a:srgbClr val="101828"/>
                          </a:solidFill>
                          <a:latin typeface="Calibri"/>
                        </a:rPr>
                        <a:t>IAM</a:t>
                      </a:r>
                    </a:p>
                  </a:txBody>
                  <a:tcPr marL="45720" marR="45720" marT="18288" marB="18288">
                    <a:solidFill>
                      <a:srgbClr val="F2F4F7"/>
                    </a:solidFill>
                  </a:tcPr>
                </a:tc>
                <a:tc>
                  <a:txBody>
                    <a:bodyPr wrap="square"/>
                    <a:lstStyle/>
                    <a:p>
                      <a:pPr algn="l"/>
                      <a:r>
                        <a:rPr sz="1000" b="0">
                          <a:solidFill>
                            <a:srgbClr val="101828"/>
                          </a:solidFill>
                          <a:latin typeface="Calibri"/>
                        </a:rPr>
                        <a:t>3</a:t>
                      </a:r>
                    </a:p>
                  </a:txBody>
                  <a:tcPr marL="45720" marR="45720" marT="18288" marB="18288">
                    <a:solidFill>
                      <a:srgbClr val="F2F4F7"/>
                    </a:solidFill>
                  </a:tcPr>
                </a:tc>
              </a:tr>
              <a:tr h="332509">
                <a:tc>
                  <a:txBody>
                    <a:bodyPr wrap="square"/>
                    <a:lstStyle/>
                    <a:p>
                      <a:pPr algn="l"/>
                      <a:r>
                        <a:rPr sz="1000" b="0">
                          <a:solidFill>
                            <a:srgbClr val="101828"/>
                          </a:solidFill>
                          <a:latin typeface="Calibri"/>
                        </a:rPr>
                        <a:t>SCIM provisioning Entra -&gt; GHE</a:t>
                      </a:r>
                    </a:p>
                  </a:txBody>
                  <a:tcPr marL="45720" marR="45720" marT="18288" marB="18288">
                    <a:solidFill>
                      <a:srgbClr val="FFFFFF"/>
                    </a:solidFill>
                  </a:tcPr>
                </a:tc>
                <a:tc>
                  <a:txBody>
                    <a:bodyPr wrap="square"/>
                    <a:lstStyle/>
                    <a:p>
                      <a:pPr algn="l"/>
                      <a:r>
                        <a:rPr sz="1000" b="0">
                          <a:solidFill>
                            <a:srgbClr val="101828"/>
                          </a:solidFill>
                          <a:latin typeface="Calibri"/>
                        </a:rPr>
                        <a:t>IAM</a:t>
                      </a:r>
                    </a:p>
                  </a:txBody>
                  <a:tcPr marL="45720" marR="45720" marT="18288" marB="18288">
                    <a:solidFill>
                      <a:srgbClr val="FFFFFF"/>
                    </a:solidFill>
                  </a:tcPr>
                </a:tc>
                <a:tc>
                  <a:txBody>
                    <a:bodyPr wrap="square"/>
                    <a:lstStyle/>
                    <a:p>
                      <a:pPr algn="l"/>
                      <a:r>
                        <a:rPr sz="1000" b="0">
                          <a:solidFill>
                            <a:srgbClr val="101828"/>
                          </a:solidFill>
                          <a:latin typeface="Calibri"/>
                        </a:rPr>
                        <a:t>3</a:t>
                      </a:r>
                    </a:p>
                  </a:txBody>
                  <a:tcPr marL="45720" marR="45720" marT="18288" marB="18288">
                    <a:solidFill>
                      <a:srgbClr val="FFFFFF"/>
                    </a:solidFill>
                  </a:tcPr>
                </a:tc>
              </a:tr>
              <a:tr h="332509">
                <a:tc>
                  <a:txBody>
                    <a:bodyPr wrap="square"/>
                    <a:lstStyle/>
                    <a:p>
                      <a:pPr algn="l"/>
                      <a:r>
                        <a:rPr sz="1000" b="0">
                          <a:solidFill>
                            <a:srgbClr val="101828"/>
                          </a:solidFill>
                          <a:latin typeface="Calibri"/>
                        </a:rPr>
                        <a:t>Identity UAT with 10 test users</a:t>
                      </a:r>
                    </a:p>
                  </a:txBody>
                  <a:tcPr marL="45720" marR="45720" marT="18288" marB="18288">
                    <a:solidFill>
                      <a:srgbClr val="F2F4F7"/>
                    </a:solidFill>
                  </a:tcPr>
                </a:tc>
                <a:tc>
                  <a:txBody>
                    <a:bodyPr wrap="square"/>
                    <a:lstStyle/>
                    <a:p>
                      <a:pPr algn="l"/>
                      <a:r>
                        <a:rPr sz="1000" b="0">
                          <a:solidFill>
                            <a:srgbClr val="101828"/>
                          </a:solidFill>
                          <a:latin typeface="Calibri"/>
                        </a:rPr>
                        <a:t>IAM+TL</a:t>
                      </a:r>
                    </a:p>
                  </a:txBody>
                  <a:tcPr marL="45720" marR="45720" marT="18288" marB="18288">
                    <a:solidFill>
                      <a:srgbClr val="F2F4F7"/>
                    </a:solidFill>
                  </a:tcPr>
                </a:tc>
                <a:tc>
                  <a:txBody>
                    <a:bodyPr wrap="square"/>
                    <a:lstStyle/>
                    <a:p>
                      <a:pPr algn="l"/>
                      <a:r>
                        <a:rPr sz="1000" b="0">
                          <a:solidFill>
                            <a:srgbClr val="101828"/>
                          </a:solidFill>
                          <a:latin typeface="Calibri"/>
                        </a:rPr>
                        <a:t>2</a:t>
                      </a:r>
                    </a:p>
                  </a:txBody>
                  <a:tcPr marL="45720" marR="45720" marT="18288" marB="18288">
                    <a:solidFill>
                      <a:srgbClr val="F2F4F7"/>
                    </a:solidFill>
                  </a:tcPr>
                </a:tc>
              </a:tr>
              <a:tr h="332509">
                <a:tc>
                  <a:txBody>
                    <a:bodyPr wrap="square"/>
                    <a:lstStyle/>
                    <a:p>
                      <a:pPr algn="l"/>
                      <a:r>
                        <a:rPr sz="1000" b="0">
                          <a:solidFill>
                            <a:srgbClr val="101828"/>
                          </a:solidFill>
                          <a:latin typeface="Calibri"/>
                        </a:rPr>
                        <a:t>Migration factory: parameterised GEI scripts</a:t>
                      </a:r>
                    </a:p>
                  </a:txBody>
                  <a:tcPr marL="45720" marR="45720" marT="18288" marB="18288">
                    <a:solidFill>
                      <a:srgbClr val="FFFFFF"/>
                    </a:solidFill>
                  </a:tcPr>
                </a:tc>
                <a:tc>
                  <a:txBody>
                    <a:bodyPr wrap="square"/>
                    <a:lstStyle/>
                    <a:p>
                      <a:pPr algn="l"/>
                      <a:r>
                        <a:rPr sz="1000" b="0">
                          <a:solidFill>
                            <a:srgbClr val="101828"/>
                          </a:solidFill>
                          <a:latin typeface="Calibri"/>
                        </a:rPr>
                        <a:t>Platform</a:t>
                      </a:r>
                    </a:p>
                  </a:txBody>
                  <a:tcPr marL="45720" marR="45720" marT="18288" marB="18288">
                    <a:solidFill>
                      <a:srgbClr val="FFFFFF"/>
                    </a:solidFill>
                  </a:tcPr>
                </a:tc>
                <a:tc>
                  <a:txBody>
                    <a:bodyPr wrap="square"/>
                    <a:lstStyle/>
                    <a:p>
                      <a:pPr algn="l"/>
                      <a:r>
                        <a:rPr sz="1000" b="0">
                          <a:solidFill>
                            <a:srgbClr val="101828"/>
                          </a:solidFill>
                          <a:latin typeface="Calibri"/>
                        </a:rPr>
                        <a:t>3</a:t>
                      </a:r>
                    </a:p>
                  </a:txBody>
                  <a:tcPr marL="45720" marR="45720" marT="18288" marB="18288">
                    <a:solidFill>
                      <a:srgbClr val="FFFFFF"/>
                    </a:solidFill>
                  </a:tcPr>
                </a:tc>
              </a:tr>
              <a:tr h="332509">
                <a:tc>
                  <a:txBody>
                    <a:bodyPr wrap="square"/>
                    <a:lstStyle/>
                    <a:p>
                      <a:pPr algn="l"/>
                      <a:r>
                        <a:rPr sz="1000" b="0">
                          <a:solidFill>
                            <a:srgbClr val="101828"/>
                          </a:solidFill>
                          <a:latin typeface="Calibri"/>
                        </a:rPr>
                        <a:t>Secret vaulting (PATs in Key Vault)</a:t>
                      </a:r>
                    </a:p>
                  </a:txBody>
                  <a:tcPr marL="45720" marR="45720" marT="18288" marB="18288">
                    <a:solidFill>
                      <a:srgbClr val="F2F4F7"/>
                    </a:solidFill>
                  </a:tcPr>
                </a:tc>
                <a:tc>
                  <a:txBody>
                    <a:bodyPr wrap="square"/>
                    <a:lstStyle/>
                    <a:p>
                      <a:pPr algn="l"/>
                      <a:r>
                        <a:rPr sz="1000" b="0">
                          <a:solidFill>
                            <a:srgbClr val="101828"/>
                          </a:solidFill>
                          <a:latin typeface="Calibri"/>
                        </a:rPr>
                        <a:t>Platform</a:t>
                      </a:r>
                    </a:p>
                  </a:txBody>
                  <a:tcPr marL="45720" marR="45720" marT="18288" marB="18288">
                    <a:solidFill>
                      <a:srgbClr val="F2F4F7"/>
                    </a:solidFill>
                  </a:tcPr>
                </a:tc>
                <a:tc>
                  <a:txBody>
                    <a:bodyPr wrap="square"/>
                    <a:lstStyle/>
                    <a:p>
                      <a:pPr algn="l"/>
                      <a:r>
                        <a:rPr sz="1000" b="0">
                          <a:solidFill>
                            <a:srgbClr val="101828"/>
                          </a:solidFill>
                          <a:latin typeface="Calibri"/>
                        </a:rPr>
                        <a:t>1</a:t>
                      </a:r>
                    </a:p>
                  </a:txBody>
                  <a:tcPr marL="45720" marR="45720" marT="18288" marB="18288">
                    <a:solidFill>
                      <a:srgbClr val="F2F4F7"/>
                    </a:solidFill>
                  </a:tcPr>
                </a:tc>
              </a:tr>
              <a:tr h="332509">
                <a:tc>
                  <a:txBody>
                    <a:bodyPr wrap="square"/>
                    <a:lstStyle/>
                    <a:p>
                      <a:pPr algn="l"/>
                      <a:r>
                        <a:rPr sz="1000" b="0">
                          <a:solidFill>
                            <a:srgbClr val="101828"/>
                          </a:solidFill>
                          <a:latin typeface="Calibri"/>
                        </a:rPr>
                        <a:t>Migration tracking dashboard</a:t>
                      </a:r>
                    </a:p>
                  </a:txBody>
                  <a:tcPr marL="45720" marR="45720" marT="18288" marB="18288">
                    <a:solidFill>
                      <a:srgbClr val="FFFFFF"/>
                    </a:solidFill>
                  </a:tcPr>
                </a:tc>
                <a:tc>
                  <a:txBody>
                    <a:bodyPr wrap="square"/>
                    <a:lstStyle/>
                    <a:p>
                      <a:pPr algn="l"/>
                      <a:r>
                        <a:rPr sz="1000" b="0">
                          <a:solidFill>
                            <a:srgbClr val="101828"/>
                          </a:solidFill>
                          <a:latin typeface="Calibri"/>
                        </a:rPr>
                        <a:t>Platform</a:t>
                      </a:r>
                    </a:p>
                  </a:txBody>
                  <a:tcPr marL="45720" marR="45720" marT="18288" marB="18288">
                    <a:solidFill>
                      <a:srgbClr val="FFFFFF"/>
                    </a:solidFill>
                  </a:tcPr>
                </a:tc>
                <a:tc>
                  <a:txBody>
                    <a:bodyPr wrap="square"/>
                    <a:lstStyle/>
                    <a:p>
                      <a:pPr algn="l"/>
                      <a:r>
                        <a:rPr sz="1000" b="0">
                          <a:solidFill>
                            <a:srgbClr val="101828"/>
                          </a:solidFill>
                          <a:latin typeface="Calibri"/>
                        </a:rPr>
                        <a:t>2</a:t>
                      </a:r>
                    </a:p>
                  </a:txBody>
                  <a:tcPr marL="45720" marR="45720" marT="18288" marB="18288">
                    <a:solidFill>
                      <a:srgbClr val="FFFFFF"/>
                    </a:solidFill>
                  </a:tcPr>
                </a:tc>
              </a:tr>
              <a:tr h="332509">
                <a:tc>
                  <a:txBody>
                    <a:bodyPr wrap="square"/>
                    <a:lstStyle/>
                    <a:p>
                      <a:pPr algn="l"/>
                      <a:r>
                        <a:rPr sz="1000" b="0">
                          <a:solidFill>
                            <a:srgbClr val="101828"/>
                          </a:solidFill>
                          <a:latin typeface="Calibri"/>
                        </a:rPr>
                        <a:t>Sandbox GHE org for dry-runs</a:t>
                      </a:r>
                    </a:p>
                  </a:txBody>
                  <a:tcPr marL="45720" marR="45720" marT="18288" marB="18288">
                    <a:solidFill>
                      <a:srgbClr val="F2F4F7"/>
                    </a:solidFill>
                  </a:tcPr>
                </a:tc>
                <a:tc>
                  <a:txBody>
                    <a:bodyPr wrap="square"/>
                    <a:lstStyle/>
                    <a:p>
                      <a:pPr algn="l"/>
                      <a:r>
                        <a:rPr sz="1000" b="0">
                          <a:solidFill>
                            <a:srgbClr val="101828"/>
                          </a:solidFill>
                          <a:latin typeface="Calibri"/>
                        </a:rPr>
                        <a:t>Platform</a:t>
                      </a:r>
                    </a:p>
                  </a:txBody>
                  <a:tcPr marL="45720" marR="45720" marT="18288" marB="18288">
                    <a:solidFill>
                      <a:srgbClr val="F2F4F7"/>
                    </a:solidFill>
                  </a:tcPr>
                </a:tc>
                <a:tc>
                  <a:txBody>
                    <a:bodyPr wrap="square"/>
                    <a:lstStyle/>
                    <a:p>
                      <a:pPr algn="l"/>
                      <a:r>
                        <a:rPr sz="1000" b="0">
                          <a:solidFill>
                            <a:srgbClr val="101828"/>
                          </a:solidFill>
                          <a:latin typeface="Calibri"/>
                        </a:rPr>
                        <a:t>1</a:t>
                      </a:r>
                    </a:p>
                  </a:txBody>
                  <a:tcPr marL="45720" marR="45720" marT="18288" marB="18288">
                    <a:solidFill>
                      <a:srgbClr val="F2F4F7"/>
                    </a:solidFill>
                  </a:tcPr>
                </a:tc>
              </a:tr>
              <a:tr h="332509">
                <a:tc>
                  <a:txBody>
                    <a:bodyPr wrap="square"/>
                    <a:lstStyle/>
                    <a:p>
                      <a:pPr algn="l"/>
                      <a:r>
                        <a:rPr sz="1000" b="0">
                          <a:solidFill>
                            <a:srgbClr val="101828"/>
                          </a:solidFill>
                          <a:latin typeface="Calibri"/>
                        </a:rPr>
                        <a:t>Ruleset application script</a:t>
                      </a:r>
                    </a:p>
                  </a:txBody>
                  <a:tcPr marL="45720" marR="45720" marT="18288" marB="18288">
                    <a:solidFill>
                      <a:srgbClr val="FFFFFF"/>
                    </a:solidFill>
                  </a:tcPr>
                </a:tc>
                <a:tc>
                  <a:txBody>
                    <a:bodyPr wrap="square"/>
                    <a:lstStyle/>
                    <a:p>
                      <a:pPr algn="l"/>
                      <a:r>
                        <a:rPr sz="1000" b="0">
                          <a:solidFill>
                            <a:srgbClr val="101828"/>
                          </a:solidFill>
                          <a:latin typeface="Calibri"/>
                        </a:rPr>
                        <a:t>InfoSec</a:t>
                      </a:r>
                    </a:p>
                  </a:txBody>
                  <a:tcPr marL="45720" marR="45720" marT="18288" marB="18288">
                    <a:solidFill>
                      <a:srgbClr val="FFFFFF"/>
                    </a:solidFill>
                  </a:tcPr>
                </a:tc>
                <a:tc>
                  <a:txBody>
                    <a:bodyPr wrap="square"/>
                    <a:lstStyle/>
                    <a:p>
                      <a:pPr algn="l"/>
                      <a:r>
                        <a:rPr sz="1000" b="0">
                          <a:solidFill>
                            <a:srgbClr val="101828"/>
                          </a:solidFill>
                          <a:latin typeface="Calibri"/>
                        </a:rPr>
                        <a:t>1</a:t>
                      </a:r>
                    </a:p>
                  </a:txBody>
                  <a:tcPr marL="45720" marR="45720" marT="18288" marB="18288">
                    <a:solidFill>
                      <a:srgbClr val="FFFFFF"/>
                    </a:solidFill>
                  </a:tcPr>
                </a:tc>
              </a:tr>
              <a:tr h="332510">
                <a:tc>
                  <a:txBody>
                    <a:bodyPr wrap="square"/>
                    <a:lstStyle/>
                    <a:p>
                      <a:pPr algn="l"/>
                      <a:r>
                        <a:rPr sz="1000" b="0">
                          <a:solidFill>
                            <a:srgbClr val="101828"/>
                          </a:solidFill>
                          <a:latin typeface="Calibri"/>
                        </a:rPr>
                        <a:t>Comms templates finalised</a:t>
                      </a:r>
                    </a:p>
                  </a:txBody>
                  <a:tcPr marL="45720" marR="45720" marT="18288" marB="18288">
                    <a:solidFill>
                      <a:srgbClr val="F2F4F7"/>
                    </a:solidFill>
                  </a:tcPr>
                </a:tc>
                <a:tc>
                  <a:txBody>
                    <a:bodyPr wrap="square"/>
                    <a:lstStyle/>
                    <a:p>
                      <a:pPr algn="l"/>
                      <a:r>
                        <a:rPr sz="1000" b="0">
                          <a:solidFill>
                            <a:srgbClr val="101828"/>
                          </a:solidFill>
                          <a:latin typeface="Calibri"/>
                        </a:rPr>
                        <a:t>Change</a:t>
                      </a:r>
                    </a:p>
                  </a:txBody>
                  <a:tcPr marL="45720" marR="45720" marT="18288" marB="18288">
                    <a:solidFill>
                      <a:srgbClr val="F2F4F7"/>
                    </a:solidFill>
                  </a:tcPr>
                </a:tc>
                <a:tc>
                  <a:txBody>
                    <a:bodyPr wrap="square"/>
                    <a:lstStyle/>
                    <a:p>
                      <a:pPr algn="l"/>
                      <a:r>
                        <a:rPr sz="1000" b="0">
                          <a:solidFill>
                            <a:srgbClr val="101828"/>
                          </a:solidFill>
                          <a:latin typeface="Calibri"/>
                        </a:rPr>
                        <a:t>2</a:t>
                      </a:r>
                    </a:p>
                  </a:txBody>
                  <a:tcPr marL="45720" marR="45720" marT="18288" marB="18288">
                    <a:solidFill>
                      <a:srgbClr val="F2F4F7"/>
                    </a:solidFill>
                  </a:tcPr>
                </a:tc>
              </a:tr>
            </a:tbl>
          </a:graphicData>
        </a:graphic>
      </p:graphicFrame>
      <p:sp>
        <p:nvSpPr>
          <p:cNvPr id="13" name="Rectangle 12"/>
          <p:cNvSpPr/>
          <p:nvPr/>
        </p:nvSpPr>
        <p:spPr>
          <a:xfrm>
            <a:off x="365760" y="5486400"/>
            <a:ext cx="11430000" cy="9144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5532120"/>
            <a:ext cx="11155680" cy="274320"/>
          </a:xfrm>
          <a:prstGeom prst="rect">
            <a:avLst/>
          </a:prstGeom>
          <a:noFill/>
        </p:spPr>
        <p:txBody>
          <a:bodyPr wrap="square" lIns="45720" rIns="45720" tIns="18288" bIns="18288" anchor="t">
            <a:spAutoFit/>
          </a:bodyPr>
          <a:lstStyle/>
          <a:p>
            <a:pPr algn="l"/>
            <a:r>
              <a:rPr sz="1100" b="1">
                <a:solidFill>
                  <a:srgbClr val="1F4D42"/>
                </a:solidFill>
                <a:latin typeface="Calibri"/>
              </a:rPr>
              <a:t>Stage Exit Gates</a:t>
            </a:r>
          </a:p>
        </p:txBody>
      </p:sp>
      <p:sp>
        <p:nvSpPr>
          <p:cNvPr id="15" name="TextBox 14"/>
          <p:cNvSpPr txBox="1"/>
          <p:nvPr/>
        </p:nvSpPr>
        <p:spPr>
          <a:xfrm>
            <a:off x="502920" y="5806440"/>
            <a:ext cx="11155680" cy="594360"/>
          </a:xfrm>
          <a:prstGeom prst="rect">
            <a:avLst/>
          </a:prstGeom>
          <a:noFill/>
        </p:spPr>
        <p:txBody>
          <a:bodyPr wrap="square" lIns="45720" rIns="45720" tIns="18288" bIns="18288" anchor="t">
            <a:spAutoFit/>
          </a:bodyPr>
          <a:lstStyle/>
          <a:p>
            <a:pPr algn="l"/>
            <a:r>
              <a:rPr sz="1100" b="0">
                <a:solidFill>
                  <a:srgbClr val="101828"/>
                </a:solidFill>
                <a:latin typeface="Calibri"/>
              </a:rPr>
              <a:t>M1 (W2):  Steering signs off scope, wave plan, and risk register.</a:t>
            </a:r>
          </a:p>
          <a:p>
            <a:pPr algn="l"/>
            <a:r>
              <a:rPr sz="1100" b="0">
                <a:solidFill>
                  <a:srgbClr val="101828"/>
                </a:solidFill>
                <a:latin typeface="Calibri"/>
              </a:rPr>
              <a:t>M2 (W4):  EMU + SAML + SCIM in production. End-to-end factory smoke test passes against a throwaway repo.</a:t>
            </a:r>
          </a:p>
        </p:txBody>
      </p:sp>
      <p:sp>
        <p:nvSpPr>
          <p:cNvPr id="16" name="TextBox 15"/>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17" name="TextBox 16"/>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L2 Plan - Pilot Wave (Stage 2)</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Weeks 5-6: 5 low-risk repos, end-to-end validation</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365760" y="1051560"/>
          <a:ext cx="11430000" cy="5029200"/>
        </p:xfrm>
        <a:graphic>
          <a:graphicData uri="http://schemas.openxmlformats.org/drawingml/2006/table">
            <a:tbl>
              <a:tblPr firstRow="1" bandRow="1">
                <a:tableStyleId>{5C22544A-7EE6-4342-B048-85BDC9FD1C3A}</a:tableStyleId>
              </a:tblPr>
              <a:tblGrid>
                <a:gridCol w="6858000"/>
                <a:gridCol w="3657600"/>
                <a:gridCol w="914400"/>
              </a:tblGrid>
              <a:tr h="279400">
                <a:tc>
                  <a:txBody>
                    <a:bodyPr wrap="square"/>
                    <a:lstStyle/>
                    <a:p>
                      <a:pPr algn="l"/>
                      <a:r>
                        <a:rPr sz="1000" b="1">
                          <a:solidFill>
                            <a:srgbClr val="FFFFFF"/>
                          </a:solidFill>
                          <a:latin typeface="Calibri"/>
                        </a:rPr>
                        <a:t>Activity</a:t>
                      </a:r>
                    </a:p>
                  </a:txBody>
                  <a:tcPr marL="45720" marR="45720" marT="18288" marB="18288">
                    <a:solidFill>
                      <a:srgbClr val="1F4D42"/>
                    </a:solidFill>
                  </a:tcPr>
                </a:tc>
                <a:tc>
                  <a:txBody>
                    <a:bodyPr wrap="square"/>
                    <a:lstStyle/>
                    <a:p>
                      <a:pPr algn="l"/>
                      <a:r>
                        <a:rPr sz="1000" b="1">
                          <a:solidFill>
                            <a:srgbClr val="FFFFFF"/>
                          </a:solidFill>
                          <a:latin typeface="Calibri"/>
                        </a:rPr>
                        <a:t>Owner</a:t>
                      </a:r>
                    </a:p>
                  </a:txBody>
                  <a:tcPr marL="45720" marR="45720" marT="18288" marB="18288">
                    <a:solidFill>
                      <a:srgbClr val="1F4D42"/>
                    </a:solidFill>
                  </a:tcPr>
                </a:tc>
                <a:tc>
                  <a:txBody>
                    <a:bodyPr wrap="square"/>
                    <a:lstStyle/>
                    <a:p>
                      <a:pPr algn="l"/>
                      <a:r>
                        <a:rPr sz="1000" b="1">
                          <a:solidFill>
                            <a:srgbClr val="FFFFFF"/>
                          </a:solidFill>
                          <a:latin typeface="Calibri"/>
                        </a:rPr>
                        <a:t>Days</a:t>
                      </a:r>
                    </a:p>
                  </a:txBody>
                  <a:tcPr marL="45720" marR="45720" marT="18288" marB="18288">
                    <a:solidFill>
                      <a:srgbClr val="1F4D42"/>
                    </a:solidFill>
                  </a:tcPr>
                </a:tc>
              </a:tr>
              <a:tr h="279400">
                <a:tc>
                  <a:txBody>
                    <a:bodyPr wrap="square"/>
                    <a:lstStyle/>
                    <a:p>
                      <a:pPr algn="l"/>
                      <a:r>
                        <a:rPr sz="1000" b="0">
                          <a:solidFill>
                            <a:srgbClr val="101828"/>
                          </a:solidFill>
                          <a:latin typeface="Calibri"/>
                        </a:rPr>
                        <a:t>Pilot wave kickoff &amp; comms</a:t>
                      </a:r>
                    </a:p>
                  </a:txBody>
                  <a:tcPr marL="45720" marR="45720" marT="18288" marB="18288">
                    <a:solidFill>
                      <a:srgbClr val="FFFFFF"/>
                    </a:solidFill>
                  </a:tcPr>
                </a:tc>
                <a:tc>
                  <a:txBody>
                    <a:bodyPr wrap="square"/>
                    <a:lstStyle/>
                    <a:p>
                      <a:pPr algn="l"/>
                      <a:r>
                        <a:rPr sz="1000" b="0">
                          <a:solidFill>
                            <a:srgbClr val="101828"/>
                          </a:solidFill>
                          <a:latin typeface="Calibri"/>
                        </a:rPr>
                        <a:t>PM + Change</a:t>
                      </a:r>
                    </a:p>
                  </a:txBody>
                  <a:tcPr marL="45720" marR="45720" marT="18288" marB="18288">
                    <a:solidFill>
                      <a:srgbClr val="FFFFFF"/>
                    </a:solidFill>
                  </a:tcPr>
                </a:tc>
                <a:tc>
                  <a:txBody>
                    <a:bodyPr wrap="square"/>
                    <a:lstStyle/>
                    <a:p>
                      <a:pPr algn="l"/>
                      <a:r>
                        <a:rPr sz="1000" b="0">
                          <a:solidFill>
                            <a:srgbClr val="101828"/>
                          </a:solidFill>
                          <a:latin typeface="Calibri"/>
                        </a:rPr>
                        <a:t>1</a:t>
                      </a:r>
                    </a:p>
                  </a:txBody>
                  <a:tcPr marL="45720" marR="45720" marT="18288" marB="18288">
                    <a:solidFill>
                      <a:srgbClr val="FFFFFF"/>
                    </a:solidFill>
                  </a:tcPr>
                </a:tc>
              </a:tr>
              <a:tr h="279400">
                <a:tc>
                  <a:txBody>
                    <a:bodyPr wrap="square"/>
                    <a:lstStyle/>
                    <a:p>
                      <a:pPr algn="l"/>
                      <a:r>
                        <a:rPr sz="1000" b="0">
                          <a:solidFill>
                            <a:srgbClr val="101828"/>
                          </a:solidFill>
                          <a:latin typeface="Calibri"/>
                        </a:rPr>
                        <a:t>Dry-run pilot migration in sandbox</a:t>
                      </a:r>
                    </a:p>
                  </a:txBody>
                  <a:tcPr marL="45720" marR="45720" marT="18288" marB="18288">
                    <a:solidFill>
                      <a:srgbClr val="F2F4F7"/>
                    </a:solidFill>
                  </a:tcPr>
                </a:tc>
                <a:tc>
                  <a:txBody>
                    <a:bodyPr wrap="square"/>
                    <a:lstStyle/>
                    <a:p>
                      <a:pPr algn="l"/>
                      <a:r>
                        <a:rPr sz="1000" b="0">
                          <a:solidFill>
                            <a:srgbClr val="101828"/>
                          </a:solidFill>
                          <a:latin typeface="Calibri"/>
                        </a:rPr>
                        <a:t>Migration Pod</a:t>
                      </a:r>
                    </a:p>
                  </a:txBody>
                  <a:tcPr marL="45720" marR="45720" marT="18288" marB="18288">
                    <a:solidFill>
                      <a:srgbClr val="F2F4F7"/>
                    </a:solidFill>
                  </a:tcPr>
                </a:tc>
                <a:tc>
                  <a:txBody>
                    <a:bodyPr wrap="square"/>
                    <a:lstStyle/>
                    <a:p>
                      <a:pPr algn="l"/>
                      <a:r>
                        <a:rPr sz="1000" b="0">
                          <a:solidFill>
                            <a:srgbClr val="101828"/>
                          </a:solidFill>
                          <a:latin typeface="Calibri"/>
                        </a:rPr>
                        <a:t>1</a:t>
                      </a:r>
                    </a:p>
                  </a:txBody>
                  <a:tcPr marL="45720" marR="45720" marT="18288" marB="18288">
                    <a:solidFill>
                      <a:srgbClr val="F2F4F7"/>
                    </a:solidFill>
                  </a:tcPr>
                </a:tc>
              </a:tr>
              <a:tr h="279400">
                <a:tc>
                  <a:txBody>
                    <a:bodyPr wrap="square"/>
                    <a:lstStyle/>
                    <a:p>
                      <a:pPr algn="l"/>
                      <a:r>
                        <a:rPr sz="1000" b="0">
                          <a:solidFill>
                            <a:srgbClr val="101828"/>
                          </a:solidFill>
                          <a:latin typeface="Calibri"/>
                        </a:rPr>
                        <a:t>Pilot Go/No-Go meeting</a:t>
                      </a:r>
                    </a:p>
                  </a:txBody>
                  <a:tcPr marL="45720" marR="45720" marT="18288" marB="18288">
                    <a:solidFill>
                      <a:srgbClr val="FFFFFF"/>
                    </a:solidFill>
                  </a:tcPr>
                </a:tc>
                <a:tc>
                  <a:txBody>
                    <a:bodyPr wrap="square"/>
                    <a:lstStyle/>
                    <a:p>
                      <a:pPr algn="l"/>
                      <a:r>
                        <a:rPr sz="1000" b="0">
                          <a:solidFill>
                            <a:srgbClr val="101828"/>
                          </a:solidFill>
                          <a:latin typeface="Calibri"/>
                        </a:rPr>
                        <a:t>Steering</a:t>
                      </a:r>
                    </a:p>
                  </a:txBody>
                  <a:tcPr marL="45720" marR="45720" marT="18288" marB="18288">
                    <a:solidFill>
                      <a:srgbClr val="FFFFFF"/>
                    </a:solidFill>
                  </a:tcPr>
                </a:tc>
                <a:tc>
                  <a:txBody>
                    <a:bodyPr wrap="square"/>
                    <a:lstStyle/>
                    <a:p>
                      <a:pPr algn="l"/>
                      <a:r>
                        <a:rPr sz="1000" b="0">
                          <a:solidFill>
                            <a:srgbClr val="101828"/>
                          </a:solidFill>
                          <a:latin typeface="Calibri"/>
                        </a:rPr>
                        <a:t>0.5</a:t>
                      </a:r>
                    </a:p>
                  </a:txBody>
                  <a:tcPr marL="45720" marR="45720" marT="18288" marB="18288">
                    <a:solidFill>
                      <a:srgbClr val="FFFFFF"/>
                    </a:solidFill>
                  </a:tcPr>
                </a:tc>
              </a:tr>
              <a:tr h="279400">
                <a:tc>
                  <a:txBody>
                    <a:bodyPr wrap="square"/>
                    <a:lstStyle/>
                    <a:p>
                      <a:pPr algn="l"/>
                      <a:r>
                        <a:rPr sz="1000" b="0">
                          <a:solidFill>
                            <a:srgbClr val="101828"/>
                          </a:solidFill>
                          <a:latin typeface="Calibri"/>
                        </a:rPr>
                        <a:t>Freeze pilot ADO repos (read-only)</a:t>
                      </a:r>
                    </a:p>
                  </a:txBody>
                  <a:tcPr marL="45720" marR="45720" marT="18288" marB="18288">
                    <a:solidFill>
                      <a:srgbClr val="F2F4F7"/>
                    </a:solidFill>
                  </a:tcPr>
                </a:tc>
                <a:tc>
                  <a:txBody>
                    <a:bodyPr wrap="square"/>
                    <a:lstStyle/>
                    <a:p>
                      <a:pPr algn="l"/>
                      <a:r>
                        <a:rPr sz="1000" b="0">
                          <a:solidFill>
                            <a:srgbClr val="101828"/>
                          </a:solidFill>
                          <a:latin typeface="Calibri"/>
                        </a:rPr>
                        <a:t>ADO Admin</a:t>
                      </a:r>
                    </a:p>
                  </a:txBody>
                  <a:tcPr marL="45720" marR="45720" marT="18288" marB="18288">
                    <a:solidFill>
                      <a:srgbClr val="F2F4F7"/>
                    </a:solidFill>
                  </a:tcPr>
                </a:tc>
                <a:tc>
                  <a:txBody>
                    <a:bodyPr wrap="square"/>
                    <a:lstStyle/>
                    <a:p>
                      <a:pPr algn="l"/>
                      <a:r>
                        <a:rPr sz="1000" b="0">
                          <a:solidFill>
                            <a:srgbClr val="101828"/>
                          </a:solidFill>
                          <a:latin typeface="Calibri"/>
                        </a:rPr>
                        <a:t>0.5</a:t>
                      </a:r>
                    </a:p>
                  </a:txBody>
                  <a:tcPr marL="45720" marR="45720" marT="18288" marB="18288">
                    <a:solidFill>
                      <a:srgbClr val="F2F4F7"/>
                    </a:solidFill>
                  </a:tcPr>
                </a:tc>
              </a:tr>
              <a:tr h="279400">
                <a:tc>
                  <a:txBody>
                    <a:bodyPr wrap="square"/>
                    <a:lstStyle/>
                    <a:p>
                      <a:pPr algn="l"/>
                      <a:r>
                        <a:rPr sz="1000" b="0">
                          <a:solidFill>
                            <a:srgbClr val="101828"/>
                          </a:solidFill>
                          <a:latin typeface="Calibri"/>
                        </a:rPr>
                        <a:t>Execute pilot migration (5 repos)</a:t>
                      </a:r>
                    </a:p>
                  </a:txBody>
                  <a:tcPr marL="45720" marR="45720" marT="18288" marB="18288">
                    <a:solidFill>
                      <a:srgbClr val="FFFFFF"/>
                    </a:solidFill>
                  </a:tcPr>
                </a:tc>
                <a:tc>
                  <a:txBody>
                    <a:bodyPr wrap="square"/>
                    <a:lstStyle/>
                    <a:p>
                      <a:pPr algn="l"/>
                      <a:r>
                        <a:rPr sz="1000" b="0">
                          <a:solidFill>
                            <a:srgbClr val="101828"/>
                          </a:solidFill>
                          <a:latin typeface="Calibri"/>
                        </a:rPr>
                        <a:t>Migration Pod</a:t>
                      </a:r>
                    </a:p>
                  </a:txBody>
                  <a:tcPr marL="45720" marR="45720" marT="18288" marB="18288">
                    <a:solidFill>
                      <a:srgbClr val="FFFFFF"/>
                    </a:solidFill>
                  </a:tcPr>
                </a:tc>
                <a:tc>
                  <a:txBody>
                    <a:bodyPr wrap="square"/>
                    <a:lstStyle/>
                    <a:p>
                      <a:pPr algn="l"/>
                      <a:r>
                        <a:rPr sz="1000" b="0">
                          <a:solidFill>
                            <a:srgbClr val="101828"/>
                          </a:solidFill>
                          <a:latin typeface="Calibri"/>
                        </a:rPr>
                        <a:t>1</a:t>
                      </a:r>
                    </a:p>
                  </a:txBody>
                  <a:tcPr marL="45720" marR="45720" marT="18288" marB="18288">
                    <a:solidFill>
                      <a:srgbClr val="FFFFFF"/>
                    </a:solidFill>
                  </a:tcPr>
                </a:tc>
              </a:tr>
              <a:tr h="279400">
                <a:tc>
                  <a:txBody>
                    <a:bodyPr wrap="square"/>
                    <a:lstStyle/>
                    <a:p>
                      <a:pPr algn="l"/>
                      <a:r>
                        <a:rPr sz="1000" b="0">
                          <a:solidFill>
                            <a:srgbClr val="101828"/>
                          </a:solidFill>
                          <a:latin typeface="Calibri"/>
                        </a:rPr>
                        <a:t>Apply rulesets + CODEOWNERS to pilot repos</a:t>
                      </a:r>
                    </a:p>
                  </a:txBody>
                  <a:tcPr marL="45720" marR="45720" marT="18288" marB="18288">
                    <a:solidFill>
                      <a:srgbClr val="F2F4F7"/>
                    </a:solidFill>
                  </a:tcPr>
                </a:tc>
                <a:tc>
                  <a:txBody>
                    <a:bodyPr wrap="square"/>
                    <a:lstStyle/>
                    <a:p>
                      <a:pPr algn="l"/>
                      <a:r>
                        <a:rPr sz="1000" b="0">
                          <a:solidFill>
                            <a:srgbClr val="101828"/>
                          </a:solidFill>
                          <a:latin typeface="Calibri"/>
                        </a:rPr>
                        <a:t>InfoSec + Platform</a:t>
                      </a:r>
                    </a:p>
                  </a:txBody>
                  <a:tcPr marL="45720" marR="45720" marT="18288" marB="18288">
                    <a:solidFill>
                      <a:srgbClr val="F2F4F7"/>
                    </a:solidFill>
                  </a:tcPr>
                </a:tc>
                <a:tc>
                  <a:txBody>
                    <a:bodyPr wrap="square"/>
                    <a:lstStyle/>
                    <a:p>
                      <a:pPr algn="l"/>
                      <a:r>
                        <a:rPr sz="1000" b="0">
                          <a:solidFill>
                            <a:srgbClr val="101828"/>
                          </a:solidFill>
                          <a:latin typeface="Calibri"/>
                        </a:rPr>
                        <a:t>1</a:t>
                      </a:r>
                    </a:p>
                  </a:txBody>
                  <a:tcPr marL="45720" marR="45720" marT="18288" marB="18288">
                    <a:solidFill>
                      <a:srgbClr val="F2F4F7"/>
                    </a:solidFill>
                  </a:tcPr>
                </a:tc>
              </a:tr>
              <a:tr h="279400">
                <a:tc>
                  <a:txBody>
                    <a:bodyPr wrap="square"/>
                    <a:lstStyle/>
                    <a:p>
                      <a:pPr algn="l"/>
                      <a:r>
                        <a:rPr sz="1000" b="0">
                          <a:solidFill>
                            <a:srgbClr val="101828"/>
                          </a:solidFill>
                          <a:latin typeface="Calibri"/>
                        </a:rPr>
                        <a:t>Install Azure Boards GitHub App on GHE pilot org</a:t>
                      </a:r>
                    </a:p>
                  </a:txBody>
                  <a:tcPr marL="45720" marR="45720" marT="18288" marB="18288">
                    <a:solidFill>
                      <a:srgbClr val="FFFFFF"/>
                    </a:solidFill>
                  </a:tcPr>
                </a:tc>
                <a:tc>
                  <a:txBody>
                    <a:bodyPr wrap="square"/>
                    <a:lstStyle/>
                    <a:p>
                      <a:pPr algn="l"/>
                      <a:r>
                        <a:rPr sz="1000" b="0">
                          <a:solidFill>
                            <a:srgbClr val="101828"/>
                          </a:solidFill>
                          <a:latin typeface="Calibri"/>
                        </a:rPr>
                        <a:t>Platform + ADO Admin</a:t>
                      </a:r>
                    </a:p>
                  </a:txBody>
                  <a:tcPr marL="45720" marR="45720" marT="18288" marB="18288">
                    <a:solidFill>
                      <a:srgbClr val="FFFFFF"/>
                    </a:solidFill>
                  </a:tcPr>
                </a:tc>
                <a:tc>
                  <a:txBody>
                    <a:bodyPr wrap="square"/>
                    <a:lstStyle/>
                    <a:p>
                      <a:pPr algn="l"/>
                      <a:r>
                        <a:rPr sz="1000" b="0">
                          <a:solidFill>
                            <a:srgbClr val="101828"/>
                          </a:solidFill>
                          <a:latin typeface="Calibri"/>
                        </a:rPr>
                        <a:t>0.5</a:t>
                      </a:r>
                    </a:p>
                  </a:txBody>
                  <a:tcPr marL="45720" marR="45720" marT="18288" marB="18288">
                    <a:solidFill>
                      <a:srgbClr val="FFFFFF"/>
                    </a:solidFill>
                  </a:tcPr>
                </a:tc>
              </a:tr>
              <a:tr h="279400">
                <a:tc>
                  <a:txBody>
                    <a:bodyPr wrap="square"/>
                    <a:lstStyle/>
                    <a:p>
                      <a:pPr algn="l"/>
                      <a:r>
                        <a:rPr sz="1000" b="0">
                          <a:solidFill>
                            <a:srgbClr val="101828"/>
                          </a:solidFill>
                          <a:latin typeface="Calibri"/>
                        </a:rPr>
                        <a:t>Connect Boards App to ADO org/projects</a:t>
                      </a:r>
                    </a:p>
                  </a:txBody>
                  <a:tcPr marL="45720" marR="45720" marT="18288" marB="18288">
                    <a:solidFill>
                      <a:srgbClr val="F2F4F7"/>
                    </a:solidFill>
                  </a:tcPr>
                </a:tc>
                <a:tc>
                  <a:txBody>
                    <a:bodyPr wrap="square"/>
                    <a:lstStyle/>
                    <a:p>
                      <a:pPr algn="l"/>
                      <a:r>
                        <a:rPr sz="1000" b="0">
                          <a:solidFill>
                            <a:srgbClr val="101828"/>
                          </a:solidFill>
                          <a:latin typeface="Calibri"/>
                        </a:rPr>
                        <a:t>Platform + ADO Admin</a:t>
                      </a:r>
                    </a:p>
                  </a:txBody>
                  <a:tcPr marL="45720" marR="45720" marT="18288" marB="18288">
                    <a:solidFill>
                      <a:srgbClr val="F2F4F7"/>
                    </a:solidFill>
                  </a:tcPr>
                </a:tc>
                <a:tc>
                  <a:txBody>
                    <a:bodyPr wrap="square"/>
                    <a:lstStyle/>
                    <a:p>
                      <a:pPr algn="l"/>
                      <a:r>
                        <a:rPr sz="1000" b="0">
                          <a:solidFill>
                            <a:srgbClr val="101828"/>
                          </a:solidFill>
                          <a:latin typeface="Calibri"/>
                        </a:rPr>
                        <a:t>0.5</a:t>
                      </a:r>
                    </a:p>
                  </a:txBody>
                  <a:tcPr marL="45720" marR="45720" marT="18288" marB="18288">
                    <a:solidFill>
                      <a:srgbClr val="F2F4F7"/>
                    </a:solidFill>
                  </a:tcPr>
                </a:tc>
              </a:tr>
              <a:tr h="279400">
                <a:tc>
                  <a:txBody>
                    <a:bodyPr wrap="square"/>
                    <a:lstStyle/>
                    <a:p>
                      <a:pPr algn="l"/>
                      <a:r>
                        <a:rPr sz="1000" b="0">
                          <a:solidFill>
                            <a:srgbClr val="101828"/>
                          </a:solidFill>
                          <a:latin typeface="Calibri"/>
                        </a:rPr>
                        <a:t>Test AB#123 linking (commits, PRs, branches, merge)</a:t>
                      </a:r>
                    </a:p>
                  </a:txBody>
                  <a:tcPr marL="45720" marR="45720" marT="18288" marB="18288">
                    <a:solidFill>
                      <a:srgbClr val="FFFFFF"/>
                    </a:solidFill>
                  </a:tcPr>
                </a:tc>
                <a:tc>
                  <a:txBody>
                    <a:bodyPr wrap="square"/>
                    <a:lstStyle/>
                    <a:p>
                      <a:pPr algn="l"/>
                      <a:r>
                        <a:rPr sz="1000" b="0">
                          <a:solidFill>
                            <a:srgbClr val="101828"/>
                          </a:solidFill>
                          <a:latin typeface="Calibri"/>
                        </a:rPr>
                        <a:t>DevEx + Owners</a:t>
                      </a:r>
                    </a:p>
                  </a:txBody>
                  <a:tcPr marL="45720" marR="45720" marT="18288" marB="18288">
                    <a:solidFill>
                      <a:srgbClr val="FFFFFF"/>
                    </a:solidFill>
                  </a:tcPr>
                </a:tc>
                <a:tc>
                  <a:txBody>
                    <a:bodyPr wrap="square"/>
                    <a:lstStyle/>
                    <a:p>
                      <a:pPr algn="l"/>
                      <a:r>
                        <a:rPr sz="1000" b="0">
                          <a:solidFill>
                            <a:srgbClr val="101828"/>
                          </a:solidFill>
                          <a:latin typeface="Calibri"/>
                        </a:rPr>
                        <a:t>1</a:t>
                      </a:r>
                    </a:p>
                  </a:txBody>
                  <a:tcPr marL="45720" marR="45720" marT="18288" marB="18288">
                    <a:solidFill>
                      <a:srgbClr val="FFFFFF"/>
                    </a:solidFill>
                  </a:tcPr>
                </a:tc>
              </a:tr>
              <a:tr h="279400">
                <a:tc>
                  <a:txBody>
                    <a:bodyPr wrap="square"/>
                    <a:lstStyle/>
                    <a:p>
                      <a:pPr algn="l"/>
                      <a:r>
                        <a:rPr sz="1000" b="0">
                          <a:solidFill>
                            <a:srgbClr val="101828"/>
                          </a:solidFill>
                          <a:latin typeface="Calibri"/>
                        </a:rPr>
                        <a:t>Install Azure Pipelines GitHub App on GHE org</a:t>
                      </a:r>
                    </a:p>
                  </a:txBody>
                  <a:tcPr marL="45720" marR="45720" marT="18288" marB="18288">
                    <a:solidFill>
                      <a:srgbClr val="F2F4F7"/>
                    </a:solidFill>
                  </a:tcPr>
                </a:tc>
                <a:tc>
                  <a:txBody>
                    <a:bodyPr wrap="square"/>
                    <a:lstStyle/>
                    <a:p>
                      <a:pPr algn="l"/>
                      <a:r>
                        <a:rPr sz="1000" b="0">
                          <a:solidFill>
                            <a:srgbClr val="101828"/>
                          </a:solidFill>
                          <a:latin typeface="Calibri"/>
                        </a:rPr>
                        <a:t>Platform</a:t>
                      </a:r>
                    </a:p>
                  </a:txBody>
                  <a:tcPr marL="45720" marR="45720" marT="18288" marB="18288">
                    <a:solidFill>
                      <a:srgbClr val="F2F4F7"/>
                    </a:solidFill>
                  </a:tcPr>
                </a:tc>
                <a:tc>
                  <a:txBody>
                    <a:bodyPr wrap="square"/>
                    <a:lstStyle/>
                    <a:p>
                      <a:pPr algn="l"/>
                      <a:r>
                        <a:rPr sz="1000" b="0">
                          <a:solidFill>
                            <a:srgbClr val="101828"/>
                          </a:solidFill>
                          <a:latin typeface="Calibri"/>
                        </a:rPr>
                        <a:t>0.5</a:t>
                      </a:r>
                    </a:p>
                  </a:txBody>
                  <a:tcPr marL="45720" marR="45720" marT="18288" marB="18288">
                    <a:solidFill>
                      <a:srgbClr val="F2F4F7"/>
                    </a:solidFill>
                  </a:tcPr>
                </a:tc>
              </a:tr>
              <a:tr h="279400">
                <a:tc>
                  <a:txBody>
                    <a:bodyPr wrap="square"/>
                    <a:lstStyle/>
                    <a:p>
                      <a:pPr algn="l"/>
                      <a:r>
                        <a:rPr sz="1000" b="0">
                          <a:solidFill>
                            <a:srgbClr val="101828"/>
                          </a:solidFill>
                          <a:latin typeface="Calibri"/>
                        </a:rPr>
                        <a:t>Re-point pilot pipelines (5-10 pipelines)</a:t>
                      </a:r>
                    </a:p>
                  </a:txBody>
                  <a:tcPr marL="45720" marR="45720" marT="18288" marB="18288">
                    <a:solidFill>
                      <a:srgbClr val="FFFFFF"/>
                    </a:solidFill>
                  </a:tcPr>
                </a:tc>
                <a:tc>
                  <a:txBody>
                    <a:bodyPr wrap="square"/>
                    <a:lstStyle/>
                    <a:p>
                      <a:pPr algn="l"/>
                      <a:r>
                        <a:rPr sz="1000" b="0">
                          <a:solidFill>
                            <a:srgbClr val="101828"/>
                          </a:solidFill>
                          <a:latin typeface="Calibri"/>
                        </a:rPr>
                        <a:t>DevEx</a:t>
                      </a:r>
                    </a:p>
                  </a:txBody>
                  <a:tcPr marL="45720" marR="45720" marT="18288" marB="18288">
                    <a:solidFill>
                      <a:srgbClr val="FFFFFF"/>
                    </a:solidFill>
                  </a:tcPr>
                </a:tc>
                <a:tc>
                  <a:txBody>
                    <a:bodyPr wrap="square"/>
                    <a:lstStyle/>
                    <a:p>
                      <a:pPr algn="l"/>
                      <a:r>
                        <a:rPr sz="1000" b="0">
                          <a:solidFill>
                            <a:srgbClr val="101828"/>
                          </a:solidFill>
                          <a:latin typeface="Calibri"/>
                        </a:rPr>
                        <a:t>2</a:t>
                      </a:r>
                    </a:p>
                  </a:txBody>
                  <a:tcPr marL="45720" marR="45720" marT="18288" marB="18288">
                    <a:solidFill>
                      <a:srgbClr val="FFFFFF"/>
                    </a:solidFill>
                  </a:tcPr>
                </a:tc>
              </a:tr>
              <a:tr h="279400">
                <a:tc>
                  <a:txBody>
                    <a:bodyPr wrap="square"/>
                    <a:lstStyle/>
                    <a:p>
                      <a:pPr algn="l"/>
                      <a:r>
                        <a:rPr sz="1000" b="0">
                          <a:solidFill>
                            <a:srgbClr val="101828"/>
                          </a:solidFill>
                          <a:latin typeface="Calibri"/>
                        </a:rPr>
                        <a:t>Validate build + release end-to-end</a:t>
                      </a:r>
                    </a:p>
                  </a:txBody>
                  <a:tcPr marL="45720" marR="45720" marT="18288" marB="18288">
                    <a:solidFill>
                      <a:srgbClr val="F2F4F7"/>
                    </a:solidFill>
                  </a:tcPr>
                </a:tc>
                <a:tc>
                  <a:txBody>
                    <a:bodyPr wrap="square"/>
                    <a:lstStyle/>
                    <a:p>
                      <a:pPr algn="l"/>
                      <a:r>
                        <a:rPr sz="1000" b="0">
                          <a:solidFill>
                            <a:srgbClr val="101828"/>
                          </a:solidFill>
                          <a:latin typeface="Calibri"/>
                        </a:rPr>
                        <a:t>DevEx + Owners</a:t>
                      </a:r>
                    </a:p>
                  </a:txBody>
                  <a:tcPr marL="45720" marR="45720" marT="18288" marB="18288">
                    <a:solidFill>
                      <a:srgbClr val="F2F4F7"/>
                    </a:solidFill>
                  </a:tcPr>
                </a:tc>
                <a:tc>
                  <a:txBody>
                    <a:bodyPr wrap="square"/>
                    <a:lstStyle/>
                    <a:p>
                      <a:pPr algn="l"/>
                      <a:r>
                        <a:rPr sz="1000" b="0">
                          <a:solidFill>
                            <a:srgbClr val="101828"/>
                          </a:solidFill>
                          <a:latin typeface="Calibri"/>
                        </a:rPr>
                        <a:t>1</a:t>
                      </a:r>
                    </a:p>
                  </a:txBody>
                  <a:tcPr marL="45720" marR="45720" marT="18288" marB="18288">
                    <a:solidFill>
                      <a:srgbClr val="F2F4F7"/>
                    </a:solidFill>
                  </a:tcPr>
                </a:tc>
              </a:tr>
              <a:tr h="279400">
                <a:tc>
                  <a:txBody>
                    <a:bodyPr wrap="square"/>
                    <a:lstStyle/>
                    <a:p>
                      <a:pPr algn="l"/>
                      <a:r>
                        <a:rPr sz="1000" b="0">
                          <a:solidFill>
                            <a:srgbClr val="101828"/>
                          </a:solidFill>
                          <a:latin typeface="Calibri"/>
                        </a:rPr>
                        <a:t>Mannequin reclamation for pilot</a:t>
                      </a:r>
                    </a:p>
                  </a:txBody>
                  <a:tcPr marL="45720" marR="45720" marT="18288" marB="18288">
                    <a:solidFill>
                      <a:srgbClr val="FFFFFF"/>
                    </a:solidFill>
                  </a:tcPr>
                </a:tc>
                <a:tc>
                  <a:txBody>
                    <a:bodyPr wrap="square"/>
                    <a:lstStyle/>
                    <a:p>
                      <a:pPr algn="l"/>
                      <a:r>
                        <a:rPr sz="1000" b="0">
                          <a:solidFill>
                            <a:srgbClr val="101828"/>
                          </a:solidFill>
                          <a:latin typeface="Calibri"/>
                        </a:rPr>
                        <a:t>Platform</a:t>
                      </a:r>
                    </a:p>
                  </a:txBody>
                  <a:tcPr marL="45720" marR="45720" marT="18288" marB="18288">
                    <a:solidFill>
                      <a:srgbClr val="FFFFFF"/>
                    </a:solidFill>
                  </a:tcPr>
                </a:tc>
                <a:tc>
                  <a:txBody>
                    <a:bodyPr wrap="square"/>
                    <a:lstStyle/>
                    <a:p>
                      <a:pPr algn="l"/>
                      <a:r>
                        <a:rPr sz="1000" b="0">
                          <a:solidFill>
                            <a:srgbClr val="101828"/>
                          </a:solidFill>
                          <a:latin typeface="Calibri"/>
                        </a:rPr>
                        <a:t>1</a:t>
                      </a:r>
                    </a:p>
                  </a:txBody>
                  <a:tcPr marL="45720" marR="45720" marT="18288" marB="18288">
                    <a:solidFill>
                      <a:srgbClr val="FFFFFF"/>
                    </a:solidFill>
                  </a:tcPr>
                </a:tc>
              </a:tr>
              <a:tr h="279400">
                <a:tc>
                  <a:txBody>
                    <a:bodyPr wrap="square"/>
                    <a:lstStyle/>
                    <a:p>
                      <a:pPr algn="l"/>
                      <a:r>
                        <a:rPr sz="1000" b="0">
                          <a:solidFill>
                            <a:srgbClr val="101828"/>
                          </a:solidFill>
                          <a:latin typeface="Calibri"/>
                        </a:rPr>
                        <a:t>Hypercare D+1 -&gt; D+3</a:t>
                      </a:r>
                    </a:p>
                  </a:txBody>
                  <a:tcPr marL="45720" marR="45720" marT="18288" marB="18288">
                    <a:solidFill>
                      <a:srgbClr val="F2F4F7"/>
                    </a:solidFill>
                  </a:tcPr>
                </a:tc>
                <a:tc>
                  <a:txBody>
                    <a:bodyPr wrap="square"/>
                    <a:lstStyle/>
                    <a:p>
                      <a:pPr algn="l"/>
                      <a:r>
                        <a:rPr sz="1000" b="0">
                          <a:solidFill>
                            <a:srgbClr val="101828"/>
                          </a:solidFill>
                          <a:latin typeface="Calibri"/>
                        </a:rPr>
                        <a:t>Wave Lead + Pods</a:t>
                      </a:r>
                    </a:p>
                  </a:txBody>
                  <a:tcPr marL="45720" marR="45720" marT="18288" marB="18288">
                    <a:solidFill>
                      <a:srgbClr val="F2F4F7"/>
                    </a:solidFill>
                  </a:tcPr>
                </a:tc>
                <a:tc>
                  <a:txBody>
                    <a:bodyPr wrap="square"/>
                    <a:lstStyle/>
                    <a:p>
                      <a:pPr algn="l"/>
                      <a:r>
                        <a:rPr sz="1000" b="0">
                          <a:solidFill>
                            <a:srgbClr val="101828"/>
                          </a:solidFill>
                          <a:latin typeface="Calibri"/>
                        </a:rPr>
                        <a:t>2</a:t>
                      </a:r>
                    </a:p>
                  </a:txBody>
                  <a:tcPr marL="45720" marR="45720" marT="18288" marB="18288">
                    <a:solidFill>
                      <a:srgbClr val="F2F4F7"/>
                    </a:solidFill>
                  </a:tcPr>
                </a:tc>
              </a:tr>
              <a:tr h="279400">
                <a:tc>
                  <a:txBody>
                    <a:bodyPr wrap="square"/>
                    <a:lstStyle/>
                    <a:p>
                      <a:pPr algn="l"/>
                      <a:r>
                        <a:rPr sz="1000" b="0">
                          <a:solidFill>
                            <a:srgbClr val="101828"/>
                          </a:solidFill>
                          <a:latin typeface="Calibri"/>
                        </a:rPr>
                        <a:t>Archive pilot ADO repos (D+7)</a:t>
                      </a:r>
                    </a:p>
                  </a:txBody>
                  <a:tcPr marL="45720" marR="45720" marT="18288" marB="18288">
                    <a:solidFill>
                      <a:srgbClr val="FFFFFF"/>
                    </a:solidFill>
                  </a:tcPr>
                </a:tc>
                <a:tc>
                  <a:txBody>
                    <a:bodyPr wrap="square"/>
                    <a:lstStyle/>
                    <a:p>
                      <a:pPr algn="l"/>
                      <a:r>
                        <a:rPr sz="1000" b="0">
                          <a:solidFill>
                            <a:srgbClr val="101828"/>
                          </a:solidFill>
                          <a:latin typeface="Calibri"/>
                        </a:rPr>
                        <a:t>ADO Admin</a:t>
                      </a:r>
                    </a:p>
                  </a:txBody>
                  <a:tcPr marL="45720" marR="45720" marT="18288" marB="18288">
                    <a:solidFill>
                      <a:srgbClr val="FFFFFF"/>
                    </a:solidFill>
                  </a:tcPr>
                </a:tc>
                <a:tc>
                  <a:txBody>
                    <a:bodyPr wrap="square"/>
                    <a:lstStyle/>
                    <a:p>
                      <a:pPr algn="l"/>
                      <a:r>
                        <a:rPr sz="1000" b="0">
                          <a:solidFill>
                            <a:srgbClr val="101828"/>
                          </a:solidFill>
                          <a:latin typeface="Calibri"/>
                        </a:rPr>
                        <a:t>0.5</a:t>
                      </a:r>
                    </a:p>
                  </a:txBody>
                  <a:tcPr marL="45720" marR="45720" marT="18288" marB="18288">
                    <a:solidFill>
                      <a:srgbClr val="FFFFFF"/>
                    </a:solidFill>
                  </a:tcPr>
                </a:tc>
              </a:tr>
              <a:tr h="279400">
                <a:tc>
                  <a:txBody>
                    <a:bodyPr wrap="square"/>
                    <a:lstStyle/>
                    <a:p>
                      <a:pPr algn="l"/>
                      <a:r>
                        <a:rPr sz="1000" b="0">
                          <a:solidFill>
                            <a:srgbClr val="101828"/>
                          </a:solidFill>
                          <a:latin typeface="Calibri"/>
                        </a:rPr>
                        <a:t>Pilot retrospective + runsheet update</a:t>
                      </a:r>
                    </a:p>
                  </a:txBody>
                  <a:tcPr marL="45720" marR="45720" marT="18288" marB="18288">
                    <a:solidFill>
                      <a:srgbClr val="F2F4F7"/>
                    </a:solidFill>
                  </a:tcPr>
                </a:tc>
                <a:tc>
                  <a:txBody>
                    <a:bodyPr wrap="square"/>
                    <a:lstStyle/>
                    <a:p>
                      <a:pPr algn="l"/>
                      <a:r>
                        <a:rPr sz="1000" b="0">
                          <a:solidFill>
                            <a:srgbClr val="101828"/>
                          </a:solidFill>
                          <a:latin typeface="Calibri"/>
                        </a:rPr>
                        <a:t>PM</a:t>
                      </a:r>
                    </a:p>
                  </a:txBody>
                  <a:tcPr marL="45720" marR="45720" marT="18288" marB="18288">
                    <a:solidFill>
                      <a:srgbClr val="F2F4F7"/>
                    </a:solidFill>
                  </a:tcPr>
                </a:tc>
                <a:tc>
                  <a:txBody>
                    <a:bodyPr wrap="square"/>
                    <a:lstStyle/>
                    <a:p>
                      <a:pPr algn="l"/>
                      <a:r>
                        <a:rPr sz="1000" b="0">
                          <a:solidFill>
                            <a:srgbClr val="101828"/>
                          </a:solidFill>
                          <a:latin typeface="Calibri"/>
                        </a:rPr>
                        <a:t>1</a:t>
                      </a:r>
                    </a:p>
                  </a:txBody>
                  <a:tcPr marL="45720" marR="45720" marT="18288" marB="18288">
                    <a:solidFill>
                      <a:srgbClr val="F2F4F7"/>
                    </a:solidFill>
                  </a:tcPr>
                </a:tc>
              </a:tr>
              <a:tr h="279400">
                <a:tc>
                  <a:txBody>
                    <a:bodyPr wrap="square"/>
                    <a:lstStyle/>
                    <a:p>
                      <a:pPr algn="l"/>
                      <a:r>
                        <a:rPr sz="1000" b="0">
                          <a:solidFill>
                            <a:srgbClr val="101828"/>
                          </a:solidFill>
                          <a:latin typeface="Calibri"/>
                        </a:rPr>
                        <a:t>M3 gate: pilot accepted, scale authorised</a:t>
                      </a:r>
                    </a:p>
                  </a:txBody>
                  <a:tcPr marL="45720" marR="45720" marT="18288" marB="18288">
                    <a:solidFill>
                      <a:srgbClr val="FFFFFF"/>
                    </a:solidFill>
                  </a:tcPr>
                </a:tc>
                <a:tc>
                  <a:txBody>
                    <a:bodyPr wrap="square"/>
                    <a:lstStyle/>
                    <a:p>
                      <a:pPr algn="l"/>
                      <a:r>
                        <a:rPr sz="1000" b="0">
                          <a:solidFill>
                            <a:srgbClr val="101828"/>
                          </a:solidFill>
                          <a:latin typeface="Calibri"/>
                        </a:rPr>
                        <a:t>Steering</a:t>
                      </a:r>
                    </a:p>
                  </a:txBody>
                  <a:tcPr marL="45720" marR="45720" marT="18288" marB="18288">
                    <a:solidFill>
                      <a:srgbClr val="FFFFFF"/>
                    </a:solidFill>
                  </a:tcPr>
                </a:tc>
                <a:tc>
                  <a:txBody>
                    <a:bodyPr wrap="square"/>
                    <a:lstStyle/>
                    <a:p>
                      <a:pPr algn="l"/>
                      <a:r>
                        <a:rPr sz="1000" b="0">
                          <a:solidFill>
                            <a:srgbClr val="101828"/>
                          </a:solidFill>
                          <a:latin typeface="Calibri"/>
                        </a:rPr>
                        <a:t>0.5</a:t>
                      </a:r>
                    </a:p>
                  </a:txBody>
                  <a:tcPr marL="45720" marR="45720" marT="18288" marB="18288">
                    <a:solidFill>
                      <a:srgbClr val="FFFFFF"/>
                    </a:solidFill>
                  </a:tcPr>
                </a:tc>
              </a:tr>
            </a:tbl>
          </a:graphicData>
        </a:graphic>
      </p:graphicFrame>
      <p:sp>
        <p:nvSpPr>
          <p:cNvPr id="8" name="Rectangle 7"/>
          <p:cNvSpPr/>
          <p:nvPr/>
        </p:nvSpPr>
        <p:spPr>
          <a:xfrm>
            <a:off x="365760" y="6172200"/>
            <a:ext cx="11430000" cy="32004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172200"/>
            <a:ext cx="11155680" cy="320040"/>
          </a:xfrm>
          <a:prstGeom prst="rect">
            <a:avLst/>
          </a:prstGeom>
          <a:noFill/>
        </p:spPr>
        <p:txBody>
          <a:bodyPr wrap="square" lIns="45720" rIns="45720" tIns="18288" bIns="18288" anchor="ctr">
            <a:spAutoFit/>
          </a:bodyPr>
          <a:lstStyle/>
          <a:p>
            <a:pPr algn="l"/>
            <a:r>
              <a:rPr sz="1000" b="1">
                <a:solidFill>
                  <a:srgbClr val="101828"/>
                </a:solidFill>
                <a:latin typeface="Calibri"/>
              </a:rPr>
              <a:t>Pilot exits cleanly when: 5 repos live, Boards links verified, pipelines green, zero P1/P2 defects open, retrospective signed off.</a:t>
            </a:r>
          </a:p>
        </p:txBody>
      </p:sp>
      <p:sp>
        <p:nvSpPr>
          <p:cNvPr id="10" name="TextBox 9"/>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11" name="TextBox 10"/>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L2 Plan - Production Waves (Stage 3)</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Weeks 7-9: 4 waves of ~25 repos each, 2 in flight at a time</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97280"/>
            <a:ext cx="10972800" cy="365760"/>
          </a:xfrm>
          <a:prstGeom prst="rect">
            <a:avLst/>
          </a:prstGeom>
          <a:noFill/>
        </p:spPr>
        <p:txBody>
          <a:bodyPr wrap="square" lIns="45720" rIns="45720" tIns="18288" bIns="18288" anchor="t">
            <a:spAutoFit/>
          </a:bodyPr>
          <a:lstStyle/>
          <a:p>
            <a:pPr algn="l"/>
            <a:r>
              <a:rPr sz="1400" b="1">
                <a:solidFill>
                  <a:srgbClr val="1F4D42"/>
                </a:solidFill>
                <a:latin typeface="Calibri"/>
              </a:rPr>
              <a:t>Per-Wave Template (~11 p-days, repeated 4x)</a:t>
            </a:r>
          </a:p>
        </p:txBody>
      </p:sp>
      <p:graphicFrame>
        <p:nvGraphicFramePr>
          <p:cNvPr id="8" name="Table 7"/>
          <p:cNvGraphicFramePr>
            <a:graphicFrameLocks noGrp="1"/>
          </p:cNvGraphicFramePr>
          <p:nvPr/>
        </p:nvGraphicFramePr>
        <p:xfrm>
          <a:off x="365760" y="1554480"/>
          <a:ext cx="7772398" cy="4297680"/>
        </p:xfrm>
        <a:graphic>
          <a:graphicData uri="http://schemas.openxmlformats.org/drawingml/2006/table">
            <a:tbl>
              <a:tblPr firstRow="1" bandRow="1">
                <a:tableStyleId>{5C22544A-7EE6-4342-B048-85BDC9FD1C3A}</a:tableStyleId>
              </a:tblPr>
              <a:tblGrid>
                <a:gridCol w="374573"/>
                <a:gridCol w="4869455"/>
                <a:gridCol w="1872867"/>
                <a:gridCol w="655503"/>
              </a:tblGrid>
              <a:tr h="306977">
                <a:tc>
                  <a:txBody>
                    <a:bodyPr wrap="square"/>
                    <a:lstStyle/>
                    <a:p>
                      <a:pPr algn="l"/>
                      <a:r>
                        <a:rPr sz="1000" b="1">
                          <a:solidFill>
                            <a:srgbClr val="FFFFFF"/>
                          </a:solidFill>
                          <a:latin typeface="Calibri"/>
                        </a:rPr>
                        <a:t>#</a:t>
                      </a:r>
                    </a:p>
                  </a:txBody>
                  <a:tcPr marL="45720" marR="45720" marT="18288" marB="18288">
                    <a:solidFill>
                      <a:srgbClr val="1F4D42"/>
                    </a:solidFill>
                  </a:tcPr>
                </a:tc>
                <a:tc>
                  <a:txBody>
                    <a:bodyPr wrap="square"/>
                    <a:lstStyle/>
                    <a:p>
                      <a:pPr algn="l"/>
                      <a:r>
                        <a:rPr sz="1000" b="1">
                          <a:solidFill>
                            <a:srgbClr val="FFFFFF"/>
                          </a:solidFill>
                          <a:latin typeface="Calibri"/>
                        </a:rPr>
                        <a:t>Activity</a:t>
                      </a:r>
                    </a:p>
                  </a:txBody>
                  <a:tcPr marL="45720" marR="45720" marT="18288" marB="18288">
                    <a:solidFill>
                      <a:srgbClr val="1F4D42"/>
                    </a:solidFill>
                  </a:tcPr>
                </a:tc>
                <a:tc>
                  <a:txBody>
                    <a:bodyPr wrap="square"/>
                    <a:lstStyle/>
                    <a:p>
                      <a:pPr algn="l"/>
                      <a:r>
                        <a:rPr sz="1000" b="1">
                          <a:solidFill>
                            <a:srgbClr val="FFFFFF"/>
                          </a:solidFill>
                          <a:latin typeface="Calibri"/>
                        </a:rPr>
                        <a:t>Owner</a:t>
                      </a:r>
                    </a:p>
                  </a:txBody>
                  <a:tcPr marL="45720" marR="45720" marT="18288" marB="18288">
                    <a:solidFill>
                      <a:srgbClr val="1F4D42"/>
                    </a:solidFill>
                  </a:tcPr>
                </a:tc>
                <a:tc>
                  <a:txBody>
                    <a:bodyPr wrap="square"/>
                    <a:lstStyle/>
                    <a:p>
                      <a:pPr algn="l"/>
                      <a:r>
                        <a:rPr sz="1000" b="1">
                          <a:solidFill>
                            <a:srgbClr val="FFFFFF"/>
                          </a:solidFill>
                          <a:latin typeface="Calibri"/>
                        </a:rPr>
                        <a:t>Days</a:t>
                      </a:r>
                    </a:p>
                  </a:txBody>
                  <a:tcPr marL="45720" marR="45720" marT="18288" marB="18288">
                    <a:solidFill>
                      <a:srgbClr val="1F4D42"/>
                    </a:solidFill>
                  </a:tcPr>
                </a:tc>
              </a:tr>
              <a:tr h="306977">
                <a:tc>
                  <a:txBody>
                    <a:bodyPr wrap="square"/>
                    <a:lstStyle/>
                    <a:p>
                      <a:pPr algn="l"/>
                      <a:r>
                        <a:rPr sz="1000" b="0">
                          <a:solidFill>
                            <a:srgbClr val="101828"/>
                          </a:solidFill>
                          <a:latin typeface="Calibri"/>
                        </a:rPr>
                        <a:t>1</a:t>
                      </a:r>
                    </a:p>
                  </a:txBody>
                  <a:tcPr marL="45720" marR="45720" marT="18288" marB="18288">
                    <a:solidFill>
                      <a:srgbClr val="FFFFFF"/>
                    </a:solidFill>
                  </a:tcPr>
                </a:tc>
                <a:tc>
                  <a:txBody>
                    <a:bodyPr wrap="square"/>
                    <a:lstStyle/>
                    <a:p>
                      <a:pPr algn="l"/>
                      <a:r>
                        <a:rPr sz="1000" b="0">
                          <a:solidFill>
                            <a:srgbClr val="101828"/>
                          </a:solidFill>
                          <a:latin typeface="Calibri"/>
                        </a:rPr>
                        <a:t>Wave manifest confirmed (repos, owners, pipelines)</a:t>
                      </a:r>
                    </a:p>
                  </a:txBody>
                  <a:tcPr marL="45720" marR="45720" marT="18288" marB="18288">
                    <a:solidFill>
                      <a:srgbClr val="FFFFFF"/>
                    </a:solidFill>
                  </a:tcPr>
                </a:tc>
                <a:tc>
                  <a:txBody>
                    <a:bodyPr wrap="square"/>
                    <a:lstStyle/>
                    <a:p>
                      <a:pPr algn="l"/>
                      <a:r>
                        <a:rPr sz="1000" b="0">
                          <a:solidFill>
                            <a:srgbClr val="101828"/>
                          </a:solidFill>
                          <a:latin typeface="Calibri"/>
                        </a:rPr>
                        <a:t>Wave Lead</a:t>
                      </a:r>
                    </a:p>
                  </a:txBody>
                  <a:tcPr marL="45720" marR="45720" marT="18288" marB="18288">
                    <a:solidFill>
                      <a:srgbClr val="FFFFFF"/>
                    </a:solidFill>
                  </a:tcPr>
                </a:tc>
                <a:tc>
                  <a:txBody>
                    <a:bodyPr wrap="square"/>
                    <a:lstStyle/>
                    <a:p>
                      <a:pPr algn="l"/>
                      <a:r>
                        <a:rPr sz="1000" b="0">
                          <a:solidFill>
                            <a:srgbClr val="101828"/>
                          </a:solidFill>
                          <a:latin typeface="Calibri"/>
                        </a:rPr>
                        <a:t>0.5</a:t>
                      </a:r>
                    </a:p>
                  </a:txBody>
                  <a:tcPr marL="45720" marR="45720" marT="18288" marB="18288">
                    <a:solidFill>
                      <a:srgbClr val="FFFFFF"/>
                    </a:solidFill>
                  </a:tcPr>
                </a:tc>
              </a:tr>
              <a:tr h="306977">
                <a:tc>
                  <a:txBody>
                    <a:bodyPr wrap="square"/>
                    <a:lstStyle/>
                    <a:p>
                      <a:pPr algn="l"/>
                      <a:r>
                        <a:rPr sz="1000" b="0">
                          <a:solidFill>
                            <a:srgbClr val="101828"/>
                          </a:solidFill>
                          <a:latin typeface="Calibri"/>
                        </a:rPr>
                        <a:t>2</a:t>
                      </a:r>
                    </a:p>
                  </a:txBody>
                  <a:tcPr marL="45720" marR="45720" marT="18288" marB="18288">
                    <a:solidFill>
                      <a:srgbClr val="F2F4F7"/>
                    </a:solidFill>
                  </a:tcPr>
                </a:tc>
                <a:tc>
                  <a:txBody>
                    <a:bodyPr wrap="square"/>
                    <a:lstStyle/>
                    <a:p>
                      <a:pPr algn="l"/>
                      <a:r>
                        <a:rPr sz="1000" b="0">
                          <a:solidFill>
                            <a:srgbClr val="101828"/>
                          </a:solidFill>
                          <a:latin typeface="Calibri"/>
                        </a:rPr>
                        <a:t>T-10 / T-3 / T-1 comms</a:t>
                      </a:r>
                    </a:p>
                  </a:txBody>
                  <a:tcPr marL="45720" marR="45720" marT="18288" marB="18288">
                    <a:solidFill>
                      <a:srgbClr val="F2F4F7"/>
                    </a:solidFill>
                  </a:tcPr>
                </a:tc>
                <a:tc>
                  <a:txBody>
                    <a:bodyPr wrap="square"/>
                    <a:lstStyle/>
                    <a:p>
                      <a:pPr algn="l"/>
                      <a:r>
                        <a:rPr sz="1000" b="0">
                          <a:solidFill>
                            <a:srgbClr val="101828"/>
                          </a:solidFill>
                          <a:latin typeface="Calibri"/>
                        </a:rPr>
                        <a:t>Change Mgr</a:t>
                      </a:r>
                    </a:p>
                  </a:txBody>
                  <a:tcPr marL="45720" marR="45720" marT="18288" marB="18288">
                    <a:solidFill>
                      <a:srgbClr val="F2F4F7"/>
                    </a:solidFill>
                  </a:tcPr>
                </a:tc>
                <a:tc>
                  <a:txBody>
                    <a:bodyPr wrap="square"/>
                    <a:lstStyle/>
                    <a:p>
                      <a:pPr algn="l"/>
                      <a:r>
                        <a:rPr sz="1000" b="0">
                          <a:solidFill>
                            <a:srgbClr val="101828"/>
                          </a:solidFill>
                          <a:latin typeface="Calibri"/>
                        </a:rPr>
                        <a:t>1</a:t>
                      </a:r>
                    </a:p>
                  </a:txBody>
                  <a:tcPr marL="45720" marR="45720" marT="18288" marB="18288">
                    <a:solidFill>
                      <a:srgbClr val="F2F4F7"/>
                    </a:solidFill>
                  </a:tcPr>
                </a:tc>
              </a:tr>
              <a:tr h="306977">
                <a:tc>
                  <a:txBody>
                    <a:bodyPr wrap="square"/>
                    <a:lstStyle/>
                    <a:p>
                      <a:pPr algn="l"/>
                      <a:r>
                        <a:rPr sz="1000" b="0">
                          <a:solidFill>
                            <a:srgbClr val="101828"/>
                          </a:solidFill>
                          <a:latin typeface="Calibri"/>
                        </a:rPr>
                        <a:t>3</a:t>
                      </a:r>
                    </a:p>
                  </a:txBody>
                  <a:tcPr marL="45720" marR="45720" marT="18288" marB="18288">
                    <a:solidFill>
                      <a:srgbClr val="FFFFFF"/>
                    </a:solidFill>
                  </a:tcPr>
                </a:tc>
                <a:tc>
                  <a:txBody>
                    <a:bodyPr wrap="square"/>
                    <a:lstStyle/>
                    <a:p>
                      <a:pPr algn="l"/>
                      <a:r>
                        <a:rPr sz="1000" b="0">
                          <a:solidFill>
                            <a:srgbClr val="101828"/>
                          </a:solidFill>
                          <a:latin typeface="Calibri"/>
                        </a:rPr>
                        <a:t>Dry-run wave migration in sandbox</a:t>
                      </a:r>
                    </a:p>
                  </a:txBody>
                  <a:tcPr marL="45720" marR="45720" marT="18288" marB="18288">
                    <a:solidFill>
                      <a:srgbClr val="FFFFFF"/>
                    </a:solidFill>
                  </a:tcPr>
                </a:tc>
                <a:tc>
                  <a:txBody>
                    <a:bodyPr wrap="square"/>
                    <a:lstStyle/>
                    <a:p>
                      <a:pPr algn="l"/>
                      <a:r>
                        <a:rPr sz="1000" b="0">
                          <a:solidFill>
                            <a:srgbClr val="101828"/>
                          </a:solidFill>
                          <a:latin typeface="Calibri"/>
                        </a:rPr>
                        <a:t>Migration Pod</a:t>
                      </a:r>
                    </a:p>
                  </a:txBody>
                  <a:tcPr marL="45720" marR="45720" marT="18288" marB="18288">
                    <a:solidFill>
                      <a:srgbClr val="FFFFFF"/>
                    </a:solidFill>
                  </a:tcPr>
                </a:tc>
                <a:tc>
                  <a:txBody>
                    <a:bodyPr wrap="square"/>
                    <a:lstStyle/>
                    <a:p>
                      <a:pPr algn="l"/>
                      <a:r>
                        <a:rPr sz="1000" b="0">
                          <a:solidFill>
                            <a:srgbClr val="101828"/>
                          </a:solidFill>
                          <a:latin typeface="Calibri"/>
                        </a:rPr>
                        <a:t>1</a:t>
                      </a:r>
                    </a:p>
                  </a:txBody>
                  <a:tcPr marL="45720" marR="45720" marT="18288" marB="18288">
                    <a:solidFill>
                      <a:srgbClr val="FFFFFF"/>
                    </a:solidFill>
                  </a:tcPr>
                </a:tc>
              </a:tr>
              <a:tr h="306977">
                <a:tc>
                  <a:txBody>
                    <a:bodyPr wrap="square"/>
                    <a:lstStyle/>
                    <a:p>
                      <a:pPr algn="l"/>
                      <a:r>
                        <a:rPr sz="1000" b="0">
                          <a:solidFill>
                            <a:srgbClr val="101828"/>
                          </a:solidFill>
                          <a:latin typeface="Calibri"/>
                        </a:rPr>
                        <a:t>4</a:t>
                      </a:r>
                    </a:p>
                  </a:txBody>
                  <a:tcPr marL="45720" marR="45720" marT="18288" marB="18288">
                    <a:solidFill>
                      <a:srgbClr val="F2F4F7"/>
                    </a:solidFill>
                  </a:tcPr>
                </a:tc>
                <a:tc>
                  <a:txBody>
                    <a:bodyPr wrap="square"/>
                    <a:lstStyle/>
                    <a:p>
                      <a:pPr algn="l"/>
                      <a:r>
                        <a:rPr sz="1000" b="0">
                          <a:solidFill>
                            <a:srgbClr val="101828"/>
                          </a:solidFill>
                          <a:latin typeface="Calibri"/>
                        </a:rPr>
                        <a:t>Go / No-Go meeting</a:t>
                      </a:r>
                    </a:p>
                  </a:txBody>
                  <a:tcPr marL="45720" marR="45720" marT="18288" marB="18288">
                    <a:solidFill>
                      <a:srgbClr val="F2F4F7"/>
                    </a:solidFill>
                  </a:tcPr>
                </a:tc>
                <a:tc>
                  <a:txBody>
                    <a:bodyPr wrap="square"/>
                    <a:lstStyle/>
                    <a:p>
                      <a:pPr algn="l"/>
                      <a:r>
                        <a:rPr sz="1000" b="0">
                          <a:solidFill>
                            <a:srgbClr val="101828"/>
                          </a:solidFill>
                          <a:latin typeface="Calibri"/>
                        </a:rPr>
                        <a:t>Steering</a:t>
                      </a:r>
                    </a:p>
                  </a:txBody>
                  <a:tcPr marL="45720" marR="45720" marT="18288" marB="18288">
                    <a:solidFill>
                      <a:srgbClr val="F2F4F7"/>
                    </a:solidFill>
                  </a:tcPr>
                </a:tc>
                <a:tc>
                  <a:txBody>
                    <a:bodyPr wrap="square"/>
                    <a:lstStyle/>
                    <a:p>
                      <a:pPr algn="l"/>
                      <a:r>
                        <a:rPr sz="1000" b="0">
                          <a:solidFill>
                            <a:srgbClr val="101828"/>
                          </a:solidFill>
                          <a:latin typeface="Calibri"/>
                        </a:rPr>
                        <a:t>0.5</a:t>
                      </a:r>
                    </a:p>
                  </a:txBody>
                  <a:tcPr marL="45720" marR="45720" marT="18288" marB="18288">
                    <a:solidFill>
                      <a:srgbClr val="F2F4F7"/>
                    </a:solidFill>
                  </a:tcPr>
                </a:tc>
              </a:tr>
              <a:tr h="306977">
                <a:tc>
                  <a:txBody>
                    <a:bodyPr wrap="square"/>
                    <a:lstStyle/>
                    <a:p>
                      <a:pPr algn="l"/>
                      <a:r>
                        <a:rPr sz="1000" b="0">
                          <a:solidFill>
                            <a:srgbClr val="101828"/>
                          </a:solidFill>
                          <a:latin typeface="Calibri"/>
                        </a:rPr>
                        <a:t>5</a:t>
                      </a:r>
                    </a:p>
                  </a:txBody>
                  <a:tcPr marL="45720" marR="45720" marT="18288" marB="18288">
                    <a:solidFill>
                      <a:srgbClr val="FFFFFF"/>
                    </a:solidFill>
                  </a:tcPr>
                </a:tc>
                <a:tc>
                  <a:txBody>
                    <a:bodyPr wrap="square"/>
                    <a:lstStyle/>
                    <a:p>
                      <a:pPr algn="l"/>
                      <a:r>
                        <a:rPr sz="1000" b="0">
                          <a:solidFill>
                            <a:srgbClr val="101828"/>
                          </a:solidFill>
                          <a:latin typeface="Calibri"/>
                        </a:rPr>
                        <a:t>Freeze wave ADO repos</a:t>
                      </a:r>
                    </a:p>
                  </a:txBody>
                  <a:tcPr marL="45720" marR="45720" marT="18288" marB="18288">
                    <a:solidFill>
                      <a:srgbClr val="FFFFFF"/>
                    </a:solidFill>
                  </a:tcPr>
                </a:tc>
                <a:tc>
                  <a:txBody>
                    <a:bodyPr wrap="square"/>
                    <a:lstStyle/>
                    <a:p>
                      <a:pPr algn="l"/>
                      <a:r>
                        <a:rPr sz="1000" b="0">
                          <a:solidFill>
                            <a:srgbClr val="101828"/>
                          </a:solidFill>
                          <a:latin typeface="Calibri"/>
                        </a:rPr>
                        <a:t>ADO Admin</a:t>
                      </a:r>
                    </a:p>
                  </a:txBody>
                  <a:tcPr marL="45720" marR="45720" marT="18288" marB="18288">
                    <a:solidFill>
                      <a:srgbClr val="FFFFFF"/>
                    </a:solidFill>
                  </a:tcPr>
                </a:tc>
                <a:tc>
                  <a:txBody>
                    <a:bodyPr wrap="square"/>
                    <a:lstStyle/>
                    <a:p>
                      <a:pPr algn="l"/>
                      <a:r>
                        <a:rPr sz="1000" b="0">
                          <a:solidFill>
                            <a:srgbClr val="101828"/>
                          </a:solidFill>
                          <a:latin typeface="Calibri"/>
                        </a:rPr>
                        <a:t>0.5</a:t>
                      </a:r>
                    </a:p>
                  </a:txBody>
                  <a:tcPr marL="45720" marR="45720" marT="18288" marB="18288">
                    <a:solidFill>
                      <a:srgbClr val="FFFFFF"/>
                    </a:solidFill>
                  </a:tcPr>
                </a:tc>
              </a:tr>
              <a:tr h="306977">
                <a:tc>
                  <a:txBody>
                    <a:bodyPr wrap="square"/>
                    <a:lstStyle/>
                    <a:p>
                      <a:pPr algn="l"/>
                      <a:r>
                        <a:rPr sz="1000" b="0">
                          <a:solidFill>
                            <a:srgbClr val="101828"/>
                          </a:solidFill>
                          <a:latin typeface="Calibri"/>
                        </a:rPr>
                        <a:t>6</a:t>
                      </a:r>
                    </a:p>
                  </a:txBody>
                  <a:tcPr marL="45720" marR="45720" marT="18288" marB="18288">
                    <a:solidFill>
                      <a:srgbClr val="F2F4F7"/>
                    </a:solidFill>
                  </a:tcPr>
                </a:tc>
                <a:tc>
                  <a:txBody>
                    <a:bodyPr wrap="square"/>
                    <a:lstStyle/>
                    <a:p>
                      <a:pPr algn="l"/>
                      <a:r>
                        <a:rPr sz="1000" b="0">
                          <a:solidFill>
                            <a:srgbClr val="101828"/>
                          </a:solidFill>
                          <a:latin typeface="Calibri"/>
                        </a:rPr>
                        <a:t>Execute migration (25 repos in parallel)</a:t>
                      </a:r>
                    </a:p>
                  </a:txBody>
                  <a:tcPr marL="45720" marR="45720" marT="18288" marB="18288">
                    <a:solidFill>
                      <a:srgbClr val="F2F4F7"/>
                    </a:solidFill>
                  </a:tcPr>
                </a:tc>
                <a:tc>
                  <a:txBody>
                    <a:bodyPr wrap="square"/>
                    <a:lstStyle/>
                    <a:p>
                      <a:pPr algn="l"/>
                      <a:r>
                        <a:rPr sz="1000" b="0">
                          <a:solidFill>
                            <a:srgbClr val="101828"/>
                          </a:solidFill>
                          <a:latin typeface="Calibri"/>
                        </a:rPr>
                        <a:t>Migration Pod</a:t>
                      </a:r>
                    </a:p>
                  </a:txBody>
                  <a:tcPr marL="45720" marR="45720" marT="18288" marB="18288">
                    <a:solidFill>
                      <a:srgbClr val="F2F4F7"/>
                    </a:solidFill>
                  </a:tcPr>
                </a:tc>
                <a:tc>
                  <a:txBody>
                    <a:bodyPr wrap="square"/>
                    <a:lstStyle/>
                    <a:p>
                      <a:pPr algn="l"/>
                      <a:r>
                        <a:rPr sz="1000" b="0">
                          <a:solidFill>
                            <a:srgbClr val="101828"/>
                          </a:solidFill>
                          <a:latin typeface="Calibri"/>
                        </a:rPr>
                        <a:t>1</a:t>
                      </a:r>
                    </a:p>
                  </a:txBody>
                  <a:tcPr marL="45720" marR="45720" marT="18288" marB="18288">
                    <a:solidFill>
                      <a:srgbClr val="F2F4F7"/>
                    </a:solidFill>
                  </a:tcPr>
                </a:tc>
              </a:tr>
              <a:tr h="306977">
                <a:tc>
                  <a:txBody>
                    <a:bodyPr wrap="square"/>
                    <a:lstStyle/>
                    <a:p>
                      <a:pPr algn="l"/>
                      <a:r>
                        <a:rPr sz="1000" b="0">
                          <a:solidFill>
                            <a:srgbClr val="101828"/>
                          </a:solidFill>
                          <a:latin typeface="Calibri"/>
                        </a:rPr>
                        <a:t>7</a:t>
                      </a:r>
                    </a:p>
                  </a:txBody>
                  <a:tcPr marL="45720" marR="45720" marT="18288" marB="18288">
                    <a:solidFill>
                      <a:srgbClr val="FFFFFF"/>
                    </a:solidFill>
                  </a:tcPr>
                </a:tc>
                <a:tc>
                  <a:txBody>
                    <a:bodyPr wrap="square"/>
                    <a:lstStyle/>
                    <a:p>
                      <a:pPr algn="l"/>
                      <a:r>
                        <a:rPr sz="1000" b="0">
                          <a:solidFill>
                            <a:srgbClr val="101828"/>
                          </a:solidFill>
                          <a:latin typeface="Calibri"/>
                        </a:rPr>
                        <a:t>Apply rulesets + CODEOWNERS</a:t>
                      </a:r>
                    </a:p>
                  </a:txBody>
                  <a:tcPr marL="45720" marR="45720" marT="18288" marB="18288">
                    <a:solidFill>
                      <a:srgbClr val="FFFFFF"/>
                    </a:solidFill>
                  </a:tcPr>
                </a:tc>
                <a:tc>
                  <a:txBody>
                    <a:bodyPr wrap="square"/>
                    <a:lstStyle/>
                    <a:p>
                      <a:pPr algn="l"/>
                      <a:r>
                        <a:rPr sz="1000" b="0">
                          <a:solidFill>
                            <a:srgbClr val="101828"/>
                          </a:solidFill>
                          <a:latin typeface="Calibri"/>
                        </a:rPr>
                        <a:t>InfoSec + Platform</a:t>
                      </a:r>
                    </a:p>
                  </a:txBody>
                  <a:tcPr marL="45720" marR="45720" marT="18288" marB="18288">
                    <a:solidFill>
                      <a:srgbClr val="FFFFFF"/>
                    </a:solidFill>
                  </a:tcPr>
                </a:tc>
                <a:tc>
                  <a:txBody>
                    <a:bodyPr wrap="square"/>
                    <a:lstStyle/>
                    <a:p>
                      <a:pPr algn="l"/>
                      <a:r>
                        <a:rPr sz="1000" b="0">
                          <a:solidFill>
                            <a:srgbClr val="101828"/>
                          </a:solidFill>
                          <a:latin typeface="Calibri"/>
                        </a:rPr>
                        <a:t>0.5</a:t>
                      </a:r>
                    </a:p>
                  </a:txBody>
                  <a:tcPr marL="45720" marR="45720" marT="18288" marB="18288">
                    <a:solidFill>
                      <a:srgbClr val="FFFFFF"/>
                    </a:solidFill>
                  </a:tcPr>
                </a:tc>
              </a:tr>
              <a:tr h="306977">
                <a:tc>
                  <a:txBody>
                    <a:bodyPr wrap="square"/>
                    <a:lstStyle/>
                    <a:p>
                      <a:pPr algn="l"/>
                      <a:r>
                        <a:rPr sz="1000" b="0">
                          <a:solidFill>
                            <a:srgbClr val="101828"/>
                          </a:solidFill>
                          <a:latin typeface="Calibri"/>
                        </a:rPr>
                        <a:t>8</a:t>
                      </a:r>
                    </a:p>
                  </a:txBody>
                  <a:tcPr marL="45720" marR="45720" marT="18288" marB="18288">
                    <a:solidFill>
                      <a:srgbClr val="F2F4F7"/>
                    </a:solidFill>
                  </a:tcPr>
                </a:tc>
                <a:tc>
                  <a:txBody>
                    <a:bodyPr wrap="square"/>
                    <a:lstStyle/>
                    <a:p>
                      <a:pPr algn="l"/>
                      <a:r>
                        <a:rPr sz="1000" b="0">
                          <a:solidFill>
                            <a:srgbClr val="101828"/>
                          </a:solidFill>
                          <a:latin typeface="Calibri"/>
                        </a:rPr>
                        <a:t>Verify Boards integration on new repos</a:t>
                      </a:r>
                    </a:p>
                  </a:txBody>
                  <a:tcPr marL="45720" marR="45720" marT="18288" marB="18288">
                    <a:solidFill>
                      <a:srgbClr val="F2F4F7"/>
                    </a:solidFill>
                  </a:tcPr>
                </a:tc>
                <a:tc>
                  <a:txBody>
                    <a:bodyPr wrap="square"/>
                    <a:lstStyle/>
                    <a:p>
                      <a:pPr algn="l"/>
                      <a:r>
                        <a:rPr sz="1000" b="0">
                          <a:solidFill>
                            <a:srgbClr val="101828"/>
                          </a:solidFill>
                          <a:latin typeface="Calibri"/>
                        </a:rPr>
                        <a:t>DevEx</a:t>
                      </a:r>
                    </a:p>
                  </a:txBody>
                  <a:tcPr marL="45720" marR="45720" marT="18288" marB="18288">
                    <a:solidFill>
                      <a:srgbClr val="F2F4F7"/>
                    </a:solidFill>
                  </a:tcPr>
                </a:tc>
                <a:tc>
                  <a:txBody>
                    <a:bodyPr wrap="square"/>
                    <a:lstStyle/>
                    <a:p>
                      <a:pPr algn="l"/>
                      <a:r>
                        <a:rPr sz="1000" b="0">
                          <a:solidFill>
                            <a:srgbClr val="101828"/>
                          </a:solidFill>
                          <a:latin typeface="Calibri"/>
                        </a:rPr>
                        <a:t>0.5</a:t>
                      </a:r>
                    </a:p>
                  </a:txBody>
                  <a:tcPr marL="45720" marR="45720" marT="18288" marB="18288">
                    <a:solidFill>
                      <a:srgbClr val="F2F4F7"/>
                    </a:solidFill>
                  </a:tcPr>
                </a:tc>
              </a:tr>
              <a:tr h="306977">
                <a:tc>
                  <a:txBody>
                    <a:bodyPr wrap="square"/>
                    <a:lstStyle/>
                    <a:p>
                      <a:pPr algn="l"/>
                      <a:r>
                        <a:rPr sz="1000" b="0">
                          <a:solidFill>
                            <a:srgbClr val="101828"/>
                          </a:solidFill>
                          <a:latin typeface="Calibri"/>
                        </a:rPr>
                        <a:t>9</a:t>
                      </a:r>
                    </a:p>
                  </a:txBody>
                  <a:tcPr marL="45720" marR="45720" marT="18288" marB="18288">
                    <a:solidFill>
                      <a:srgbClr val="FFFFFF"/>
                    </a:solidFill>
                  </a:tcPr>
                </a:tc>
                <a:tc>
                  <a:txBody>
                    <a:bodyPr wrap="square"/>
                    <a:lstStyle/>
                    <a:p>
                      <a:pPr algn="l"/>
                      <a:r>
                        <a:rPr sz="1000" b="0">
                          <a:solidFill>
                            <a:srgbClr val="101828"/>
                          </a:solidFill>
                          <a:latin typeface="Calibri"/>
                        </a:rPr>
                        <a:t>Re-point pipelines for wave (~25-50 pipelines)</a:t>
                      </a:r>
                    </a:p>
                  </a:txBody>
                  <a:tcPr marL="45720" marR="45720" marT="18288" marB="18288">
                    <a:solidFill>
                      <a:srgbClr val="FFFFFF"/>
                    </a:solidFill>
                  </a:tcPr>
                </a:tc>
                <a:tc>
                  <a:txBody>
                    <a:bodyPr wrap="square"/>
                    <a:lstStyle/>
                    <a:p>
                      <a:pPr algn="l"/>
                      <a:r>
                        <a:rPr sz="1000" b="0">
                          <a:solidFill>
                            <a:srgbClr val="101828"/>
                          </a:solidFill>
                          <a:latin typeface="Calibri"/>
                        </a:rPr>
                        <a:t>DevEx</a:t>
                      </a:r>
                    </a:p>
                  </a:txBody>
                  <a:tcPr marL="45720" marR="45720" marT="18288" marB="18288">
                    <a:solidFill>
                      <a:srgbClr val="FFFFFF"/>
                    </a:solidFill>
                  </a:tcPr>
                </a:tc>
                <a:tc>
                  <a:txBody>
                    <a:bodyPr wrap="square"/>
                    <a:lstStyle/>
                    <a:p>
                      <a:pPr algn="l"/>
                      <a:r>
                        <a:rPr sz="1000" b="0">
                          <a:solidFill>
                            <a:srgbClr val="101828"/>
                          </a:solidFill>
                          <a:latin typeface="Calibri"/>
                        </a:rPr>
                        <a:t>3</a:t>
                      </a:r>
                    </a:p>
                  </a:txBody>
                  <a:tcPr marL="45720" marR="45720" marT="18288" marB="18288">
                    <a:solidFill>
                      <a:srgbClr val="FFFFFF"/>
                    </a:solidFill>
                  </a:tcPr>
                </a:tc>
              </a:tr>
              <a:tr h="306977">
                <a:tc>
                  <a:txBody>
                    <a:bodyPr wrap="square"/>
                    <a:lstStyle/>
                    <a:p>
                      <a:pPr algn="l"/>
                      <a:r>
                        <a:rPr sz="1000" b="0">
                          <a:solidFill>
                            <a:srgbClr val="101828"/>
                          </a:solidFill>
                          <a:latin typeface="Calibri"/>
                        </a:rPr>
                        <a:t>10</a:t>
                      </a:r>
                    </a:p>
                  </a:txBody>
                  <a:tcPr marL="45720" marR="45720" marT="18288" marB="18288">
                    <a:solidFill>
                      <a:srgbClr val="F2F4F7"/>
                    </a:solidFill>
                  </a:tcPr>
                </a:tc>
                <a:tc>
                  <a:txBody>
                    <a:bodyPr wrap="square"/>
                    <a:lstStyle/>
                    <a:p>
                      <a:pPr algn="l"/>
                      <a:r>
                        <a:rPr sz="1000" b="0">
                          <a:solidFill>
                            <a:srgbClr val="101828"/>
                          </a:solidFill>
                          <a:latin typeface="Calibri"/>
                        </a:rPr>
                        <a:t>Validate builds for wave</a:t>
                      </a:r>
                    </a:p>
                  </a:txBody>
                  <a:tcPr marL="45720" marR="45720" marT="18288" marB="18288">
                    <a:solidFill>
                      <a:srgbClr val="F2F4F7"/>
                    </a:solidFill>
                  </a:tcPr>
                </a:tc>
                <a:tc>
                  <a:txBody>
                    <a:bodyPr wrap="square"/>
                    <a:lstStyle/>
                    <a:p>
                      <a:pPr algn="l"/>
                      <a:r>
                        <a:rPr sz="1000" b="0">
                          <a:solidFill>
                            <a:srgbClr val="101828"/>
                          </a:solidFill>
                          <a:latin typeface="Calibri"/>
                        </a:rPr>
                        <a:t>DevEx + Owners</a:t>
                      </a:r>
                    </a:p>
                  </a:txBody>
                  <a:tcPr marL="45720" marR="45720" marT="18288" marB="18288">
                    <a:solidFill>
                      <a:srgbClr val="F2F4F7"/>
                    </a:solidFill>
                  </a:tcPr>
                </a:tc>
                <a:tc>
                  <a:txBody>
                    <a:bodyPr wrap="square"/>
                    <a:lstStyle/>
                    <a:p>
                      <a:pPr algn="l"/>
                      <a:r>
                        <a:rPr sz="1000" b="0">
                          <a:solidFill>
                            <a:srgbClr val="101828"/>
                          </a:solidFill>
                          <a:latin typeface="Calibri"/>
                        </a:rPr>
                        <a:t>1</a:t>
                      </a:r>
                    </a:p>
                  </a:txBody>
                  <a:tcPr marL="45720" marR="45720" marT="18288" marB="18288">
                    <a:solidFill>
                      <a:srgbClr val="F2F4F7"/>
                    </a:solidFill>
                  </a:tcPr>
                </a:tc>
              </a:tr>
              <a:tr h="306977">
                <a:tc>
                  <a:txBody>
                    <a:bodyPr wrap="square"/>
                    <a:lstStyle/>
                    <a:p>
                      <a:pPr algn="l"/>
                      <a:r>
                        <a:rPr sz="1000" b="0">
                          <a:solidFill>
                            <a:srgbClr val="101828"/>
                          </a:solidFill>
                          <a:latin typeface="Calibri"/>
                        </a:rPr>
                        <a:t>11</a:t>
                      </a:r>
                    </a:p>
                  </a:txBody>
                  <a:tcPr marL="45720" marR="45720" marT="18288" marB="18288">
                    <a:solidFill>
                      <a:srgbClr val="FFFFFF"/>
                    </a:solidFill>
                  </a:tcPr>
                </a:tc>
                <a:tc>
                  <a:txBody>
                    <a:bodyPr wrap="square"/>
                    <a:lstStyle/>
                    <a:p>
                      <a:pPr algn="l"/>
                      <a:r>
                        <a:rPr sz="1000" b="0">
                          <a:solidFill>
                            <a:srgbClr val="101828"/>
                          </a:solidFill>
                          <a:latin typeface="Calibri"/>
                        </a:rPr>
                        <a:t>Mannequin reclamation</a:t>
                      </a:r>
                    </a:p>
                  </a:txBody>
                  <a:tcPr marL="45720" marR="45720" marT="18288" marB="18288">
                    <a:solidFill>
                      <a:srgbClr val="FFFFFF"/>
                    </a:solidFill>
                  </a:tcPr>
                </a:tc>
                <a:tc>
                  <a:txBody>
                    <a:bodyPr wrap="square"/>
                    <a:lstStyle/>
                    <a:p>
                      <a:pPr algn="l"/>
                      <a:r>
                        <a:rPr sz="1000" b="0">
                          <a:solidFill>
                            <a:srgbClr val="101828"/>
                          </a:solidFill>
                          <a:latin typeface="Calibri"/>
                        </a:rPr>
                        <a:t>Platform</a:t>
                      </a:r>
                    </a:p>
                  </a:txBody>
                  <a:tcPr marL="45720" marR="45720" marT="18288" marB="18288">
                    <a:solidFill>
                      <a:srgbClr val="FFFFFF"/>
                    </a:solidFill>
                  </a:tcPr>
                </a:tc>
                <a:tc>
                  <a:txBody>
                    <a:bodyPr wrap="square"/>
                    <a:lstStyle/>
                    <a:p>
                      <a:pPr algn="l"/>
                      <a:r>
                        <a:rPr sz="1000" b="0">
                          <a:solidFill>
                            <a:srgbClr val="101828"/>
                          </a:solidFill>
                          <a:latin typeface="Calibri"/>
                        </a:rPr>
                        <a:t>1</a:t>
                      </a:r>
                    </a:p>
                  </a:txBody>
                  <a:tcPr marL="45720" marR="45720" marT="18288" marB="18288">
                    <a:solidFill>
                      <a:srgbClr val="FFFFFF"/>
                    </a:solidFill>
                  </a:tcPr>
                </a:tc>
              </a:tr>
              <a:tr h="306977">
                <a:tc>
                  <a:txBody>
                    <a:bodyPr wrap="square"/>
                    <a:lstStyle/>
                    <a:p>
                      <a:pPr algn="l"/>
                      <a:r>
                        <a:rPr sz="1000" b="0">
                          <a:solidFill>
                            <a:srgbClr val="101828"/>
                          </a:solidFill>
                          <a:latin typeface="Calibri"/>
                        </a:rPr>
                        <a:t>12</a:t>
                      </a:r>
                    </a:p>
                  </a:txBody>
                  <a:tcPr marL="45720" marR="45720" marT="18288" marB="18288">
                    <a:solidFill>
                      <a:srgbClr val="F2F4F7"/>
                    </a:solidFill>
                  </a:tcPr>
                </a:tc>
                <a:tc>
                  <a:txBody>
                    <a:bodyPr wrap="square"/>
                    <a:lstStyle/>
                    <a:p>
                      <a:pPr algn="l"/>
                      <a:r>
                        <a:rPr sz="1000" b="0">
                          <a:solidFill>
                            <a:srgbClr val="101828"/>
                          </a:solidFill>
                          <a:latin typeface="Calibri"/>
                        </a:rPr>
                        <a:t>Hypercare D+1 -&gt; D+3</a:t>
                      </a:r>
                    </a:p>
                  </a:txBody>
                  <a:tcPr marL="45720" marR="45720" marT="18288" marB="18288">
                    <a:solidFill>
                      <a:srgbClr val="F2F4F7"/>
                    </a:solidFill>
                  </a:tcPr>
                </a:tc>
                <a:tc>
                  <a:txBody>
                    <a:bodyPr wrap="square"/>
                    <a:lstStyle/>
                    <a:p>
                      <a:pPr algn="l"/>
                      <a:r>
                        <a:rPr sz="1000" b="0">
                          <a:solidFill>
                            <a:srgbClr val="101828"/>
                          </a:solidFill>
                          <a:latin typeface="Calibri"/>
                        </a:rPr>
                        <a:t>Wave Lead + Pods</a:t>
                      </a:r>
                    </a:p>
                  </a:txBody>
                  <a:tcPr marL="45720" marR="45720" marT="18288" marB="18288">
                    <a:solidFill>
                      <a:srgbClr val="F2F4F7"/>
                    </a:solidFill>
                  </a:tcPr>
                </a:tc>
                <a:tc>
                  <a:txBody>
                    <a:bodyPr wrap="square"/>
                    <a:lstStyle/>
                    <a:p>
                      <a:pPr algn="l"/>
                      <a:r>
                        <a:rPr sz="1000" b="0">
                          <a:solidFill>
                            <a:srgbClr val="101828"/>
                          </a:solidFill>
                          <a:latin typeface="Calibri"/>
                        </a:rPr>
                        <a:t>2</a:t>
                      </a:r>
                    </a:p>
                  </a:txBody>
                  <a:tcPr marL="45720" marR="45720" marT="18288" marB="18288">
                    <a:solidFill>
                      <a:srgbClr val="F2F4F7"/>
                    </a:solidFill>
                  </a:tcPr>
                </a:tc>
              </a:tr>
              <a:tr h="306979">
                <a:tc>
                  <a:txBody>
                    <a:bodyPr wrap="square"/>
                    <a:lstStyle/>
                    <a:p>
                      <a:pPr algn="l"/>
                      <a:r>
                        <a:rPr sz="1000" b="0">
                          <a:solidFill>
                            <a:srgbClr val="101828"/>
                          </a:solidFill>
                          <a:latin typeface="Calibri"/>
                        </a:rPr>
                        <a:t>13</a:t>
                      </a:r>
                    </a:p>
                  </a:txBody>
                  <a:tcPr marL="45720" marR="45720" marT="18288" marB="18288">
                    <a:solidFill>
                      <a:srgbClr val="FFFFFF"/>
                    </a:solidFill>
                  </a:tcPr>
                </a:tc>
                <a:tc>
                  <a:txBody>
                    <a:bodyPr wrap="square"/>
                    <a:lstStyle/>
                    <a:p>
                      <a:pPr algn="l"/>
                      <a:r>
                        <a:rPr sz="1000" b="0">
                          <a:solidFill>
                            <a:srgbClr val="101828"/>
                          </a:solidFill>
                          <a:latin typeface="Calibri"/>
                        </a:rPr>
                        <a:t>Archive wave ADO repos (D+7)</a:t>
                      </a:r>
                    </a:p>
                  </a:txBody>
                  <a:tcPr marL="45720" marR="45720" marT="18288" marB="18288">
                    <a:solidFill>
                      <a:srgbClr val="FFFFFF"/>
                    </a:solidFill>
                  </a:tcPr>
                </a:tc>
                <a:tc>
                  <a:txBody>
                    <a:bodyPr wrap="square"/>
                    <a:lstStyle/>
                    <a:p>
                      <a:pPr algn="l"/>
                      <a:r>
                        <a:rPr sz="1000" b="0">
                          <a:solidFill>
                            <a:srgbClr val="101828"/>
                          </a:solidFill>
                          <a:latin typeface="Calibri"/>
                        </a:rPr>
                        <a:t>ADO Admin</a:t>
                      </a:r>
                    </a:p>
                  </a:txBody>
                  <a:tcPr marL="45720" marR="45720" marT="18288" marB="18288">
                    <a:solidFill>
                      <a:srgbClr val="FFFFFF"/>
                    </a:solidFill>
                  </a:tcPr>
                </a:tc>
                <a:tc>
                  <a:txBody>
                    <a:bodyPr wrap="square"/>
                    <a:lstStyle/>
                    <a:p>
                      <a:pPr algn="l"/>
                      <a:r>
                        <a:rPr sz="1000" b="0">
                          <a:solidFill>
                            <a:srgbClr val="101828"/>
                          </a:solidFill>
                          <a:latin typeface="Calibri"/>
                        </a:rPr>
                        <a:t>0.5</a:t>
                      </a:r>
                    </a:p>
                  </a:txBody>
                  <a:tcPr marL="45720" marR="45720" marT="18288" marB="18288">
                    <a:solidFill>
                      <a:srgbClr val="FFFFFF"/>
                    </a:solidFill>
                  </a:tcPr>
                </a:tc>
              </a:tr>
            </a:tbl>
          </a:graphicData>
        </a:graphic>
      </p:graphicFrame>
      <p:sp>
        <p:nvSpPr>
          <p:cNvPr id="9" name="Rectangle 8"/>
          <p:cNvSpPr/>
          <p:nvPr/>
        </p:nvSpPr>
        <p:spPr>
          <a:xfrm>
            <a:off x="8412480" y="1554480"/>
            <a:ext cx="3383280" cy="4297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412480" y="1554480"/>
            <a:ext cx="3383280" cy="41148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554480"/>
            <a:ext cx="3383280" cy="411480"/>
          </a:xfrm>
          <a:prstGeom prst="rect">
            <a:avLst/>
          </a:prstGeom>
          <a:noFill/>
        </p:spPr>
        <p:txBody>
          <a:bodyPr wrap="square" lIns="45720" rIns="45720" tIns="18288" bIns="18288" anchor="ctr">
            <a:spAutoFit/>
          </a:bodyPr>
          <a:lstStyle/>
          <a:p>
            <a:pPr algn="ctr"/>
            <a:r>
              <a:rPr sz="1200" b="1">
                <a:solidFill>
                  <a:srgbClr val="FFFFFF"/>
                </a:solidFill>
                <a:latin typeface="Calibri"/>
              </a:rPr>
              <a:t>Wave Cadence</a:t>
            </a:r>
          </a:p>
        </p:txBody>
      </p:sp>
      <p:sp>
        <p:nvSpPr>
          <p:cNvPr id="12" name="TextBox 11"/>
          <p:cNvSpPr txBox="1"/>
          <p:nvPr/>
        </p:nvSpPr>
        <p:spPr>
          <a:xfrm>
            <a:off x="8549640" y="2057400"/>
            <a:ext cx="3200400" cy="3749039"/>
          </a:xfrm>
          <a:prstGeom prst="rect">
            <a:avLst/>
          </a:prstGeom>
          <a:noFill/>
        </p:spPr>
        <p:txBody>
          <a:bodyPr wrap="square" lIns="45720" rIns="45720" tIns="18288" bIns="18288" anchor="t">
            <a:spAutoFit/>
          </a:bodyPr>
          <a:lstStyle/>
          <a:p>
            <a:pPr algn="l"/>
            <a:r>
              <a:rPr sz="1100" b="0">
                <a:solidFill>
                  <a:srgbClr val="101828"/>
                </a:solidFill>
                <a:latin typeface="Calibri"/>
              </a:rPr>
              <a:t>W7  W8  W9</a:t>
            </a:r>
          </a:p>
          <a:p>
            <a:pPr algn="l"/>
            <a:r>
              <a:rPr sz="1100" b="0">
                <a:solidFill>
                  <a:srgbClr val="101828"/>
                </a:solidFill>
                <a:latin typeface="Calibri"/>
              </a:rPr>
              <a:t/>
            </a:r>
          </a:p>
          <a:p>
            <a:pPr algn="l"/>
            <a:r>
              <a:rPr sz="1100" b="0">
                <a:solidFill>
                  <a:srgbClr val="101828"/>
                </a:solidFill>
                <a:latin typeface="Calibri"/>
              </a:rPr>
              <a:t>[--W1--]</a:t>
            </a:r>
          </a:p>
          <a:p>
            <a:pPr algn="l"/>
            <a:r>
              <a:rPr sz="1100" b="0">
                <a:solidFill>
                  <a:srgbClr val="101828"/>
                </a:solidFill>
                <a:latin typeface="Calibri"/>
              </a:rPr>
              <a:t>    [--W2--]</a:t>
            </a:r>
          </a:p>
          <a:p>
            <a:pPr algn="l"/>
            <a:r>
              <a:rPr sz="1100" b="0">
                <a:solidFill>
                  <a:srgbClr val="101828"/>
                </a:solidFill>
                <a:latin typeface="Calibri"/>
              </a:rPr>
              <a:t>        [--W3--]</a:t>
            </a:r>
          </a:p>
          <a:p>
            <a:pPr algn="l"/>
            <a:r>
              <a:rPr sz="1100" b="0">
                <a:solidFill>
                  <a:srgbClr val="101828"/>
                </a:solidFill>
                <a:latin typeface="Calibri"/>
              </a:rPr>
              <a:t>            [--W4--]</a:t>
            </a:r>
          </a:p>
          <a:p>
            <a:pPr algn="l"/>
            <a:r>
              <a:rPr sz="1100" b="0">
                <a:solidFill>
                  <a:srgbClr val="101828"/>
                </a:solidFill>
                <a:latin typeface="Calibri"/>
              </a:rPr>
              <a:t/>
            </a:r>
          </a:p>
          <a:p>
            <a:pPr algn="l"/>
            <a:r>
              <a:rPr sz="1100" b="0">
                <a:solidFill>
                  <a:srgbClr val="101828"/>
                </a:solidFill>
                <a:latin typeface="Calibri"/>
              </a:rPr>
              <a:t>Max 2 waves in flight.</a:t>
            </a:r>
          </a:p>
          <a:p>
            <a:pPr algn="l"/>
            <a:r>
              <a:rPr sz="1100" b="0">
                <a:solidFill>
                  <a:srgbClr val="101828"/>
                </a:solidFill>
                <a:latin typeface="Calibri"/>
              </a:rPr>
              <a:t/>
            </a:r>
          </a:p>
          <a:p>
            <a:pPr algn="l"/>
            <a:r>
              <a:rPr sz="1100" b="0">
                <a:solidFill>
                  <a:srgbClr val="101828"/>
                </a:solidFill>
                <a:latin typeface="Calibri"/>
              </a:rPr>
              <a:t>No new wave starts</a:t>
            </a:r>
          </a:p>
          <a:p>
            <a:pPr algn="l"/>
            <a:r>
              <a:rPr sz="1100" b="0">
                <a:solidFill>
                  <a:srgbClr val="101828"/>
                </a:solidFill>
                <a:latin typeface="Calibri"/>
              </a:rPr>
              <a:t>during another wave's</a:t>
            </a:r>
          </a:p>
          <a:p>
            <a:pPr algn="l"/>
            <a:r>
              <a:rPr sz="1100" b="0">
                <a:solidFill>
                  <a:srgbClr val="101828"/>
                </a:solidFill>
                <a:latin typeface="Calibri"/>
              </a:rPr>
              <a:t>D-0 -&gt; D+3 window.</a:t>
            </a:r>
          </a:p>
          <a:p>
            <a:pPr algn="l"/>
            <a:r>
              <a:rPr sz="1100" b="0">
                <a:solidFill>
                  <a:srgbClr val="101828"/>
                </a:solidFill>
                <a:latin typeface="Calibri"/>
              </a:rPr>
              <a:t/>
            </a:r>
          </a:p>
          <a:p>
            <a:pPr algn="l"/>
            <a:r>
              <a:rPr sz="1100" b="0">
                <a:solidFill>
                  <a:srgbClr val="101828"/>
                </a:solidFill>
                <a:latin typeface="Calibri"/>
              </a:rPr>
              <a:t>4 x 25 = 100 repos</a:t>
            </a:r>
          </a:p>
          <a:p>
            <a:pPr algn="l"/>
            <a:r>
              <a:rPr sz="1100" b="0">
                <a:solidFill>
                  <a:srgbClr val="101828"/>
                </a:solidFill>
                <a:latin typeface="Calibri"/>
              </a:rPr>
              <a:t>all live by end W9.</a:t>
            </a:r>
          </a:p>
        </p:txBody>
      </p:sp>
      <p:sp>
        <p:nvSpPr>
          <p:cNvPr id="13" name="Rectangle 12"/>
          <p:cNvSpPr/>
          <p:nvPr/>
        </p:nvSpPr>
        <p:spPr>
          <a:xfrm>
            <a:off x="365760" y="5989320"/>
            <a:ext cx="11430000" cy="50292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5989320"/>
            <a:ext cx="11430000" cy="502920"/>
          </a:xfrm>
          <a:prstGeom prst="rect">
            <a:avLst/>
          </a:prstGeom>
          <a:noFill/>
        </p:spPr>
        <p:txBody>
          <a:bodyPr wrap="square" lIns="45720" rIns="45720" tIns="18288" bIns="18288" anchor="ctr">
            <a:spAutoFit/>
          </a:bodyPr>
          <a:lstStyle/>
          <a:p>
            <a:pPr algn="ctr"/>
            <a:r>
              <a:rPr sz="1100" b="1">
                <a:solidFill>
                  <a:srgbClr val="FFFFFF"/>
                </a:solidFill>
                <a:latin typeface="Calibri"/>
              </a:rPr>
              <a:t>Total Stage 3 effort: ~44 p-days   |   Calendar duration: 3 weeks   |   M4 gate: 100 repos in GHE, pipelines green</a:t>
            </a:r>
          </a:p>
        </p:txBody>
      </p:sp>
      <p:sp>
        <p:nvSpPr>
          <p:cNvPr id="15" name="TextBox 14"/>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16" name="TextBox 15"/>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L3 Plan - Detailed Task Sample</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Stage 0 task breakdown (full L3 covers ~80 numbered tasks)</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365760" y="1051560"/>
          <a:ext cx="11430000" cy="5029200"/>
        </p:xfrm>
        <a:graphic>
          <a:graphicData uri="http://schemas.openxmlformats.org/drawingml/2006/table">
            <a:tbl>
              <a:tblPr firstRow="1" bandRow="1">
                <a:tableStyleId>{5C22544A-7EE6-4342-B048-85BDC9FD1C3A}</a:tableStyleId>
              </a:tblPr>
              <a:tblGrid>
                <a:gridCol w="685800"/>
                <a:gridCol w="6858000"/>
                <a:gridCol w="1714500"/>
                <a:gridCol w="685800"/>
                <a:gridCol w="1485900"/>
              </a:tblGrid>
              <a:tr h="251460">
                <a:tc>
                  <a:txBody>
                    <a:bodyPr wrap="square"/>
                    <a:lstStyle/>
                    <a:p>
                      <a:pPr algn="l"/>
                      <a:r>
                        <a:rPr sz="1000" b="1">
                          <a:solidFill>
                            <a:srgbClr val="FFFFFF"/>
                          </a:solidFill>
                          <a:latin typeface="Calibri"/>
                        </a:rPr>
                        <a:t>ID</a:t>
                      </a:r>
                    </a:p>
                  </a:txBody>
                  <a:tcPr marL="45720" marR="45720" marT="18288" marB="18288">
                    <a:solidFill>
                      <a:srgbClr val="1F4D42"/>
                    </a:solidFill>
                  </a:tcPr>
                </a:tc>
                <a:tc>
                  <a:txBody>
                    <a:bodyPr wrap="square"/>
                    <a:lstStyle/>
                    <a:p>
                      <a:pPr algn="l"/>
                      <a:r>
                        <a:rPr sz="1000" b="1">
                          <a:solidFill>
                            <a:srgbClr val="FFFFFF"/>
                          </a:solidFill>
                          <a:latin typeface="Calibri"/>
                        </a:rPr>
                        <a:t>Task</a:t>
                      </a:r>
                    </a:p>
                  </a:txBody>
                  <a:tcPr marL="45720" marR="45720" marT="18288" marB="18288">
                    <a:solidFill>
                      <a:srgbClr val="1F4D42"/>
                    </a:solidFill>
                  </a:tcPr>
                </a:tc>
                <a:tc>
                  <a:txBody>
                    <a:bodyPr wrap="square"/>
                    <a:lstStyle/>
                    <a:p>
                      <a:pPr algn="l"/>
                      <a:r>
                        <a:rPr sz="1000" b="1">
                          <a:solidFill>
                            <a:srgbClr val="FFFFFF"/>
                          </a:solidFill>
                          <a:latin typeface="Calibri"/>
                        </a:rPr>
                        <a:t>Owner</a:t>
                      </a:r>
                    </a:p>
                  </a:txBody>
                  <a:tcPr marL="45720" marR="45720" marT="18288" marB="18288">
                    <a:solidFill>
                      <a:srgbClr val="1F4D42"/>
                    </a:solidFill>
                  </a:tcPr>
                </a:tc>
                <a:tc>
                  <a:txBody>
                    <a:bodyPr wrap="square"/>
                    <a:lstStyle/>
                    <a:p>
                      <a:pPr algn="l"/>
                      <a:r>
                        <a:rPr sz="1000" b="1">
                          <a:solidFill>
                            <a:srgbClr val="FFFFFF"/>
                          </a:solidFill>
                          <a:latin typeface="Calibri"/>
                        </a:rPr>
                        <a:t>Days</a:t>
                      </a:r>
                    </a:p>
                  </a:txBody>
                  <a:tcPr marL="45720" marR="45720" marT="18288" marB="18288">
                    <a:solidFill>
                      <a:srgbClr val="1F4D42"/>
                    </a:solidFill>
                  </a:tcPr>
                </a:tc>
                <a:tc>
                  <a:txBody>
                    <a:bodyPr wrap="square"/>
                    <a:lstStyle/>
                    <a:p>
                      <a:pPr algn="l"/>
                      <a:r>
                        <a:rPr sz="1000" b="1">
                          <a:solidFill>
                            <a:srgbClr val="FFFFFF"/>
                          </a:solidFill>
                          <a:latin typeface="Calibri"/>
                        </a:rPr>
                        <a:t>Predecessors</a:t>
                      </a:r>
                    </a:p>
                  </a:txBody>
                  <a:tcPr marL="45720" marR="45720" marT="18288" marB="18288">
                    <a:solidFill>
                      <a:srgbClr val="1F4D42"/>
                    </a:solidFill>
                  </a:tcPr>
                </a:tc>
              </a:tr>
              <a:tr h="251460">
                <a:tc>
                  <a:txBody>
                    <a:bodyPr wrap="square"/>
                    <a:lstStyle/>
                    <a:p>
                      <a:pPr algn="l"/>
                      <a:r>
                        <a:rPr sz="1000" b="0">
                          <a:solidFill>
                            <a:srgbClr val="101828"/>
                          </a:solidFill>
                          <a:latin typeface="Calibri"/>
                        </a:rPr>
                        <a:t>0.1</a:t>
                      </a:r>
                    </a:p>
                  </a:txBody>
                  <a:tcPr marL="45720" marR="45720" marT="18288" marB="18288">
                    <a:solidFill>
                      <a:srgbClr val="FFFFFF"/>
                    </a:solidFill>
                  </a:tcPr>
                </a:tc>
                <a:tc>
                  <a:txBody>
                    <a:bodyPr wrap="square"/>
                    <a:lstStyle/>
                    <a:p>
                      <a:pPr algn="l"/>
                      <a:r>
                        <a:rPr sz="1000" b="0">
                          <a:solidFill>
                            <a:srgbClr val="101828"/>
                          </a:solidFill>
                          <a:latin typeface="Calibri"/>
                        </a:rPr>
                        <a:t>Sponsor sign-off &amp; charter</a:t>
                      </a:r>
                    </a:p>
                  </a:txBody>
                  <a:tcPr marL="45720" marR="45720" marT="18288" marB="18288">
                    <a:solidFill>
                      <a:srgbClr val="FFFFFF"/>
                    </a:solidFill>
                  </a:tcPr>
                </a:tc>
                <a:tc>
                  <a:txBody>
                    <a:bodyPr wrap="square"/>
                    <a:lstStyle/>
                    <a:p>
                      <a:pPr algn="l"/>
                      <a:r>
                        <a:rPr sz="1000" b="0">
                          <a:solidFill>
                            <a:srgbClr val="101828"/>
                          </a:solidFill>
                          <a:latin typeface="Calibri"/>
                        </a:rPr>
                        <a:t>PM</a:t>
                      </a:r>
                    </a:p>
                  </a:txBody>
                  <a:tcPr marL="45720" marR="45720" marT="18288" marB="18288">
                    <a:solidFill>
                      <a:srgbClr val="FFFFFF"/>
                    </a:solidFill>
                  </a:tcPr>
                </a:tc>
                <a:tc>
                  <a:txBody>
                    <a:bodyPr wrap="square"/>
                    <a:lstStyle/>
                    <a:p>
                      <a:pPr algn="l"/>
                      <a:r>
                        <a:rPr sz="1000" b="0">
                          <a:solidFill>
                            <a:srgbClr val="101828"/>
                          </a:solidFill>
                          <a:latin typeface="Calibri"/>
                        </a:rPr>
                        <a:t>1</a:t>
                      </a:r>
                    </a:p>
                  </a:txBody>
                  <a:tcPr marL="45720" marR="45720" marT="18288" marB="18288">
                    <a:solidFill>
                      <a:srgbClr val="FFFFFF"/>
                    </a:solidFill>
                  </a:tcPr>
                </a:tc>
                <a:tc>
                  <a:txBody>
                    <a:bodyPr wrap="square"/>
                    <a:lstStyle/>
                    <a:p>
                      <a:pPr algn="l"/>
                      <a:r>
                        <a:rPr sz="1000" b="0">
                          <a:solidFill>
                            <a:srgbClr val="101828"/>
                          </a:solidFill>
                          <a:latin typeface="Calibri"/>
                        </a:rPr>
                        <a:t>-</a:t>
                      </a:r>
                    </a:p>
                  </a:txBody>
                  <a:tcPr marL="45720" marR="45720" marT="18288" marB="18288">
                    <a:solidFill>
                      <a:srgbClr val="FFFFFF"/>
                    </a:solidFill>
                  </a:tcPr>
                </a:tc>
              </a:tr>
              <a:tr h="251460">
                <a:tc>
                  <a:txBody>
                    <a:bodyPr wrap="square"/>
                    <a:lstStyle/>
                    <a:p>
                      <a:pPr algn="l"/>
                      <a:r>
                        <a:rPr sz="1000" b="0">
                          <a:solidFill>
                            <a:srgbClr val="101828"/>
                          </a:solidFill>
                          <a:latin typeface="Calibri"/>
                        </a:rPr>
                        <a:t>0.2</a:t>
                      </a:r>
                    </a:p>
                  </a:txBody>
                  <a:tcPr marL="45720" marR="45720" marT="18288" marB="18288">
                    <a:solidFill>
                      <a:srgbClr val="F2F4F7"/>
                    </a:solidFill>
                  </a:tcPr>
                </a:tc>
                <a:tc>
                  <a:txBody>
                    <a:bodyPr wrap="square"/>
                    <a:lstStyle/>
                    <a:p>
                      <a:pPr algn="l"/>
                      <a:r>
                        <a:rPr sz="1000" b="0">
                          <a:solidFill>
                            <a:srgbClr val="101828"/>
                          </a:solidFill>
                          <a:latin typeface="Calibri"/>
                        </a:rPr>
                        <a:t>RACI agreed</a:t>
                      </a:r>
                    </a:p>
                  </a:txBody>
                  <a:tcPr marL="45720" marR="45720" marT="18288" marB="18288">
                    <a:solidFill>
                      <a:srgbClr val="F2F4F7"/>
                    </a:solidFill>
                  </a:tcPr>
                </a:tc>
                <a:tc>
                  <a:txBody>
                    <a:bodyPr wrap="square"/>
                    <a:lstStyle/>
                    <a:p>
                      <a:pPr algn="l"/>
                      <a:r>
                        <a:rPr sz="1000" b="0">
                          <a:solidFill>
                            <a:srgbClr val="101828"/>
                          </a:solidFill>
                          <a:latin typeface="Calibri"/>
                        </a:rPr>
                        <a:t>PM</a:t>
                      </a:r>
                    </a:p>
                  </a:txBody>
                  <a:tcPr marL="45720" marR="45720" marT="18288" marB="18288">
                    <a:solidFill>
                      <a:srgbClr val="F2F4F7"/>
                    </a:solidFill>
                  </a:tcPr>
                </a:tc>
                <a:tc>
                  <a:txBody>
                    <a:bodyPr wrap="square"/>
                    <a:lstStyle/>
                    <a:p>
                      <a:pPr algn="l"/>
                      <a:r>
                        <a:rPr sz="1000" b="0">
                          <a:solidFill>
                            <a:srgbClr val="101828"/>
                          </a:solidFill>
                          <a:latin typeface="Calibri"/>
                        </a:rPr>
                        <a:t>0.5</a:t>
                      </a:r>
                    </a:p>
                  </a:txBody>
                  <a:tcPr marL="45720" marR="45720" marT="18288" marB="18288">
                    <a:solidFill>
                      <a:srgbClr val="F2F4F7"/>
                    </a:solidFill>
                  </a:tcPr>
                </a:tc>
                <a:tc>
                  <a:txBody>
                    <a:bodyPr wrap="square"/>
                    <a:lstStyle/>
                    <a:p>
                      <a:pPr algn="l"/>
                      <a:r>
                        <a:rPr sz="1000" b="0">
                          <a:solidFill>
                            <a:srgbClr val="101828"/>
                          </a:solidFill>
                          <a:latin typeface="Calibri"/>
                        </a:rPr>
                        <a:t>0.1</a:t>
                      </a:r>
                    </a:p>
                  </a:txBody>
                  <a:tcPr marL="45720" marR="45720" marT="18288" marB="18288">
                    <a:solidFill>
                      <a:srgbClr val="F2F4F7"/>
                    </a:solidFill>
                  </a:tcPr>
                </a:tc>
              </a:tr>
              <a:tr h="251460">
                <a:tc>
                  <a:txBody>
                    <a:bodyPr wrap="square"/>
                    <a:lstStyle/>
                    <a:p>
                      <a:pPr algn="l"/>
                      <a:r>
                        <a:rPr sz="1000" b="0">
                          <a:solidFill>
                            <a:srgbClr val="101828"/>
                          </a:solidFill>
                          <a:latin typeface="Calibri"/>
                        </a:rPr>
                        <a:t>0.3</a:t>
                      </a:r>
                    </a:p>
                  </a:txBody>
                  <a:tcPr marL="45720" marR="45720" marT="18288" marB="18288">
                    <a:solidFill>
                      <a:srgbClr val="FFFFFF"/>
                    </a:solidFill>
                  </a:tcPr>
                </a:tc>
                <a:tc>
                  <a:txBody>
                    <a:bodyPr wrap="square"/>
                    <a:lstStyle/>
                    <a:p>
                      <a:pPr algn="l"/>
                      <a:r>
                        <a:rPr sz="1000" b="0">
                          <a:solidFill>
                            <a:srgbClr val="101828"/>
                          </a:solidFill>
                          <a:latin typeface="Calibri"/>
                        </a:rPr>
                        <a:t>Steering committee chartered, first meeting</a:t>
                      </a:r>
                    </a:p>
                  </a:txBody>
                  <a:tcPr marL="45720" marR="45720" marT="18288" marB="18288">
                    <a:solidFill>
                      <a:srgbClr val="FFFFFF"/>
                    </a:solidFill>
                  </a:tcPr>
                </a:tc>
                <a:tc>
                  <a:txBody>
                    <a:bodyPr wrap="square"/>
                    <a:lstStyle/>
                    <a:p>
                      <a:pPr algn="l"/>
                      <a:r>
                        <a:rPr sz="1000" b="0">
                          <a:solidFill>
                            <a:srgbClr val="101828"/>
                          </a:solidFill>
                          <a:latin typeface="Calibri"/>
                        </a:rPr>
                        <a:t>PM</a:t>
                      </a:r>
                    </a:p>
                  </a:txBody>
                  <a:tcPr marL="45720" marR="45720" marT="18288" marB="18288">
                    <a:solidFill>
                      <a:srgbClr val="FFFFFF"/>
                    </a:solidFill>
                  </a:tcPr>
                </a:tc>
                <a:tc>
                  <a:txBody>
                    <a:bodyPr wrap="square"/>
                    <a:lstStyle/>
                    <a:p>
                      <a:pPr algn="l"/>
                      <a:r>
                        <a:rPr sz="1000" b="0">
                          <a:solidFill>
                            <a:srgbClr val="101828"/>
                          </a:solidFill>
                          <a:latin typeface="Calibri"/>
                        </a:rPr>
                        <a:t>0.5</a:t>
                      </a:r>
                    </a:p>
                  </a:txBody>
                  <a:tcPr marL="45720" marR="45720" marT="18288" marB="18288">
                    <a:solidFill>
                      <a:srgbClr val="FFFFFF"/>
                    </a:solidFill>
                  </a:tcPr>
                </a:tc>
                <a:tc>
                  <a:txBody>
                    <a:bodyPr wrap="square"/>
                    <a:lstStyle/>
                    <a:p>
                      <a:pPr algn="l"/>
                      <a:r>
                        <a:rPr sz="1000" b="0">
                          <a:solidFill>
                            <a:srgbClr val="101828"/>
                          </a:solidFill>
                          <a:latin typeface="Calibri"/>
                        </a:rPr>
                        <a:t>0.1</a:t>
                      </a:r>
                    </a:p>
                  </a:txBody>
                  <a:tcPr marL="45720" marR="45720" marT="18288" marB="18288">
                    <a:solidFill>
                      <a:srgbClr val="FFFFFF"/>
                    </a:solidFill>
                  </a:tcPr>
                </a:tc>
              </a:tr>
              <a:tr h="251460">
                <a:tc>
                  <a:txBody>
                    <a:bodyPr wrap="square"/>
                    <a:lstStyle/>
                    <a:p>
                      <a:pPr algn="l"/>
                      <a:r>
                        <a:rPr sz="1000" b="0">
                          <a:solidFill>
                            <a:srgbClr val="101828"/>
                          </a:solidFill>
                          <a:latin typeface="Calibri"/>
                        </a:rPr>
                        <a:t>0.4</a:t>
                      </a:r>
                    </a:p>
                  </a:txBody>
                  <a:tcPr marL="45720" marR="45720" marT="18288" marB="18288">
                    <a:solidFill>
                      <a:srgbClr val="F2F4F7"/>
                    </a:solidFill>
                  </a:tcPr>
                </a:tc>
                <a:tc>
                  <a:txBody>
                    <a:bodyPr wrap="square"/>
                    <a:lstStyle/>
                    <a:p>
                      <a:pPr algn="l"/>
                      <a:r>
                        <a:rPr sz="1000" b="0">
                          <a:solidFill>
                            <a:srgbClr val="101828"/>
                          </a:solidFill>
                          <a:latin typeface="Calibri"/>
                        </a:rPr>
                        <a:t>RAID log v1 published</a:t>
                      </a:r>
                    </a:p>
                  </a:txBody>
                  <a:tcPr marL="45720" marR="45720" marT="18288" marB="18288">
                    <a:solidFill>
                      <a:srgbClr val="F2F4F7"/>
                    </a:solidFill>
                  </a:tcPr>
                </a:tc>
                <a:tc>
                  <a:txBody>
                    <a:bodyPr wrap="square"/>
                    <a:lstStyle/>
                    <a:p>
                      <a:pPr algn="l"/>
                      <a:r>
                        <a:rPr sz="1000" b="0">
                          <a:solidFill>
                            <a:srgbClr val="101828"/>
                          </a:solidFill>
                          <a:latin typeface="Calibri"/>
                        </a:rPr>
                        <a:t>PM</a:t>
                      </a:r>
                    </a:p>
                  </a:txBody>
                  <a:tcPr marL="45720" marR="45720" marT="18288" marB="18288">
                    <a:solidFill>
                      <a:srgbClr val="F2F4F7"/>
                    </a:solidFill>
                  </a:tcPr>
                </a:tc>
                <a:tc>
                  <a:txBody>
                    <a:bodyPr wrap="square"/>
                    <a:lstStyle/>
                    <a:p>
                      <a:pPr algn="l"/>
                      <a:r>
                        <a:rPr sz="1000" b="0">
                          <a:solidFill>
                            <a:srgbClr val="101828"/>
                          </a:solidFill>
                          <a:latin typeface="Calibri"/>
                        </a:rPr>
                        <a:t>1</a:t>
                      </a:r>
                    </a:p>
                  </a:txBody>
                  <a:tcPr marL="45720" marR="45720" marT="18288" marB="18288">
                    <a:solidFill>
                      <a:srgbClr val="F2F4F7"/>
                    </a:solidFill>
                  </a:tcPr>
                </a:tc>
                <a:tc>
                  <a:txBody>
                    <a:bodyPr wrap="square"/>
                    <a:lstStyle/>
                    <a:p>
                      <a:pPr algn="l"/>
                      <a:r>
                        <a:rPr sz="1000" b="0">
                          <a:solidFill>
                            <a:srgbClr val="101828"/>
                          </a:solidFill>
                          <a:latin typeface="Calibri"/>
                        </a:rPr>
                        <a:t>0.1</a:t>
                      </a:r>
                    </a:p>
                  </a:txBody>
                  <a:tcPr marL="45720" marR="45720" marT="18288" marB="18288">
                    <a:solidFill>
                      <a:srgbClr val="F2F4F7"/>
                    </a:solidFill>
                  </a:tcPr>
                </a:tc>
              </a:tr>
              <a:tr h="251460">
                <a:tc>
                  <a:txBody>
                    <a:bodyPr wrap="square"/>
                    <a:lstStyle/>
                    <a:p>
                      <a:pPr algn="l"/>
                      <a:r>
                        <a:rPr sz="1000" b="0">
                          <a:solidFill>
                            <a:srgbClr val="101828"/>
                          </a:solidFill>
                          <a:latin typeface="Calibri"/>
                        </a:rPr>
                        <a:t>0.5</a:t>
                      </a:r>
                    </a:p>
                  </a:txBody>
                  <a:tcPr marL="45720" marR="45720" marT="18288" marB="18288">
                    <a:solidFill>
                      <a:srgbClr val="FFFFFF"/>
                    </a:solidFill>
                  </a:tcPr>
                </a:tc>
                <a:tc>
                  <a:txBody>
                    <a:bodyPr wrap="square"/>
                    <a:lstStyle/>
                    <a:p>
                      <a:pPr algn="l"/>
                      <a:r>
                        <a:rPr sz="1000" b="0">
                          <a:solidFill>
                            <a:srgbClr val="101828"/>
                          </a:solidFill>
                          <a:latin typeface="Calibri"/>
                        </a:rPr>
                        <a:t>Comms plan signed off</a:t>
                      </a:r>
                    </a:p>
                  </a:txBody>
                  <a:tcPr marL="45720" marR="45720" marT="18288" marB="18288">
                    <a:solidFill>
                      <a:srgbClr val="FFFFFF"/>
                    </a:solidFill>
                  </a:tcPr>
                </a:tc>
                <a:tc>
                  <a:txBody>
                    <a:bodyPr wrap="square"/>
                    <a:lstStyle/>
                    <a:p>
                      <a:pPr algn="l"/>
                      <a:r>
                        <a:rPr sz="1000" b="0">
                          <a:solidFill>
                            <a:srgbClr val="101828"/>
                          </a:solidFill>
                          <a:latin typeface="Calibri"/>
                        </a:rPr>
                        <a:t>Change Mgr</a:t>
                      </a:r>
                    </a:p>
                  </a:txBody>
                  <a:tcPr marL="45720" marR="45720" marT="18288" marB="18288">
                    <a:solidFill>
                      <a:srgbClr val="FFFFFF"/>
                    </a:solidFill>
                  </a:tcPr>
                </a:tc>
                <a:tc>
                  <a:txBody>
                    <a:bodyPr wrap="square"/>
                    <a:lstStyle/>
                    <a:p>
                      <a:pPr algn="l"/>
                      <a:r>
                        <a:rPr sz="1000" b="0">
                          <a:solidFill>
                            <a:srgbClr val="101828"/>
                          </a:solidFill>
                          <a:latin typeface="Calibri"/>
                        </a:rPr>
                        <a:t>2</a:t>
                      </a:r>
                    </a:p>
                  </a:txBody>
                  <a:tcPr marL="45720" marR="45720" marT="18288" marB="18288">
                    <a:solidFill>
                      <a:srgbClr val="FFFFFF"/>
                    </a:solidFill>
                  </a:tcPr>
                </a:tc>
                <a:tc>
                  <a:txBody>
                    <a:bodyPr wrap="square"/>
                    <a:lstStyle/>
                    <a:p>
                      <a:pPr algn="l"/>
                      <a:r>
                        <a:rPr sz="1000" b="0">
                          <a:solidFill>
                            <a:srgbClr val="101828"/>
                          </a:solidFill>
                          <a:latin typeface="Calibri"/>
                        </a:rPr>
                        <a:t>0.1</a:t>
                      </a:r>
                    </a:p>
                  </a:txBody>
                  <a:tcPr marL="45720" marR="45720" marT="18288" marB="18288">
                    <a:solidFill>
                      <a:srgbClr val="FFFFFF"/>
                    </a:solidFill>
                  </a:tcPr>
                </a:tc>
              </a:tr>
              <a:tr h="251460">
                <a:tc>
                  <a:txBody>
                    <a:bodyPr wrap="square"/>
                    <a:lstStyle/>
                    <a:p>
                      <a:pPr algn="l"/>
                      <a:r>
                        <a:rPr sz="1000" b="0">
                          <a:solidFill>
                            <a:srgbClr val="101828"/>
                          </a:solidFill>
                          <a:latin typeface="Calibri"/>
                        </a:rPr>
                        <a:t>0.6</a:t>
                      </a:r>
                    </a:p>
                  </a:txBody>
                  <a:tcPr marL="45720" marR="45720" marT="18288" marB="18288">
                    <a:solidFill>
                      <a:srgbClr val="F2F4F7"/>
                    </a:solidFill>
                  </a:tcPr>
                </a:tc>
                <a:tc>
                  <a:txBody>
                    <a:bodyPr wrap="square"/>
                    <a:lstStyle/>
                    <a:p>
                      <a:pPr algn="l"/>
                      <a:r>
                        <a:rPr sz="1000" b="0">
                          <a:solidFill>
                            <a:srgbClr val="101828"/>
                          </a:solidFill>
                          <a:latin typeface="Calibri"/>
                        </a:rPr>
                        <a:t>Stakeholder &amp; contact matrix (per repo)</a:t>
                      </a:r>
                    </a:p>
                  </a:txBody>
                  <a:tcPr marL="45720" marR="45720" marT="18288" marB="18288">
                    <a:solidFill>
                      <a:srgbClr val="F2F4F7"/>
                    </a:solidFill>
                  </a:tcPr>
                </a:tc>
                <a:tc>
                  <a:txBody>
                    <a:bodyPr wrap="square"/>
                    <a:lstStyle/>
                    <a:p>
                      <a:pPr algn="l"/>
                      <a:r>
                        <a:rPr sz="1000" b="0">
                          <a:solidFill>
                            <a:srgbClr val="101828"/>
                          </a:solidFill>
                          <a:latin typeface="Calibri"/>
                        </a:rPr>
                        <a:t>Change Mgr</a:t>
                      </a:r>
                    </a:p>
                  </a:txBody>
                  <a:tcPr marL="45720" marR="45720" marT="18288" marB="18288">
                    <a:solidFill>
                      <a:srgbClr val="F2F4F7"/>
                    </a:solidFill>
                  </a:tcPr>
                </a:tc>
                <a:tc>
                  <a:txBody>
                    <a:bodyPr wrap="square"/>
                    <a:lstStyle/>
                    <a:p>
                      <a:pPr algn="l"/>
                      <a:r>
                        <a:rPr sz="1000" b="0">
                          <a:solidFill>
                            <a:srgbClr val="101828"/>
                          </a:solidFill>
                          <a:latin typeface="Calibri"/>
                        </a:rPr>
                        <a:t>1</a:t>
                      </a:r>
                    </a:p>
                  </a:txBody>
                  <a:tcPr marL="45720" marR="45720" marT="18288" marB="18288">
                    <a:solidFill>
                      <a:srgbClr val="F2F4F7"/>
                    </a:solidFill>
                  </a:tcPr>
                </a:tc>
                <a:tc>
                  <a:txBody>
                    <a:bodyPr wrap="square"/>
                    <a:lstStyle/>
                    <a:p>
                      <a:pPr algn="l"/>
                      <a:r>
                        <a:rPr sz="1000" b="0">
                          <a:solidFill>
                            <a:srgbClr val="101828"/>
                          </a:solidFill>
                          <a:latin typeface="Calibri"/>
                        </a:rPr>
                        <a:t>0.1</a:t>
                      </a:r>
                    </a:p>
                  </a:txBody>
                  <a:tcPr marL="45720" marR="45720" marT="18288" marB="18288">
                    <a:solidFill>
                      <a:srgbClr val="F2F4F7"/>
                    </a:solidFill>
                  </a:tcPr>
                </a:tc>
              </a:tr>
              <a:tr h="251460">
                <a:tc>
                  <a:txBody>
                    <a:bodyPr wrap="square"/>
                    <a:lstStyle/>
                    <a:p>
                      <a:pPr algn="l"/>
                      <a:r>
                        <a:rPr sz="1000" b="0">
                          <a:solidFill>
                            <a:srgbClr val="101828"/>
                          </a:solidFill>
                          <a:latin typeface="Calibri"/>
                        </a:rPr>
                        <a:t>0.7</a:t>
                      </a:r>
                    </a:p>
                  </a:txBody>
                  <a:tcPr marL="45720" marR="45720" marT="18288" marB="18288">
                    <a:solidFill>
                      <a:srgbClr val="FFFFFF"/>
                    </a:solidFill>
                  </a:tcPr>
                </a:tc>
                <a:tc>
                  <a:txBody>
                    <a:bodyPr wrap="square"/>
                    <a:lstStyle/>
                    <a:p>
                      <a:pPr algn="l"/>
                      <a:r>
                        <a:rPr sz="1000" b="0">
                          <a:solidFill>
                            <a:srgbClr val="101828"/>
                          </a:solidFill>
                          <a:latin typeface="Calibri"/>
                        </a:rPr>
                        <a:t>Pull ADO users from all 100 repos</a:t>
                      </a:r>
                    </a:p>
                  </a:txBody>
                  <a:tcPr marL="45720" marR="45720" marT="18288" marB="18288">
                    <a:solidFill>
                      <a:srgbClr val="FFFFFF"/>
                    </a:solidFill>
                  </a:tcPr>
                </a:tc>
                <a:tc>
                  <a:txBody>
                    <a:bodyPr wrap="square"/>
                    <a:lstStyle/>
                    <a:p>
                      <a:pPr algn="l"/>
                      <a:r>
                        <a:rPr sz="1000" b="0">
                          <a:solidFill>
                            <a:srgbClr val="101828"/>
                          </a:solidFill>
                          <a:latin typeface="Calibri"/>
                        </a:rPr>
                        <a:t>IAM</a:t>
                      </a:r>
                    </a:p>
                  </a:txBody>
                  <a:tcPr marL="45720" marR="45720" marT="18288" marB="18288">
                    <a:solidFill>
                      <a:srgbClr val="FFFFFF"/>
                    </a:solidFill>
                  </a:tcPr>
                </a:tc>
                <a:tc>
                  <a:txBody>
                    <a:bodyPr wrap="square"/>
                    <a:lstStyle/>
                    <a:p>
                      <a:pPr algn="l"/>
                      <a:r>
                        <a:rPr sz="1000" b="0">
                          <a:solidFill>
                            <a:srgbClr val="101828"/>
                          </a:solidFill>
                          <a:latin typeface="Calibri"/>
                        </a:rPr>
                        <a:t>1</a:t>
                      </a:r>
                    </a:p>
                  </a:txBody>
                  <a:tcPr marL="45720" marR="45720" marT="18288" marB="18288">
                    <a:solidFill>
                      <a:srgbClr val="FFFFFF"/>
                    </a:solidFill>
                  </a:tcPr>
                </a:tc>
                <a:tc>
                  <a:txBody>
                    <a:bodyPr wrap="square"/>
                    <a:lstStyle/>
                    <a:p>
                      <a:pPr algn="l"/>
                      <a:r>
                        <a:rPr sz="1000" b="0">
                          <a:solidFill>
                            <a:srgbClr val="101828"/>
                          </a:solidFill>
                          <a:latin typeface="Calibri"/>
                        </a:rPr>
                        <a:t>0.1</a:t>
                      </a:r>
                    </a:p>
                  </a:txBody>
                  <a:tcPr marL="45720" marR="45720" marT="18288" marB="18288">
                    <a:solidFill>
                      <a:srgbClr val="FFFFFF"/>
                    </a:solidFill>
                  </a:tcPr>
                </a:tc>
              </a:tr>
              <a:tr h="251460">
                <a:tc>
                  <a:txBody>
                    <a:bodyPr wrap="square"/>
                    <a:lstStyle/>
                    <a:p>
                      <a:pPr algn="l"/>
                      <a:r>
                        <a:rPr sz="1000" b="0">
                          <a:solidFill>
                            <a:srgbClr val="101828"/>
                          </a:solidFill>
                          <a:latin typeface="Calibri"/>
                        </a:rPr>
                        <a:t>0.8</a:t>
                      </a:r>
                    </a:p>
                  </a:txBody>
                  <a:tcPr marL="45720" marR="45720" marT="18288" marB="18288">
                    <a:solidFill>
                      <a:srgbClr val="F2F4F7"/>
                    </a:solidFill>
                  </a:tcPr>
                </a:tc>
                <a:tc>
                  <a:txBody>
                    <a:bodyPr wrap="square"/>
                    <a:lstStyle/>
                    <a:p>
                      <a:pPr algn="l"/>
                      <a:r>
                        <a:rPr sz="1000" b="0">
                          <a:solidFill>
                            <a:srgbClr val="101828"/>
                          </a:solidFill>
                          <a:latin typeface="Calibri"/>
                        </a:rPr>
                        <a:t>Identity mapping CSV (ADO/Entra/EMU)</a:t>
                      </a:r>
                    </a:p>
                  </a:txBody>
                  <a:tcPr marL="45720" marR="45720" marT="18288" marB="18288">
                    <a:solidFill>
                      <a:srgbClr val="F2F4F7"/>
                    </a:solidFill>
                  </a:tcPr>
                </a:tc>
                <a:tc>
                  <a:txBody>
                    <a:bodyPr wrap="square"/>
                    <a:lstStyle/>
                    <a:p>
                      <a:pPr algn="l"/>
                      <a:r>
                        <a:rPr sz="1000" b="0">
                          <a:solidFill>
                            <a:srgbClr val="101828"/>
                          </a:solidFill>
                          <a:latin typeface="Calibri"/>
                        </a:rPr>
                        <a:t>IAM</a:t>
                      </a:r>
                    </a:p>
                  </a:txBody>
                  <a:tcPr marL="45720" marR="45720" marT="18288" marB="18288">
                    <a:solidFill>
                      <a:srgbClr val="F2F4F7"/>
                    </a:solidFill>
                  </a:tcPr>
                </a:tc>
                <a:tc>
                  <a:txBody>
                    <a:bodyPr wrap="square"/>
                    <a:lstStyle/>
                    <a:p>
                      <a:pPr algn="l"/>
                      <a:r>
                        <a:rPr sz="1000" b="0">
                          <a:solidFill>
                            <a:srgbClr val="101828"/>
                          </a:solidFill>
                          <a:latin typeface="Calibri"/>
                        </a:rPr>
                        <a:t>2</a:t>
                      </a:r>
                    </a:p>
                  </a:txBody>
                  <a:tcPr marL="45720" marR="45720" marT="18288" marB="18288">
                    <a:solidFill>
                      <a:srgbClr val="F2F4F7"/>
                    </a:solidFill>
                  </a:tcPr>
                </a:tc>
                <a:tc>
                  <a:txBody>
                    <a:bodyPr wrap="square"/>
                    <a:lstStyle/>
                    <a:p>
                      <a:pPr algn="l"/>
                      <a:r>
                        <a:rPr sz="1000" b="0">
                          <a:solidFill>
                            <a:srgbClr val="101828"/>
                          </a:solidFill>
                          <a:latin typeface="Calibri"/>
                        </a:rPr>
                        <a:t>0.7</a:t>
                      </a:r>
                    </a:p>
                  </a:txBody>
                  <a:tcPr marL="45720" marR="45720" marT="18288" marB="18288">
                    <a:solidFill>
                      <a:srgbClr val="F2F4F7"/>
                    </a:solidFill>
                  </a:tcPr>
                </a:tc>
              </a:tr>
              <a:tr h="251460">
                <a:tc>
                  <a:txBody>
                    <a:bodyPr wrap="square"/>
                    <a:lstStyle/>
                    <a:p>
                      <a:pPr algn="l"/>
                      <a:r>
                        <a:rPr sz="1000" b="0">
                          <a:solidFill>
                            <a:srgbClr val="101828"/>
                          </a:solidFill>
                          <a:latin typeface="Calibri"/>
                        </a:rPr>
                        <a:t>0.9</a:t>
                      </a:r>
                    </a:p>
                  </a:txBody>
                  <a:tcPr marL="45720" marR="45720" marT="18288" marB="18288">
                    <a:solidFill>
                      <a:srgbClr val="FFFFFF"/>
                    </a:solidFill>
                  </a:tcPr>
                </a:tc>
                <a:tc>
                  <a:txBody>
                    <a:bodyPr wrap="square"/>
                    <a:lstStyle/>
                    <a:p>
                      <a:pPr algn="l"/>
                      <a:r>
                        <a:rPr sz="1000" b="0">
                          <a:solidFill>
                            <a:srgbClr val="101828"/>
                          </a:solidFill>
                          <a:latin typeface="Calibri"/>
                        </a:rPr>
                        <a:t>Inventory: gh ado2gh inventory-report</a:t>
                      </a:r>
                    </a:p>
                  </a:txBody>
                  <a:tcPr marL="45720" marR="45720" marT="18288" marB="18288">
                    <a:solidFill>
                      <a:srgbClr val="FFFFFF"/>
                    </a:solidFill>
                  </a:tcPr>
                </a:tc>
                <a:tc>
                  <a:txBody>
                    <a:bodyPr wrap="square"/>
                    <a:lstStyle/>
                    <a:p>
                      <a:pPr algn="l"/>
                      <a:r>
                        <a:rPr sz="1000" b="0">
                          <a:solidFill>
                            <a:srgbClr val="101828"/>
                          </a:solidFill>
                          <a:latin typeface="Calibri"/>
                        </a:rPr>
                        <a:t>Platform</a:t>
                      </a:r>
                    </a:p>
                  </a:txBody>
                  <a:tcPr marL="45720" marR="45720" marT="18288" marB="18288">
                    <a:solidFill>
                      <a:srgbClr val="FFFFFF"/>
                    </a:solidFill>
                  </a:tcPr>
                </a:tc>
                <a:tc>
                  <a:txBody>
                    <a:bodyPr wrap="square"/>
                    <a:lstStyle/>
                    <a:p>
                      <a:pPr algn="l"/>
                      <a:r>
                        <a:rPr sz="1000" b="0">
                          <a:solidFill>
                            <a:srgbClr val="101828"/>
                          </a:solidFill>
                          <a:latin typeface="Calibri"/>
                        </a:rPr>
                        <a:t>1</a:t>
                      </a:r>
                    </a:p>
                  </a:txBody>
                  <a:tcPr marL="45720" marR="45720" marT="18288" marB="18288">
                    <a:solidFill>
                      <a:srgbClr val="FFFFFF"/>
                    </a:solidFill>
                  </a:tcPr>
                </a:tc>
                <a:tc>
                  <a:txBody>
                    <a:bodyPr wrap="square"/>
                    <a:lstStyle/>
                    <a:p>
                      <a:pPr algn="l"/>
                      <a:r>
                        <a:rPr sz="1000" b="0">
                          <a:solidFill>
                            <a:srgbClr val="101828"/>
                          </a:solidFill>
                          <a:latin typeface="Calibri"/>
                        </a:rPr>
                        <a:t>0.1</a:t>
                      </a:r>
                    </a:p>
                  </a:txBody>
                  <a:tcPr marL="45720" marR="45720" marT="18288" marB="18288">
                    <a:solidFill>
                      <a:srgbClr val="FFFFFF"/>
                    </a:solidFill>
                  </a:tcPr>
                </a:tc>
              </a:tr>
              <a:tr h="251460">
                <a:tc>
                  <a:txBody>
                    <a:bodyPr wrap="square"/>
                    <a:lstStyle/>
                    <a:p>
                      <a:pPr algn="l"/>
                      <a:r>
                        <a:rPr sz="1000" b="0">
                          <a:solidFill>
                            <a:srgbClr val="101828"/>
                          </a:solidFill>
                          <a:latin typeface="Calibri"/>
                        </a:rPr>
                        <a:t>0.10</a:t>
                      </a:r>
                    </a:p>
                  </a:txBody>
                  <a:tcPr marL="45720" marR="45720" marT="18288" marB="18288">
                    <a:solidFill>
                      <a:srgbClr val="F2F4F7"/>
                    </a:solidFill>
                  </a:tcPr>
                </a:tc>
                <a:tc>
                  <a:txBody>
                    <a:bodyPr wrap="square"/>
                    <a:lstStyle/>
                    <a:p>
                      <a:pPr algn="l"/>
                      <a:r>
                        <a:rPr sz="1000" b="0">
                          <a:solidFill>
                            <a:srgbClr val="101828"/>
                          </a:solidFill>
                          <a:latin typeface="Calibri"/>
                        </a:rPr>
                        <a:t>Repo size + LFS audit</a:t>
                      </a:r>
                    </a:p>
                  </a:txBody>
                  <a:tcPr marL="45720" marR="45720" marT="18288" marB="18288">
                    <a:solidFill>
                      <a:srgbClr val="F2F4F7"/>
                    </a:solidFill>
                  </a:tcPr>
                </a:tc>
                <a:tc>
                  <a:txBody>
                    <a:bodyPr wrap="square"/>
                    <a:lstStyle/>
                    <a:p>
                      <a:pPr algn="l"/>
                      <a:r>
                        <a:rPr sz="1000" b="0">
                          <a:solidFill>
                            <a:srgbClr val="101828"/>
                          </a:solidFill>
                          <a:latin typeface="Calibri"/>
                        </a:rPr>
                        <a:t>Platform</a:t>
                      </a:r>
                    </a:p>
                  </a:txBody>
                  <a:tcPr marL="45720" marR="45720" marT="18288" marB="18288">
                    <a:solidFill>
                      <a:srgbClr val="F2F4F7"/>
                    </a:solidFill>
                  </a:tcPr>
                </a:tc>
                <a:tc>
                  <a:txBody>
                    <a:bodyPr wrap="square"/>
                    <a:lstStyle/>
                    <a:p>
                      <a:pPr algn="l"/>
                      <a:r>
                        <a:rPr sz="1000" b="0">
                          <a:solidFill>
                            <a:srgbClr val="101828"/>
                          </a:solidFill>
                          <a:latin typeface="Calibri"/>
                        </a:rPr>
                        <a:t>1</a:t>
                      </a:r>
                    </a:p>
                  </a:txBody>
                  <a:tcPr marL="45720" marR="45720" marT="18288" marB="18288">
                    <a:solidFill>
                      <a:srgbClr val="F2F4F7"/>
                    </a:solidFill>
                  </a:tcPr>
                </a:tc>
                <a:tc>
                  <a:txBody>
                    <a:bodyPr wrap="square"/>
                    <a:lstStyle/>
                    <a:p>
                      <a:pPr algn="l"/>
                      <a:r>
                        <a:rPr sz="1000" b="0">
                          <a:solidFill>
                            <a:srgbClr val="101828"/>
                          </a:solidFill>
                          <a:latin typeface="Calibri"/>
                        </a:rPr>
                        <a:t>0.9</a:t>
                      </a:r>
                    </a:p>
                  </a:txBody>
                  <a:tcPr marL="45720" marR="45720" marT="18288" marB="18288">
                    <a:solidFill>
                      <a:srgbClr val="F2F4F7"/>
                    </a:solidFill>
                  </a:tcPr>
                </a:tc>
              </a:tr>
              <a:tr h="251460">
                <a:tc>
                  <a:txBody>
                    <a:bodyPr wrap="square"/>
                    <a:lstStyle/>
                    <a:p>
                      <a:pPr algn="l"/>
                      <a:r>
                        <a:rPr sz="1000" b="0">
                          <a:solidFill>
                            <a:srgbClr val="101828"/>
                          </a:solidFill>
                          <a:latin typeface="Calibri"/>
                        </a:rPr>
                        <a:t>0.11</a:t>
                      </a:r>
                    </a:p>
                  </a:txBody>
                  <a:tcPr marL="45720" marR="45720" marT="18288" marB="18288">
                    <a:solidFill>
                      <a:srgbClr val="FFFFFF"/>
                    </a:solidFill>
                  </a:tcPr>
                </a:tc>
                <a:tc>
                  <a:txBody>
                    <a:bodyPr wrap="square"/>
                    <a:lstStyle/>
                    <a:p>
                      <a:pPr algn="l"/>
                      <a:r>
                        <a:rPr sz="1000" b="0">
                          <a:solidFill>
                            <a:srgbClr val="101828"/>
                          </a:solidFill>
                          <a:latin typeface="Calibri"/>
                        </a:rPr>
                        <a:t>Open PRs + open branches snapshot</a:t>
                      </a:r>
                    </a:p>
                  </a:txBody>
                  <a:tcPr marL="45720" marR="45720" marT="18288" marB="18288">
                    <a:solidFill>
                      <a:srgbClr val="FFFFFF"/>
                    </a:solidFill>
                  </a:tcPr>
                </a:tc>
                <a:tc>
                  <a:txBody>
                    <a:bodyPr wrap="square"/>
                    <a:lstStyle/>
                    <a:p>
                      <a:pPr algn="l"/>
                      <a:r>
                        <a:rPr sz="1000" b="0">
                          <a:solidFill>
                            <a:srgbClr val="101828"/>
                          </a:solidFill>
                          <a:latin typeface="Calibri"/>
                        </a:rPr>
                        <a:t>Platform</a:t>
                      </a:r>
                    </a:p>
                  </a:txBody>
                  <a:tcPr marL="45720" marR="45720" marT="18288" marB="18288">
                    <a:solidFill>
                      <a:srgbClr val="FFFFFF"/>
                    </a:solidFill>
                  </a:tcPr>
                </a:tc>
                <a:tc>
                  <a:txBody>
                    <a:bodyPr wrap="square"/>
                    <a:lstStyle/>
                    <a:p>
                      <a:pPr algn="l"/>
                      <a:r>
                        <a:rPr sz="1000" b="0">
                          <a:solidFill>
                            <a:srgbClr val="101828"/>
                          </a:solidFill>
                          <a:latin typeface="Calibri"/>
                        </a:rPr>
                        <a:t>1</a:t>
                      </a:r>
                    </a:p>
                  </a:txBody>
                  <a:tcPr marL="45720" marR="45720" marT="18288" marB="18288">
                    <a:solidFill>
                      <a:srgbClr val="FFFFFF"/>
                    </a:solidFill>
                  </a:tcPr>
                </a:tc>
                <a:tc>
                  <a:txBody>
                    <a:bodyPr wrap="square"/>
                    <a:lstStyle/>
                    <a:p>
                      <a:pPr algn="l"/>
                      <a:r>
                        <a:rPr sz="1000" b="0">
                          <a:solidFill>
                            <a:srgbClr val="101828"/>
                          </a:solidFill>
                          <a:latin typeface="Calibri"/>
                        </a:rPr>
                        <a:t>0.9</a:t>
                      </a:r>
                    </a:p>
                  </a:txBody>
                  <a:tcPr marL="45720" marR="45720" marT="18288" marB="18288">
                    <a:solidFill>
                      <a:srgbClr val="FFFFFF"/>
                    </a:solidFill>
                  </a:tcPr>
                </a:tc>
              </a:tr>
              <a:tr h="251460">
                <a:tc>
                  <a:txBody>
                    <a:bodyPr wrap="square"/>
                    <a:lstStyle/>
                    <a:p>
                      <a:pPr algn="l"/>
                      <a:r>
                        <a:rPr sz="1000" b="0">
                          <a:solidFill>
                            <a:srgbClr val="101828"/>
                          </a:solidFill>
                          <a:latin typeface="Calibri"/>
                        </a:rPr>
                        <a:t>0.12</a:t>
                      </a:r>
                    </a:p>
                  </a:txBody>
                  <a:tcPr marL="45720" marR="45720" marT="18288" marB="18288">
                    <a:solidFill>
                      <a:srgbClr val="F2F4F7"/>
                    </a:solidFill>
                  </a:tcPr>
                </a:tc>
                <a:tc>
                  <a:txBody>
                    <a:bodyPr wrap="square"/>
                    <a:lstStyle/>
                    <a:p>
                      <a:pPr algn="l"/>
                      <a:r>
                        <a:rPr sz="1000" b="0">
                          <a:solidFill>
                            <a:srgbClr val="101828"/>
                          </a:solidFill>
                          <a:latin typeface="Calibri"/>
                        </a:rPr>
                        <a:t>Pipeline inventory per repo (YAML vs Classic)</a:t>
                      </a:r>
                    </a:p>
                  </a:txBody>
                  <a:tcPr marL="45720" marR="45720" marT="18288" marB="18288">
                    <a:solidFill>
                      <a:srgbClr val="F2F4F7"/>
                    </a:solidFill>
                  </a:tcPr>
                </a:tc>
                <a:tc>
                  <a:txBody>
                    <a:bodyPr wrap="square"/>
                    <a:lstStyle/>
                    <a:p>
                      <a:pPr algn="l"/>
                      <a:r>
                        <a:rPr sz="1000" b="0">
                          <a:solidFill>
                            <a:srgbClr val="101828"/>
                          </a:solidFill>
                          <a:latin typeface="Calibri"/>
                        </a:rPr>
                        <a:t>DevEx</a:t>
                      </a:r>
                    </a:p>
                  </a:txBody>
                  <a:tcPr marL="45720" marR="45720" marT="18288" marB="18288">
                    <a:solidFill>
                      <a:srgbClr val="F2F4F7"/>
                    </a:solidFill>
                  </a:tcPr>
                </a:tc>
                <a:tc>
                  <a:txBody>
                    <a:bodyPr wrap="square"/>
                    <a:lstStyle/>
                    <a:p>
                      <a:pPr algn="l"/>
                      <a:r>
                        <a:rPr sz="1000" b="0">
                          <a:solidFill>
                            <a:srgbClr val="101828"/>
                          </a:solidFill>
                          <a:latin typeface="Calibri"/>
                        </a:rPr>
                        <a:t>2</a:t>
                      </a:r>
                    </a:p>
                  </a:txBody>
                  <a:tcPr marL="45720" marR="45720" marT="18288" marB="18288">
                    <a:solidFill>
                      <a:srgbClr val="F2F4F7"/>
                    </a:solidFill>
                  </a:tcPr>
                </a:tc>
                <a:tc>
                  <a:txBody>
                    <a:bodyPr wrap="square"/>
                    <a:lstStyle/>
                    <a:p>
                      <a:pPr algn="l"/>
                      <a:r>
                        <a:rPr sz="1000" b="0">
                          <a:solidFill>
                            <a:srgbClr val="101828"/>
                          </a:solidFill>
                          <a:latin typeface="Calibri"/>
                        </a:rPr>
                        <a:t>0.9</a:t>
                      </a:r>
                    </a:p>
                  </a:txBody>
                  <a:tcPr marL="45720" marR="45720" marT="18288" marB="18288">
                    <a:solidFill>
                      <a:srgbClr val="F2F4F7"/>
                    </a:solidFill>
                  </a:tcPr>
                </a:tc>
              </a:tr>
              <a:tr h="251460">
                <a:tc>
                  <a:txBody>
                    <a:bodyPr wrap="square"/>
                    <a:lstStyle/>
                    <a:p>
                      <a:pPr algn="l"/>
                      <a:r>
                        <a:rPr sz="1000" b="0">
                          <a:solidFill>
                            <a:srgbClr val="101828"/>
                          </a:solidFill>
                          <a:latin typeface="Calibri"/>
                        </a:rPr>
                        <a:t>0.13</a:t>
                      </a:r>
                    </a:p>
                  </a:txBody>
                  <a:tcPr marL="45720" marR="45720" marT="18288" marB="18288">
                    <a:solidFill>
                      <a:srgbClr val="FFFFFF"/>
                    </a:solidFill>
                  </a:tcPr>
                </a:tc>
                <a:tc>
                  <a:txBody>
                    <a:bodyPr wrap="square"/>
                    <a:lstStyle/>
                    <a:p>
                      <a:pPr algn="l"/>
                      <a:r>
                        <a:rPr sz="1000" b="0">
                          <a:solidFill>
                            <a:srgbClr val="101828"/>
                          </a:solidFill>
                          <a:latin typeface="Calibri"/>
                        </a:rPr>
                        <a:t>ADO branch policy inventory per repo</a:t>
                      </a:r>
                    </a:p>
                  </a:txBody>
                  <a:tcPr marL="45720" marR="45720" marT="18288" marB="18288">
                    <a:solidFill>
                      <a:srgbClr val="FFFFFF"/>
                    </a:solidFill>
                  </a:tcPr>
                </a:tc>
                <a:tc>
                  <a:txBody>
                    <a:bodyPr wrap="square"/>
                    <a:lstStyle/>
                    <a:p>
                      <a:pPr algn="l"/>
                      <a:r>
                        <a:rPr sz="1000" b="0">
                          <a:solidFill>
                            <a:srgbClr val="101828"/>
                          </a:solidFill>
                          <a:latin typeface="Calibri"/>
                        </a:rPr>
                        <a:t>Platform</a:t>
                      </a:r>
                    </a:p>
                  </a:txBody>
                  <a:tcPr marL="45720" marR="45720" marT="18288" marB="18288">
                    <a:solidFill>
                      <a:srgbClr val="FFFFFF"/>
                    </a:solidFill>
                  </a:tcPr>
                </a:tc>
                <a:tc>
                  <a:txBody>
                    <a:bodyPr wrap="square"/>
                    <a:lstStyle/>
                    <a:p>
                      <a:pPr algn="l"/>
                      <a:r>
                        <a:rPr sz="1000" b="0">
                          <a:solidFill>
                            <a:srgbClr val="101828"/>
                          </a:solidFill>
                          <a:latin typeface="Calibri"/>
                        </a:rPr>
                        <a:t>2</a:t>
                      </a:r>
                    </a:p>
                  </a:txBody>
                  <a:tcPr marL="45720" marR="45720" marT="18288" marB="18288">
                    <a:solidFill>
                      <a:srgbClr val="FFFFFF"/>
                    </a:solidFill>
                  </a:tcPr>
                </a:tc>
                <a:tc>
                  <a:txBody>
                    <a:bodyPr wrap="square"/>
                    <a:lstStyle/>
                    <a:p>
                      <a:pPr algn="l"/>
                      <a:r>
                        <a:rPr sz="1000" b="0">
                          <a:solidFill>
                            <a:srgbClr val="101828"/>
                          </a:solidFill>
                          <a:latin typeface="Calibri"/>
                        </a:rPr>
                        <a:t>0.9</a:t>
                      </a:r>
                    </a:p>
                  </a:txBody>
                  <a:tcPr marL="45720" marR="45720" marT="18288" marB="18288">
                    <a:solidFill>
                      <a:srgbClr val="FFFFFF"/>
                    </a:solidFill>
                  </a:tcPr>
                </a:tc>
              </a:tr>
              <a:tr h="251460">
                <a:tc>
                  <a:txBody>
                    <a:bodyPr wrap="square"/>
                    <a:lstStyle/>
                    <a:p>
                      <a:pPr algn="l"/>
                      <a:r>
                        <a:rPr sz="1000" b="0">
                          <a:solidFill>
                            <a:srgbClr val="101828"/>
                          </a:solidFill>
                          <a:latin typeface="Calibri"/>
                        </a:rPr>
                        <a:t>0.14</a:t>
                      </a:r>
                    </a:p>
                  </a:txBody>
                  <a:tcPr marL="45720" marR="45720" marT="18288" marB="18288">
                    <a:solidFill>
                      <a:srgbClr val="F2F4F7"/>
                    </a:solidFill>
                  </a:tcPr>
                </a:tc>
                <a:tc>
                  <a:txBody>
                    <a:bodyPr wrap="square"/>
                    <a:lstStyle/>
                    <a:p>
                      <a:pPr algn="l"/>
                      <a:r>
                        <a:rPr sz="1000" b="0">
                          <a:solidFill>
                            <a:srgbClr val="101828"/>
                          </a:solidFill>
                          <a:latin typeface="Calibri"/>
                        </a:rPr>
                        <a:t>ADO service connections inventory</a:t>
                      </a:r>
                    </a:p>
                  </a:txBody>
                  <a:tcPr marL="45720" marR="45720" marT="18288" marB="18288">
                    <a:solidFill>
                      <a:srgbClr val="F2F4F7"/>
                    </a:solidFill>
                  </a:tcPr>
                </a:tc>
                <a:tc>
                  <a:txBody>
                    <a:bodyPr wrap="square"/>
                    <a:lstStyle/>
                    <a:p>
                      <a:pPr algn="l"/>
                      <a:r>
                        <a:rPr sz="1000" b="0">
                          <a:solidFill>
                            <a:srgbClr val="101828"/>
                          </a:solidFill>
                          <a:latin typeface="Calibri"/>
                        </a:rPr>
                        <a:t>DevEx</a:t>
                      </a:r>
                    </a:p>
                  </a:txBody>
                  <a:tcPr marL="45720" marR="45720" marT="18288" marB="18288">
                    <a:solidFill>
                      <a:srgbClr val="F2F4F7"/>
                    </a:solidFill>
                  </a:tcPr>
                </a:tc>
                <a:tc>
                  <a:txBody>
                    <a:bodyPr wrap="square"/>
                    <a:lstStyle/>
                    <a:p>
                      <a:pPr algn="l"/>
                      <a:r>
                        <a:rPr sz="1000" b="0">
                          <a:solidFill>
                            <a:srgbClr val="101828"/>
                          </a:solidFill>
                          <a:latin typeface="Calibri"/>
                        </a:rPr>
                        <a:t>1</a:t>
                      </a:r>
                    </a:p>
                  </a:txBody>
                  <a:tcPr marL="45720" marR="45720" marT="18288" marB="18288">
                    <a:solidFill>
                      <a:srgbClr val="F2F4F7"/>
                    </a:solidFill>
                  </a:tcPr>
                </a:tc>
                <a:tc>
                  <a:txBody>
                    <a:bodyPr wrap="square"/>
                    <a:lstStyle/>
                    <a:p>
                      <a:pPr algn="l"/>
                      <a:r>
                        <a:rPr sz="1000" b="0">
                          <a:solidFill>
                            <a:srgbClr val="101828"/>
                          </a:solidFill>
                          <a:latin typeface="Calibri"/>
                        </a:rPr>
                        <a:t>0.9</a:t>
                      </a:r>
                    </a:p>
                  </a:txBody>
                  <a:tcPr marL="45720" marR="45720" marT="18288" marB="18288">
                    <a:solidFill>
                      <a:srgbClr val="F2F4F7"/>
                    </a:solidFill>
                  </a:tcPr>
                </a:tc>
              </a:tr>
              <a:tr h="251460">
                <a:tc>
                  <a:txBody>
                    <a:bodyPr wrap="square"/>
                    <a:lstStyle/>
                    <a:p>
                      <a:pPr algn="l"/>
                      <a:r>
                        <a:rPr sz="1000" b="0">
                          <a:solidFill>
                            <a:srgbClr val="101828"/>
                          </a:solidFill>
                          <a:latin typeface="Calibri"/>
                        </a:rPr>
                        <a:t>0.15</a:t>
                      </a:r>
                    </a:p>
                  </a:txBody>
                  <a:tcPr marL="45720" marR="45720" marT="18288" marB="18288">
                    <a:solidFill>
                      <a:srgbClr val="FFFFFF"/>
                    </a:solidFill>
                  </a:tcPr>
                </a:tc>
                <a:tc>
                  <a:txBody>
                    <a:bodyPr wrap="square"/>
                    <a:lstStyle/>
                    <a:p>
                      <a:pPr algn="l"/>
                      <a:r>
                        <a:rPr sz="1000" b="0">
                          <a:solidFill>
                            <a:srgbClr val="101828"/>
                          </a:solidFill>
                          <a:latin typeface="Calibri"/>
                        </a:rPr>
                        <a:t>Complexity scoring per repo</a:t>
                      </a:r>
                    </a:p>
                  </a:txBody>
                  <a:tcPr marL="45720" marR="45720" marT="18288" marB="18288">
                    <a:solidFill>
                      <a:srgbClr val="FFFFFF"/>
                    </a:solidFill>
                  </a:tcPr>
                </a:tc>
                <a:tc>
                  <a:txBody>
                    <a:bodyPr wrap="square"/>
                    <a:lstStyle/>
                    <a:p>
                      <a:pPr algn="l"/>
                      <a:r>
                        <a:rPr sz="1000" b="0">
                          <a:solidFill>
                            <a:srgbClr val="101828"/>
                          </a:solidFill>
                          <a:latin typeface="Calibri"/>
                        </a:rPr>
                        <a:t>Tech Lead</a:t>
                      </a:r>
                    </a:p>
                  </a:txBody>
                  <a:tcPr marL="45720" marR="45720" marT="18288" marB="18288">
                    <a:solidFill>
                      <a:srgbClr val="FFFFFF"/>
                    </a:solidFill>
                  </a:tcPr>
                </a:tc>
                <a:tc>
                  <a:txBody>
                    <a:bodyPr wrap="square"/>
                    <a:lstStyle/>
                    <a:p>
                      <a:pPr algn="l"/>
                      <a:r>
                        <a:rPr sz="1000" b="0">
                          <a:solidFill>
                            <a:srgbClr val="101828"/>
                          </a:solidFill>
                          <a:latin typeface="Calibri"/>
                        </a:rPr>
                        <a:t>1</a:t>
                      </a:r>
                    </a:p>
                  </a:txBody>
                  <a:tcPr marL="45720" marR="45720" marT="18288" marB="18288">
                    <a:solidFill>
                      <a:srgbClr val="FFFFFF"/>
                    </a:solidFill>
                  </a:tcPr>
                </a:tc>
                <a:tc>
                  <a:txBody>
                    <a:bodyPr wrap="square"/>
                    <a:lstStyle/>
                    <a:p>
                      <a:pPr algn="l"/>
                      <a:r>
                        <a:rPr sz="1000" b="0">
                          <a:solidFill>
                            <a:srgbClr val="101828"/>
                          </a:solidFill>
                          <a:latin typeface="Calibri"/>
                        </a:rPr>
                        <a:t>0.10-0.14</a:t>
                      </a:r>
                    </a:p>
                  </a:txBody>
                  <a:tcPr marL="45720" marR="45720" marT="18288" marB="18288">
                    <a:solidFill>
                      <a:srgbClr val="FFFFFF"/>
                    </a:solidFill>
                  </a:tcPr>
                </a:tc>
              </a:tr>
              <a:tr h="251460">
                <a:tc>
                  <a:txBody>
                    <a:bodyPr wrap="square"/>
                    <a:lstStyle/>
                    <a:p>
                      <a:pPr algn="l"/>
                      <a:r>
                        <a:rPr sz="1000" b="0">
                          <a:solidFill>
                            <a:srgbClr val="101828"/>
                          </a:solidFill>
                          <a:latin typeface="Calibri"/>
                        </a:rPr>
                        <a:t>0.16</a:t>
                      </a:r>
                    </a:p>
                  </a:txBody>
                  <a:tcPr marL="45720" marR="45720" marT="18288" marB="18288">
                    <a:solidFill>
                      <a:srgbClr val="F2F4F7"/>
                    </a:solidFill>
                  </a:tcPr>
                </a:tc>
                <a:tc>
                  <a:txBody>
                    <a:bodyPr wrap="square"/>
                    <a:lstStyle/>
                    <a:p>
                      <a:pPr algn="l"/>
                      <a:r>
                        <a:rPr sz="1000" b="0">
                          <a:solidFill>
                            <a:srgbClr val="101828"/>
                          </a:solidFill>
                          <a:latin typeface="Calibri"/>
                        </a:rPr>
                        <a:t>Wave assignment (Pilot + W1-W4)</a:t>
                      </a:r>
                    </a:p>
                  </a:txBody>
                  <a:tcPr marL="45720" marR="45720" marT="18288" marB="18288">
                    <a:solidFill>
                      <a:srgbClr val="F2F4F7"/>
                    </a:solidFill>
                  </a:tcPr>
                </a:tc>
                <a:tc>
                  <a:txBody>
                    <a:bodyPr wrap="square"/>
                    <a:lstStyle/>
                    <a:p>
                      <a:pPr algn="l"/>
                      <a:r>
                        <a:rPr sz="1000" b="0">
                          <a:solidFill>
                            <a:srgbClr val="101828"/>
                          </a:solidFill>
                          <a:latin typeface="Calibri"/>
                        </a:rPr>
                        <a:t>Tech Lead</a:t>
                      </a:r>
                    </a:p>
                  </a:txBody>
                  <a:tcPr marL="45720" marR="45720" marT="18288" marB="18288">
                    <a:solidFill>
                      <a:srgbClr val="F2F4F7"/>
                    </a:solidFill>
                  </a:tcPr>
                </a:tc>
                <a:tc>
                  <a:txBody>
                    <a:bodyPr wrap="square"/>
                    <a:lstStyle/>
                    <a:p>
                      <a:pPr algn="l"/>
                      <a:r>
                        <a:rPr sz="1000" b="0">
                          <a:solidFill>
                            <a:srgbClr val="101828"/>
                          </a:solidFill>
                          <a:latin typeface="Calibri"/>
                        </a:rPr>
                        <a:t>1</a:t>
                      </a:r>
                    </a:p>
                  </a:txBody>
                  <a:tcPr marL="45720" marR="45720" marT="18288" marB="18288">
                    <a:solidFill>
                      <a:srgbClr val="F2F4F7"/>
                    </a:solidFill>
                  </a:tcPr>
                </a:tc>
                <a:tc>
                  <a:txBody>
                    <a:bodyPr wrap="square"/>
                    <a:lstStyle/>
                    <a:p>
                      <a:pPr algn="l"/>
                      <a:r>
                        <a:rPr sz="1000" b="0">
                          <a:solidFill>
                            <a:srgbClr val="101828"/>
                          </a:solidFill>
                          <a:latin typeface="Calibri"/>
                        </a:rPr>
                        <a:t>0.15</a:t>
                      </a:r>
                    </a:p>
                  </a:txBody>
                  <a:tcPr marL="45720" marR="45720" marT="18288" marB="18288">
                    <a:solidFill>
                      <a:srgbClr val="F2F4F7"/>
                    </a:solidFill>
                  </a:tcPr>
                </a:tc>
              </a:tr>
              <a:tr h="251460">
                <a:tc>
                  <a:txBody>
                    <a:bodyPr wrap="square"/>
                    <a:lstStyle/>
                    <a:p>
                      <a:pPr algn="l"/>
                      <a:r>
                        <a:rPr sz="1000" b="0">
                          <a:solidFill>
                            <a:srgbClr val="101828"/>
                          </a:solidFill>
                          <a:latin typeface="Calibri"/>
                        </a:rPr>
                        <a:t>0.17</a:t>
                      </a:r>
                    </a:p>
                  </a:txBody>
                  <a:tcPr marL="45720" marR="45720" marT="18288" marB="18288">
                    <a:solidFill>
                      <a:srgbClr val="FFFFFF"/>
                    </a:solidFill>
                  </a:tcPr>
                </a:tc>
                <a:tc>
                  <a:txBody>
                    <a:bodyPr wrap="square"/>
                    <a:lstStyle/>
                    <a:p>
                      <a:pPr algn="l"/>
                      <a:r>
                        <a:rPr sz="1000" b="0">
                          <a:solidFill>
                            <a:srgbClr val="101828"/>
                          </a:solidFill>
                          <a:latin typeface="Calibri"/>
                        </a:rPr>
                        <a:t>Baseline ruleset JSON v1</a:t>
                      </a:r>
                    </a:p>
                  </a:txBody>
                  <a:tcPr marL="45720" marR="45720" marT="18288" marB="18288">
                    <a:solidFill>
                      <a:srgbClr val="FFFFFF"/>
                    </a:solidFill>
                  </a:tcPr>
                </a:tc>
                <a:tc>
                  <a:txBody>
                    <a:bodyPr wrap="square"/>
                    <a:lstStyle/>
                    <a:p>
                      <a:pPr algn="l"/>
                      <a:r>
                        <a:rPr sz="1000" b="0">
                          <a:solidFill>
                            <a:srgbClr val="101828"/>
                          </a:solidFill>
                          <a:latin typeface="Calibri"/>
                        </a:rPr>
                        <a:t>InfoSec</a:t>
                      </a:r>
                    </a:p>
                  </a:txBody>
                  <a:tcPr marL="45720" marR="45720" marT="18288" marB="18288">
                    <a:solidFill>
                      <a:srgbClr val="FFFFFF"/>
                    </a:solidFill>
                  </a:tcPr>
                </a:tc>
                <a:tc>
                  <a:txBody>
                    <a:bodyPr wrap="square"/>
                    <a:lstStyle/>
                    <a:p>
                      <a:pPr algn="l"/>
                      <a:r>
                        <a:rPr sz="1000" b="0">
                          <a:solidFill>
                            <a:srgbClr val="101828"/>
                          </a:solidFill>
                          <a:latin typeface="Calibri"/>
                        </a:rPr>
                        <a:t>2</a:t>
                      </a:r>
                    </a:p>
                  </a:txBody>
                  <a:tcPr marL="45720" marR="45720" marT="18288" marB="18288">
                    <a:solidFill>
                      <a:srgbClr val="FFFFFF"/>
                    </a:solidFill>
                  </a:tcPr>
                </a:tc>
                <a:tc>
                  <a:txBody>
                    <a:bodyPr wrap="square"/>
                    <a:lstStyle/>
                    <a:p>
                      <a:pPr algn="l"/>
                      <a:r>
                        <a:rPr sz="1000" b="0">
                          <a:solidFill>
                            <a:srgbClr val="101828"/>
                          </a:solidFill>
                          <a:latin typeface="Calibri"/>
                        </a:rPr>
                        <a:t>0.13</a:t>
                      </a:r>
                    </a:p>
                  </a:txBody>
                  <a:tcPr marL="45720" marR="45720" marT="18288" marB="18288">
                    <a:solidFill>
                      <a:srgbClr val="FFFFFF"/>
                    </a:solidFill>
                  </a:tcPr>
                </a:tc>
              </a:tr>
              <a:tr h="251460">
                <a:tc>
                  <a:txBody>
                    <a:bodyPr wrap="square"/>
                    <a:lstStyle/>
                    <a:p>
                      <a:pPr algn="l"/>
                      <a:r>
                        <a:rPr sz="1000" b="0">
                          <a:solidFill>
                            <a:srgbClr val="101828"/>
                          </a:solidFill>
                          <a:latin typeface="Calibri"/>
                        </a:rPr>
                        <a:t>0.18</a:t>
                      </a:r>
                    </a:p>
                  </a:txBody>
                  <a:tcPr marL="45720" marR="45720" marT="18288" marB="18288">
                    <a:solidFill>
                      <a:srgbClr val="F2F4F7"/>
                    </a:solidFill>
                  </a:tcPr>
                </a:tc>
                <a:tc>
                  <a:txBody>
                    <a:bodyPr wrap="square"/>
                    <a:lstStyle/>
                    <a:p>
                      <a:pPr algn="l"/>
                      <a:r>
                        <a:rPr sz="1000" b="0">
                          <a:solidFill>
                            <a:srgbClr val="101828"/>
                          </a:solidFill>
                          <a:latin typeface="Calibri"/>
                        </a:rPr>
                        <a:t>CODEOWNERS template</a:t>
                      </a:r>
                    </a:p>
                  </a:txBody>
                  <a:tcPr marL="45720" marR="45720" marT="18288" marB="18288">
                    <a:solidFill>
                      <a:srgbClr val="F2F4F7"/>
                    </a:solidFill>
                  </a:tcPr>
                </a:tc>
                <a:tc>
                  <a:txBody>
                    <a:bodyPr wrap="square"/>
                    <a:lstStyle/>
                    <a:p>
                      <a:pPr algn="l"/>
                      <a:r>
                        <a:rPr sz="1000" b="0">
                          <a:solidFill>
                            <a:srgbClr val="101828"/>
                          </a:solidFill>
                          <a:latin typeface="Calibri"/>
                        </a:rPr>
                        <a:t>Platform</a:t>
                      </a:r>
                    </a:p>
                  </a:txBody>
                  <a:tcPr marL="45720" marR="45720" marT="18288" marB="18288">
                    <a:solidFill>
                      <a:srgbClr val="F2F4F7"/>
                    </a:solidFill>
                  </a:tcPr>
                </a:tc>
                <a:tc>
                  <a:txBody>
                    <a:bodyPr wrap="square"/>
                    <a:lstStyle/>
                    <a:p>
                      <a:pPr algn="l"/>
                      <a:r>
                        <a:rPr sz="1000" b="0">
                          <a:solidFill>
                            <a:srgbClr val="101828"/>
                          </a:solidFill>
                          <a:latin typeface="Calibri"/>
                        </a:rPr>
                        <a:t>0.5</a:t>
                      </a:r>
                    </a:p>
                  </a:txBody>
                  <a:tcPr marL="45720" marR="45720" marT="18288" marB="18288">
                    <a:solidFill>
                      <a:srgbClr val="F2F4F7"/>
                    </a:solidFill>
                  </a:tcPr>
                </a:tc>
                <a:tc>
                  <a:txBody>
                    <a:bodyPr wrap="square"/>
                    <a:lstStyle/>
                    <a:p>
                      <a:pPr algn="l"/>
                      <a:r>
                        <a:rPr sz="1000" b="0">
                          <a:solidFill>
                            <a:srgbClr val="101828"/>
                          </a:solidFill>
                          <a:latin typeface="Calibri"/>
                        </a:rPr>
                        <a:t>-</a:t>
                      </a:r>
                    </a:p>
                  </a:txBody>
                  <a:tcPr marL="45720" marR="45720" marT="18288" marB="18288">
                    <a:solidFill>
                      <a:srgbClr val="F2F4F7"/>
                    </a:solidFill>
                  </a:tcPr>
                </a:tc>
              </a:tr>
              <a:tr h="251460">
                <a:tc>
                  <a:txBody>
                    <a:bodyPr wrap="square"/>
                    <a:lstStyle/>
                    <a:p>
                      <a:pPr algn="l"/>
                      <a:r>
                        <a:rPr sz="1000" b="0">
                          <a:solidFill>
                            <a:srgbClr val="101828"/>
                          </a:solidFill>
                          <a:latin typeface="Calibri"/>
                        </a:rPr>
                        <a:t>0.19</a:t>
                      </a:r>
                    </a:p>
                  </a:txBody>
                  <a:tcPr marL="45720" marR="45720" marT="18288" marB="18288">
                    <a:solidFill>
                      <a:srgbClr val="FFFFFF"/>
                    </a:solidFill>
                  </a:tcPr>
                </a:tc>
                <a:tc>
                  <a:txBody>
                    <a:bodyPr wrap="square"/>
                    <a:lstStyle/>
                    <a:p>
                      <a:pPr algn="l"/>
                      <a:r>
                        <a:rPr sz="1000" b="0">
                          <a:solidFill>
                            <a:srgbClr val="101828"/>
                          </a:solidFill>
                          <a:latin typeface="Calibri"/>
                        </a:rPr>
                        <a:t>M1 gate: sign-off on wave plan &amp; risks</a:t>
                      </a:r>
                    </a:p>
                  </a:txBody>
                  <a:tcPr marL="45720" marR="45720" marT="18288" marB="18288">
                    <a:solidFill>
                      <a:srgbClr val="FFFFFF"/>
                    </a:solidFill>
                  </a:tcPr>
                </a:tc>
                <a:tc>
                  <a:txBody>
                    <a:bodyPr wrap="square"/>
                    <a:lstStyle/>
                    <a:p>
                      <a:pPr algn="l"/>
                      <a:r>
                        <a:rPr sz="1000" b="0">
                          <a:solidFill>
                            <a:srgbClr val="101828"/>
                          </a:solidFill>
                          <a:latin typeface="Calibri"/>
                        </a:rPr>
                        <a:t>PM + Sponsor</a:t>
                      </a:r>
                    </a:p>
                  </a:txBody>
                  <a:tcPr marL="45720" marR="45720" marT="18288" marB="18288">
                    <a:solidFill>
                      <a:srgbClr val="FFFFFF"/>
                    </a:solidFill>
                  </a:tcPr>
                </a:tc>
                <a:tc>
                  <a:txBody>
                    <a:bodyPr wrap="square"/>
                    <a:lstStyle/>
                    <a:p>
                      <a:pPr algn="l"/>
                      <a:r>
                        <a:rPr sz="1000" b="0">
                          <a:solidFill>
                            <a:srgbClr val="101828"/>
                          </a:solidFill>
                          <a:latin typeface="Calibri"/>
                        </a:rPr>
                        <a:t>0.5</a:t>
                      </a:r>
                    </a:p>
                  </a:txBody>
                  <a:tcPr marL="45720" marR="45720" marT="18288" marB="18288">
                    <a:solidFill>
                      <a:srgbClr val="FFFFFF"/>
                    </a:solidFill>
                  </a:tcPr>
                </a:tc>
                <a:tc>
                  <a:txBody>
                    <a:bodyPr wrap="square"/>
                    <a:lstStyle/>
                    <a:p>
                      <a:pPr algn="l"/>
                      <a:r>
                        <a:rPr sz="1000" b="0">
                          <a:solidFill>
                            <a:srgbClr val="101828"/>
                          </a:solidFill>
                          <a:latin typeface="Calibri"/>
                        </a:rPr>
                        <a:t>0.16, 0.17</a:t>
                      </a:r>
                    </a:p>
                  </a:txBody>
                  <a:tcPr marL="45720" marR="45720" marT="18288" marB="18288">
                    <a:solidFill>
                      <a:srgbClr val="FFFFFF"/>
                    </a:solidFill>
                  </a:tcPr>
                </a:tc>
              </a:tr>
            </a:tbl>
          </a:graphicData>
        </a:graphic>
      </p:graphicFrame>
      <p:sp>
        <p:nvSpPr>
          <p:cNvPr id="8" name="Rectangle 7"/>
          <p:cNvSpPr/>
          <p:nvPr/>
        </p:nvSpPr>
        <p:spPr>
          <a:xfrm>
            <a:off x="365760" y="6172200"/>
            <a:ext cx="11430000" cy="32004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172200"/>
            <a:ext cx="11155680" cy="320040"/>
          </a:xfrm>
          <a:prstGeom prst="rect">
            <a:avLst/>
          </a:prstGeom>
          <a:noFill/>
        </p:spPr>
        <p:txBody>
          <a:bodyPr wrap="square" lIns="45720" rIns="45720" tIns="18288" bIns="18288" anchor="ctr">
            <a:spAutoFit/>
          </a:bodyPr>
          <a:lstStyle/>
          <a:p>
            <a:pPr algn="l"/>
            <a:r>
              <a:rPr sz="1000" b="1">
                <a:solidFill>
                  <a:srgbClr val="101828"/>
                </a:solidFill>
                <a:latin typeface="Calibri"/>
              </a:rPr>
              <a:t>Full L3 covers ~80 tasks across all 5 stages. Available as CSV / project plan on request.</a:t>
            </a:r>
          </a:p>
        </p:txBody>
      </p:sp>
      <p:sp>
        <p:nvSpPr>
          <p:cNvPr id="10" name="TextBox 9"/>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11" name="TextBox 10"/>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Phase 1 Risks &amp; Mitigations</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Top 10 risks ranked</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365760" y="1051560"/>
          <a:ext cx="11430000" cy="5394960"/>
        </p:xfrm>
        <a:graphic>
          <a:graphicData uri="http://schemas.openxmlformats.org/drawingml/2006/table">
            <a:tbl>
              <a:tblPr firstRow="1" bandRow="1">
                <a:tableStyleId>{5C22544A-7EE6-4342-B048-85BDC9FD1C3A}</a:tableStyleId>
              </a:tblPr>
              <a:tblGrid>
                <a:gridCol w="457200"/>
                <a:gridCol w="5029200"/>
                <a:gridCol w="731520"/>
                <a:gridCol w="731520"/>
                <a:gridCol w="4480560"/>
              </a:tblGrid>
              <a:tr h="490450">
                <a:tc>
                  <a:txBody>
                    <a:bodyPr wrap="square"/>
                    <a:lstStyle/>
                    <a:p>
                      <a:pPr algn="l"/>
                      <a:r>
                        <a:rPr sz="1000" b="1">
                          <a:solidFill>
                            <a:srgbClr val="FFFFFF"/>
                          </a:solidFill>
                          <a:latin typeface="Calibri"/>
                        </a:rPr>
                        <a:t>#</a:t>
                      </a:r>
                    </a:p>
                  </a:txBody>
                  <a:tcPr marL="45720" marR="45720" marT="18288" marB="18288">
                    <a:solidFill>
                      <a:srgbClr val="1F4D42"/>
                    </a:solidFill>
                  </a:tcPr>
                </a:tc>
                <a:tc>
                  <a:txBody>
                    <a:bodyPr wrap="square"/>
                    <a:lstStyle/>
                    <a:p>
                      <a:pPr algn="l"/>
                      <a:r>
                        <a:rPr sz="1000" b="1">
                          <a:solidFill>
                            <a:srgbClr val="FFFFFF"/>
                          </a:solidFill>
                          <a:latin typeface="Calibri"/>
                        </a:rPr>
                        <a:t>Risk</a:t>
                      </a:r>
                    </a:p>
                  </a:txBody>
                  <a:tcPr marL="45720" marR="45720" marT="18288" marB="18288">
                    <a:solidFill>
                      <a:srgbClr val="1F4D42"/>
                    </a:solidFill>
                  </a:tcPr>
                </a:tc>
                <a:tc>
                  <a:txBody>
                    <a:bodyPr wrap="square"/>
                    <a:lstStyle/>
                    <a:p>
                      <a:pPr algn="l"/>
                      <a:r>
                        <a:rPr sz="1000" b="1">
                          <a:solidFill>
                            <a:srgbClr val="FFFFFF"/>
                          </a:solidFill>
                          <a:latin typeface="Calibri"/>
                        </a:rPr>
                        <a:t>L</a:t>
                      </a:r>
                    </a:p>
                  </a:txBody>
                  <a:tcPr marL="45720" marR="45720" marT="18288" marB="18288">
                    <a:solidFill>
                      <a:srgbClr val="1F4D42"/>
                    </a:solidFill>
                  </a:tcPr>
                </a:tc>
                <a:tc>
                  <a:txBody>
                    <a:bodyPr wrap="square"/>
                    <a:lstStyle/>
                    <a:p>
                      <a:pPr algn="l"/>
                      <a:r>
                        <a:rPr sz="1000" b="1">
                          <a:solidFill>
                            <a:srgbClr val="FFFFFF"/>
                          </a:solidFill>
                          <a:latin typeface="Calibri"/>
                        </a:rPr>
                        <a:t>I</a:t>
                      </a:r>
                    </a:p>
                  </a:txBody>
                  <a:tcPr marL="45720" marR="45720" marT="18288" marB="18288">
                    <a:solidFill>
                      <a:srgbClr val="1F4D42"/>
                    </a:solidFill>
                  </a:tcPr>
                </a:tc>
                <a:tc>
                  <a:txBody>
                    <a:bodyPr wrap="square"/>
                    <a:lstStyle/>
                    <a:p>
                      <a:pPr algn="l"/>
                      <a:r>
                        <a:rPr sz="1000" b="1">
                          <a:solidFill>
                            <a:srgbClr val="FFFFFF"/>
                          </a:solidFill>
                          <a:latin typeface="Calibri"/>
                        </a:rPr>
                        <a:t>Mitigation</a:t>
                      </a:r>
                    </a:p>
                  </a:txBody>
                  <a:tcPr marL="45720" marR="45720" marT="18288" marB="18288">
                    <a:solidFill>
                      <a:srgbClr val="1F4D42"/>
                    </a:solidFill>
                  </a:tcPr>
                </a:tc>
              </a:tr>
              <a:tr h="490450">
                <a:tc>
                  <a:txBody>
                    <a:bodyPr wrap="square"/>
                    <a:lstStyle/>
                    <a:p>
                      <a:pPr algn="l"/>
                      <a:r>
                        <a:rPr sz="1000" b="0">
                          <a:solidFill>
                            <a:srgbClr val="101828"/>
                          </a:solidFill>
                          <a:latin typeface="Calibri"/>
                        </a:rPr>
                        <a:t>R1</a:t>
                      </a:r>
                    </a:p>
                  </a:txBody>
                  <a:tcPr marL="45720" marR="45720" marT="18288" marB="18288">
                    <a:solidFill>
                      <a:srgbClr val="FFFFFF"/>
                    </a:solidFill>
                  </a:tcPr>
                </a:tc>
                <a:tc>
                  <a:txBody>
                    <a:bodyPr wrap="square"/>
                    <a:lstStyle/>
                    <a:p>
                      <a:pPr algn="l"/>
                      <a:r>
                        <a:rPr sz="1000" b="0">
                          <a:solidFill>
                            <a:srgbClr val="101828"/>
                          </a:solidFill>
                          <a:latin typeface="Calibri"/>
                        </a:rPr>
                        <a:t>Entra SAML / SCIM delayed (MoJ admin availability)</a:t>
                      </a:r>
                    </a:p>
                  </a:txBody>
                  <a:tcPr marL="45720" marR="45720" marT="18288" marB="18288">
                    <a:solidFill>
                      <a:srgbClr val="FFFFFF"/>
                    </a:solidFill>
                  </a:tcPr>
                </a:tc>
                <a:tc>
                  <a:txBody>
                    <a:bodyPr wrap="square"/>
                    <a:lstStyle/>
                    <a:p>
                      <a:pPr algn="l"/>
                      <a:r>
                        <a:rPr sz="1000" b="0">
                          <a:solidFill>
                            <a:srgbClr val="101828"/>
                          </a:solidFill>
                          <a:latin typeface="Calibri"/>
                        </a:rPr>
                        <a:t>Med</a:t>
                      </a:r>
                    </a:p>
                  </a:txBody>
                  <a:tcPr marL="45720" marR="45720" marT="18288" marB="18288">
                    <a:solidFill>
                      <a:srgbClr val="FFFFFF"/>
                    </a:solidFill>
                  </a:tcPr>
                </a:tc>
                <a:tc>
                  <a:txBody>
                    <a:bodyPr wrap="square"/>
                    <a:lstStyle/>
                    <a:p>
                      <a:pPr algn="l"/>
                      <a:r>
                        <a:rPr sz="1000" b="0">
                          <a:solidFill>
                            <a:srgbClr val="101828"/>
                          </a:solidFill>
                          <a:latin typeface="Calibri"/>
                        </a:rPr>
                        <a:t>High</a:t>
                      </a:r>
                    </a:p>
                  </a:txBody>
                  <a:tcPr marL="45720" marR="45720" marT="18288" marB="18288">
                    <a:solidFill>
                      <a:srgbClr val="FFFFFF"/>
                    </a:solidFill>
                  </a:tcPr>
                </a:tc>
                <a:tc>
                  <a:txBody>
                    <a:bodyPr wrap="square"/>
                    <a:lstStyle/>
                    <a:p>
                      <a:pPr algn="l"/>
                      <a:r>
                        <a:rPr sz="1000" b="0">
                          <a:solidFill>
                            <a:srgbClr val="101828"/>
                          </a:solidFill>
                          <a:latin typeface="Calibri"/>
                        </a:rPr>
                        <a:t>Book MoJ IAM in W1; backup admin</a:t>
                      </a:r>
                    </a:p>
                  </a:txBody>
                  <a:tcPr marL="45720" marR="45720" marT="18288" marB="18288">
                    <a:solidFill>
                      <a:srgbClr val="FFFFFF"/>
                    </a:solidFill>
                  </a:tcPr>
                </a:tc>
              </a:tr>
              <a:tr h="490450">
                <a:tc>
                  <a:txBody>
                    <a:bodyPr wrap="square"/>
                    <a:lstStyle/>
                    <a:p>
                      <a:pPr algn="l"/>
                      <a:r>
                        <a:rPr sz="1000" b="0">
                          <a:solidFill>
                            <a:srgbClr val="101828"/>
                          </a:solidFill>
                          <a:latin typeface="Calibri"/>
                        </a:rPr>
                        <a:t>R2</a:t>
                      </a:r>
                    </a:p>
                  </a:txBody>
                  <a:tcPr marL="45720" marR="45720" marT="18288" marB="18288">
                    <a:solidFill>
                      <a:srgbClr val="F2F4F7"/>
                    </a:solidFill>
                  </a:tcPr>
                </a:tc>
                <a:tc>
                  <a:txBody>
                    <a:bodyPr wrap="square"/>
                    <a:lstStyle/>
                    <a:p>
                      <a:pPr algn="l"/>
                      <a:r>
                        <a:rPr sz="1000" b="0">
                          <a:solidFill>
                            <a:srgbClr val="101828"/>
                          </a:solidFill>
                          <a:latin typeface="Calibri"/>
                        </a:rPr>
                        <a:t>Pipeline re-point harder than expected (Classic %)</a:t>
                      </a:r>
                    </a:p>
                  </a:txBody>
                  <a:tcPr marL="45720" marR="45720" marT="18288" marB="18288">
                    <a:solidFill>
                      <a:srgbClr val="F2F4F7"/>
                    </a:solidFill>
                  </a:tcPr>
                </a:tc>
                <a:tc>
                  <a:txBody>
                    <a:bodyPr wrap="square"/>
                    <a:lstStyle/>
                    <a:p>
                      <a:pPr algn="l"/>
                      <a:r>
                        <a:rPr sz="1000" b="0">
                          <a:solidFill>
                            <a:srgbClr val="101828"/>
                          </a:solidFill>
                          <a:latin typeface="Calibri"/>
                        </a:rPr>
                        <a:t>Med</a:t>
                      </a:r>
                    </a:p>
                  </a:txBody>
                  <a:tcPr marL="45720" marR="45720" marT="18288" marB="18288">
                    <a:solidFill>
                      <a:srgbClr val="F2F4F7"/>
                    </a:solidFill>
                  </a:tcPr>
                </a:tc>
                <a:tc>
                  <a:txBody>
                    <a:bodyPr wrap="square"/>
                    <a:lstStyle/>
                    <a:p>
                      <a:pPr algn="l"/>
                      <a:r>
                        <a:rPr sz="1000" b="0">
                          <a:solidFill>
                            <a:srgbClr val="101828"/>
                          </a:solidFill>
                          <a:latin typeface="Calibri"/>
                        </a:rPr>
                        <a:t>High</a:t>
                      </a:r>
                    </a:p>
                  </a:txBody>
                  <a:tcPr marL="45720" marR="45720" marT="18288" marB="18288">
                    <a:solidFill>
                      <a:srgbClr val="F2F4F7"/>
                    </a:solidFill>
                  </a:tcPr>
                </a:tc>
                <a:tc>
                  <a:txBody>
                    <a:bodyPr wrap="square"/>
                    <a:lstStyle/>
                    <a:p>
                      <a:pPr algn="l"/>
                      <a:r>
                        <a:rPr sz="1000" b="0">
                          <a:solidFill>
                            <a:srgbClr val="101828"/>
                          </a:solidFill>
                          <a:latin typeface="Calibri"/>
                        </a:rPr>
                        <a:t>Inventory Classic % early; +20% buffer</a:t>
                      </a:r>
                    </a:p>
                  </a:txBody>
                  <a:tcPr marL="45720" marR="45720" marT="18288" marB="18288">
                    <a:solidFill>
                      <a:srgbClr val="F2F4F7"/>
                    </a:solidFill>
                  </a:tcPr>
                </a:tc>
              </a:tr>
              <a:tr h="490450">
                <a:tc>
                  <a:txBody>
                    <a:bodyPr wrap="square"/>
                    <a:lstStyle/>
                    <a:p>
                      <a:pPr algn="l"/>
                      <a:r>
                        <a:rPr sz="1000" b="0">
                          <a:solidFill>
                            <a:srgbClr val="101828"/>
                          </a:solidFill>
                          <a:latin typeface="Calibri"/>
                        </a:rPr>
                        <a:t>R3</a:t>
                      </a:r>
                    </a:p>
                  </a:txBody>
                  <a:tcPr marL="45720" marR="45720" marT="18288" marB="18288">
                    <a:solidFill>
                      <a:srgbClr val="FFFFFF"/>
                    </a:solidFill>
                  </a:tcPr>
                </a:tc>
                <a:tc>
                  <a:txBody>
                    <a:bodyPr wrap="square"/>
                    <a:lstStyle/>
                    <a:p>
                      <a:pPr algn="l"/>
                      <a:r>
                        <a:rPr sz="1000" b="0">
                          <a:solidFill>
                            <a:srgbClr val="101828"/>
                          </a:solidFill>
                          <a:latin typeface="Calibri"/>
                        </a:rPr>
                        <a:t>Branch policies don't map perfectly to rulesets</a:t>
                      </a:r>
                    </a:p>
                  </a:txBody>
                  <a:tcPr marL="45720" marR="45720" marT="18288" marB="18288">
                    <a:solidFill>
                      <a:srgbClr val="FFFFFF"/>
                    </a:solidFill>
                  </a:tcPr>
                </a:tc>
                <a:tc>
                  <a:txBody>
                    <a:bodyPr wrap="square"/>
                    <a:lstStyle/>
                    <a:p>
                      <a:pPr algn="l"/>
                      <a:r>
                        <a:rPr sz="1000" b="0">
                          <a:solidFill>
                            <a:srgbClr val="101828"/>
                          </a:solidFill>
                          <a:latin typeface="Calibri"/>
                        </a:rPr>
                        <a:t>Low</a:t>
                      </a:r>
                    </a:p>
                  </a:txBody>
                  <a:tcPr marL="45720" marR="45720" marT="18288" marB="18288">
                    <a:solidFill>
                      <a:srgbClr val="FFFFFF"/>
                    </a:solidFill>
                  </a:tcPr>
                </a:tc>
                <a:tc>
                  <a:txBody>
                    <a:bodyPr wrap="square"/>
                    <a:lstStyle/>
                    <a:p>
                      <a:pPr algn="l"/>
                      <a:r>
                        <a:rPr sz="1000" b="0">
                          <a:solidFill>
                            <a:srgbClr val="101828"/>
                          </a:solidFill>
                          <a:latin typeface="Calibri"/>
                        </a:rPr>
                        <a:t>Med</a:t>
                      </a:r>
                    </a:p>
                  </a:txBody>
                  <a:tcPr marL="45720" marR="45720" marT="18288" marB="18288">
                    <a:solidFill>
                      <a:srgbClr val="FFFFFF"/>
                    </a:solidFill>
                  </a:tcPr>
                </a:tc>
                <a:tc>
                  <a:txBody>
                    <a:bodyPr wrap="square"/>
                    <a:lstStyle/>
                    <a:p>
                      <a:pPr algn="l"/>
                      <a:r>
                        <a:rPr sz="1000" b="0">
                          <a:solidFill>
                            <a:srgbClr val="101828"/>
                          </a:solidFill>
                          <a:latin typeface="Calibri"/>
                        </a:rPr>
                        <a:t>Baseline ruleset + per-repo exceptions list</a:t>
                      </a:r>
                    </a:p>
                  </a:txBody>
                  <a:tcPr marL="45720" marR="45720" marT="18288" marB="18288">
                    <a:solidFill>
                      <a:srgbClr val="FFFFFF"/>
                    </a:solidFill>
                  </a:tcPr>
                </a:tc>
              </a:tr>
              <a:tr h="490450">
                <a:tc>
                  <a:txBody>
                    <a:bodyPr wrap="square"/>
                    <a:lstStyle/>
                    <a:p>
                      <a:pPr algn="l"/>
                      <a:r>
                        <a:rPr sz="1000" b="0">
                          <a:solidFill>
                            <a:srgbClr val="101828"/>
                          </a:solidFill>
                          <a:latin typeface="Calibri"/>
                        </a:rPr>
                        <a:t>R4</a:t>
                      </a:r>
                    </a:p>
                  </a:txBody>
                  <a:tcPr marL="45720" marR="45720" marT="18288" marB="18288">
                    <a:solidFill>
                      <a:srgbClr val="F2F4F7"/>
                    </a:solidFill>
                  </a:tcPr>
                </a:tc>
                <a:tc>
                  <a:txBody>
                    <a:bodyPr wrap="square"/>
                    <a:lstStyle/>
                    <a:p>
                      <a:pPr algn="l"/>
                      <a:r>
                        <a:rPr sz="1000" b="0">
                          <a:solidFill>
                            <a:srgbClr val="101828"/>
                          </a:solidFill>
                          <a:latin typeface="Calibri"/>
                        </a:rPr>
                        <a:t>Mannequin reclamation gaps (ex-staff)</a:t>
                      </a:r>
                    </a:p>
                  </a:txBody>
                  <a:tcPr marL="45720" marR="45720" marT="18288" marB="18288">
                    <a:solidFill>
                      <a:srgbClr val="F2F4F7"/>
                    </a:solidFill>
                  </a:tcPr>
                </a:tc>
                <a:tc>
                  <a:txBody>
                    <a:bodyPr wrap="square"/>
                    <a:lstStyle/>
                    <a:p>
                      <a:pPr algn="l"/>
                      <a:r>
                        <a:rPr sz="1000" b="0">
                          <a:solidFill>
                            <a:srgbClr val="101828"/>
                          </a:solidFill>
                          <a:latin typeface="Calibri"/>
                        </a:rPr>
                        <a:t>High</a:t>
                      </a:r>
                    </a:p>
                  </a:txBody>
                  <a:tcPr marL="45720" marR="45720" marT="18288" marB="18288">
                    <a:solidFill>
                      <a:srgbClr val="F2F4F7"/>
                    </a:solidFill>
                  </a:tcPr>
                </a:tc>
                <a:tc>
                  <a:txBody>
                    <a:bodyPr wrap="square"/>
                    <a:lstStyle/>
                    <a:p>
                      <a:pPr algn="l"/>
                      <a:r>
                        <a:rPr sz="1000" b="0">
                          <a:solidFill>
                            <a:srgbClr val="101828"/>
                          </a:solidFill>
                          <a:latin typeface="Calibri"/>
                        </a:rPr>
                        <a:t>Low</a:t>
                      </a:r>
                    </a:p>
                  </a:txBody>
                  <a:tcPr marL="45720" marR="45720" marT="18288" marB="18288">
                    <a:solidFill>
                      <a:srgbClr val="F2F4F7"/>
                    </a:solidFill>
                  </a:tcPr>
                </a:tc>
                <a:tc>
                  <a:txBody>
                    <a:bodyPr wrap="square"/>
                    <a:lstStyle/>
                    <a:p>
                      <a:pPr algn="l"/>
                      <a:r>
                        <a:rPr sz="1000" b="0">
                          <a:solidFill>
                            <a:srgbClr val="101828"/>
                          </a:solidFill>
                          <a:latin typeface="Calibri"/>
                        </a:rPr>
                        <a:t>Define unreclaimed-mannequin policy</a:t>
                      </a:r>
                    </a:p>
                  </a:txBody>
                  <a:tcPr marL="45720" marR="45720" marT="18288" marB="18288">
                    <a:solidFill>
                      <a:srgbClr val="F2F4F7"/>
                    </a:solidFill>
                  </a:tcPr>
                </a:tc>
              </a:tr>
              <a:tr h="490450">
                <a:tc>
                  <a:txBody>
                    <a:bodyPr wrap="square"/>
                    <a:lstStyle/>
                    <a:p>
                      <a:pPr algn="l"/>
                      <a:r>
                        <a:rPr sz="1000" b="0">
                          <a:solidFill>
                            <a:srgbClr val="101828"/>
                          </a:solidFill>
                          <a:latin typeface="Calibri"/>
                        </a:rPr>
                        <a:t>R5</a:t>
                      </a:r>
                    </a:p>
                  </a:txBody>
                  <a:tcPr marL="45720" marR="45720" marT="18288" marB="18288">
                    <a:solidFill>
                      <a:srgbClr val="FFFFFF"/>
                    </a:solidFill>
                  </a:tcPr>
                </a:tc>
                <a:tc>
                  <a:txBody>
                    <a:bodyPr wrap="square"/>
                    <a:lstStyle/>
                    <a:p>
                      <a:pPr algn="l"/>
                      <a:r>
                        <a:rPr sz="1000" b="0">
                          <a:solidFill>
                            <a:srgbClr val="101828"/>
                          </a:solidFill>
                          <a:latin typeface="Calibri"/>
                        </a:rPr>
                        <a:t>LFS / oversize repos exceed GHE limits</a:t>
                      </a:r>
                    </a:p>
                  </a:txBody>
                  <a:tcPr marL="45720" marR="45720" marT="18288" marB="18288">
                    <a:solidFill>
                      <a:srgbClr val="FFFFFF"/>
                    </a:solidFill>
                  </a:tcPr>
                </a:tc>
                <a:tc>
                  <a:txBody>
                    <a:bodyPr wrap="square"/>
                    <a:lstStyle/>
                    <a:p>
                      <a:pPr algn="l"/>
                      <a:r>
                        <a:rPr sz="1000" b="0">
                          <a:solidFill>
                            <a:srgbClr val="101828"/>
                          </a:solidFill>
                          <a:latin typeface="Calibri"/>
                        </a:rPr>
                        <a:t>Low</a:t>
                      </a:r>
                    </a:p>
                  </a:txBody>
                  <a:tcPr marL="45720" marR="45720" marT="18288" marB="18288">
                    <a:solidFill>
                      <a:srgbClr val="FFFFFF"/>
                    </a:solidFill>
                  </a:tcPr>
                </a:tc>
                <a:tc>
                  <a:txBody>
                    <a:bodyPr wrap="square"/>
                    <a:lstStyle/>
                    <a:p>
                      <a:pPr algn="l"/>
                      <a:r>
                        <a:rPr sz="1000" b="0">
                          <a:solidFill>
                            <a:srgbClr val="101828"/>
                          </a:solidFill>
                          <a:latin typeface="Calibri"/>
                        </a:rPr>
                        <a:t>High</a:t>
                      </a:r>
                    </a:p>
                  </a:txBody>
                  <a:tcPr marL="45720" marR="45720" marT="18288" marB="18288">
                    <a:solidFill>
                      <a:srgbClr val="FFFFFF"/>
                    </a:solidFill>
                  </a:tcPr>
                </a:tc>
                <a:tc>
                  <a:txBody>
                    <a:bodyPr wrap="square"/>
                    <a:lstStyle/>
                    <a:p>
                      <a:pPr algn="l"/>
                      <a:r>
                        <a:rPr sz="1000" b="0">
                          <a:solidFill>
                            <a:srgbClr val="101828"/>
                          </a:solidFill>
                          <a:latin typeface="Calibri"/>
                        </a:rPr>
                        <a:t>Audit in Stage 0; remediate before wave assignment</a:t>
                      </a:r>
                    </a:p>
                  </a:txBody>
                  <a:tcPr marL="45720" marR="45720" marT="18288" marB="18288">
                    <a:solidFill>
                      <a:srgbClr val="FFFFFF"/>
                    </a:solidFill>
                  </a:tcPr>
                </a:tc>
              </a:tr>
              <a:tr h="490450">
                <a:tc>
                  <a:txBody>
                    <a:bodyPr wrap="square"/>
                    <a:lstStyle/>
                    <a:p>
                      <a:pPr algn="l"/>
                      <a:r>
                        <a:rPr sz="1000" b="0">
                          <a:solidFill>
                            <a:srgbClr val="101828"/>
                          </a:solidFill>
                          <a:latin typeface="Calibri"/>
                        </a:rPr>
                        <a:t>R6</a:t>
                      </a:r>
                    </a:p>
                  </a:txBody>
                  <a:tcPr marL="45720" marR="45720" marT="18288" marB="18288">
                    <a:solidFill>
                      <a:srgbClr val="F2F4F7"/>
                    </a:solidFill>
                  </a:tcPr>
                </a:tc>
                <a:tc>
                  <a:txBody>
                    <a:bodyPr wrap="square"/>
                    <a:lstStyle/>
                    <a:p>
                      <a:pPr algn="l"/>
                      <a:r>
                        <a:rPr sz="1000" b="0">
                          <a:solidFill>
                            <a:srgbClr val="101828"/>
                          </a:solidFill>
                          <a:latin typeface="Calibri"/>
                        </a:rPr>
                        <a:t>Hardcoded ADO URLs in IaC / pipelines / docs</a:t>
                      </a:r>
                    </a:p>
                  </a:txBody>
                  <a:tcPr marL="45720" marR="45720" marT="18288" marB="18288">
                    <a:solidFill>
                      <a:srgbClr val="F2F4F7"/>
                    </a:solidFill>
                  </a:tcPr>
                </a:tc>
                <a:tc>
                  <a:txBody>
                    <a:bodyPr wrap="square"/>
                    <a:lstStyle/>
                    <a:p>
                      <a:pPr algn="l"/>
                      <a:r>
                        <a:rPr sz="1000" b="0">
                          <a:solidFill>
                            <a:srgbClr val="101828"/>
                          </a:solidFill>
                          <a:latin typeface="Calibri"/>
                        </a:rPr>
                        <a:t>Med</a:t>
                      </a:r>
                    </a:p>
                  </a:txBody>
                  <a:tcPr marL="45720" marR="45720" marT="18288" marB="18288">
                    <a:solidFill>
                      <a:srgbClr val="F2F4F7"/>
                    </a:solidFill>
                  </a:tcPr>
                </a:tc>
                <a:tc>
                  <a:txBody>
                    <a:bodyPr wrap="square"/>
                    <a:lstStyle/>
                    <a:p>
                      <a:pPr algn="l"/>
                      <a:r>
                        <a:rPr sz="1000" b="0">
                          <a:solidFill>
                            <a:srgbClr val="101828"/>
                          </a:solidFill>
                          <a:latin typeface="Calibri"/>
                        </a:rPr>
                        <a:t>Med</a:t>
                      </a:r>
                    </a:p>
                  </a:txBody>
                  <a:tcPr marL="45720" marR="45720" marT="18288" marB="18288">
                    <a:solidFill>
                      <a:srgbClr val="F2F4F7"/>
                    </a:solidFill>
                  </a:tcPr>
                </a:tc>
                <a:tc>
                  <a:txBody>
                    <a:bodyPr wrap="square"/>
                    <a:lstStyle/>
                    <a:p>
                      <a:pPr algn="l"/>
                      <a:r>
                        <a:rPr sz="1000" b="0">
                          <a:solidFill>
                            <a:srgbClr val="101828"/>
                          </a:solidFill>
                          <a:latin typeface="Calibri"/>
                        </a:rPr>
                        <a:t>Inventory in Stage 0; redirect map; comms</a:t>
                      </a:r>
                    </a:p>
                  </a:txBody>
                  <a:tcPr marL="45720" marR="45720" marT="18288" marB="18288">
                    <a:solidFill>
                      <a:srgbClr val="F2F4F7"/>
                    </a:solidFill>
                  </a:tcPr>
                </a:tc>
              </a:tr>
              <a:tr h="490450">
                <a:tc>
                  <a:txBody>
                    <a:bodyPr wrap="square"/>
                    <a:lstStyle/>
                    <a:p>
                      <a:pPr algn="l"/>
                      <a:r>
                        <a:rPr sz="1000" b="0">
                          <a:solidFill>
                            <a:srgbClr val="101828"/>
                          </a:solidFill>
                          <a:latin typeface="Calibri"/>
                        </a:rPr>
                        <a:t>R7</a:t>
                      </a:r>
                    </a:p>
                  </a:txBody>
                  <a:tcPr marL="45720" marR="45720" marT="18288" marB="18288">
                    <a:solidFill>
                      <a:srgbClr val="FFFFFF"/>
                    </a:solidFill>
                  </a:tcPr>
                </a:tc>
                <a:tc>
                  <a:txBody>
                    <a:bodyPr wrap="square"/>
                    <a:lstStyle/>
                    <a:p>
                      <a:pPr algn="l"/>
                      <a:r>
                        <a:rPr sz="1000" b="0">
                          <a:solidFill>
                            <a:srgbClr val="101828"/>
                          </a:solidFill>
                          <a:latin typeface="Calibri"/>
                        </a:rPr>
                        <a:t>Boards App rate limits across 100 repos</a:t>
                      </a:r>
                    </a:p>
                  </a:txBody>
                  <a:tcPr marL="45720" marR="45720" marT="18288" marB="18288">
                    <a:solidFill>
                      <a:srgbClr val="FFFFFF"/>
                    </a:solidFill>
                  </a:tcPr>
                </a:tc>
                <a:tc>
                  <a:txBody>
                    <a:bodyPr wrap="square"/>
                    <a:lstStyle/>
                    <a:p>
                      <a:pPr algn="l"/>
                      <a:r>
                        <a:rPr sz="1000" b="0">
                          <a:solidFill>
                            <a:srgbClr val="101828"/>
                          </a:solidFill>
                          <a:latin typeface="Calibri"/>
                        </a:rPr>
                        <a:t>Low</a:t>
                      </a:r>
                    </a:p>
                  </a:txBody>
                  <a:tcPr marL="45720" marR="45720" marT="18288" marB="18288">
                    <a:solidFill>
                      <a:srgbClr val="FFFFFF"/>
                    </a:solidFill>
                  </a:tcPr>
                </a:tc>
                <a:tc>
                  <a:txBody>
                    <a:bodyPr wrap="square"/>
                    <a:lstStyle/>
                    <a:p>
                      <a:pPr algn="l"/>
                      <a:r>
                        <a:rPr sz="1000" b="0">
                          <a:solidFill>
                            <a:srgbClr val="101828"/>
                          </a:solidFill>
                          <a:latin typeface="Calibri"/>
                        </a:rPr>
                        <a:t>Med</a:t>
                      </a:r>
                    </a:p>
                  </a:txBody>
                  <a:tcPr marL="45720" marR="45720" marT="18288" marB="18288">
                    <a:solidFill>
                      <a:srgbClr val="FFFFFF"/>
                    </a:solidFill>
                  </a:tcPr>
                </a:tc>
                <a:tc>
                  <a:txBody>
                    <a:bodyPr wrap="square"/>
                    <a:lstStyle/>
                    <a:p>
                      <a:pPr algn="l"/>
                      <a:r>
                        <a:rPr sz="1000" b="0">
                          <a:solidFill>
                            <a:srgbClr val="101828"/>
                          </a:solidFill>
                          <a:latin typeface="Calibri"/>
                        </a:rPr>
                        <a:t>Stagger app install; monitor</a:t>
                      </a:r>
                    </a:p>
                  </a:txBody>
                  <a:tcPr marL="45720" marR="45720" marT="18288" marB="18288">
                    <a:solidFill>
                      <a:srgbClr val="FFFFFF"/>
                    </a:solidFill>
                  </a:tcPr>
                </a:tc>
              </a:tr>
              <a:tr h="490450">
                <a:tc>
                  <a:txBody>
                    <a:bodyPr wrap="square"/>
                    <a:lstStyle/>
                    <a:p>
                      <a:pPr algn="l"/>
                      <a:r>
                        <a:rPr sz="1000" b="0">
                          <a:solidFill>
                            <a:srgbClr val="101828"/>
                          </a:solidFill>
                          <a:latin typeface="Calibri"/>
                        </a:rPr>
                        <a:t>R8</a:t>
                      </a:r>
                    </a:p>
                  </a:txBody>
                  <a:tcPr marL="45720" marR="45720" marT="18288" marB="18288">
                    <a:solidFill>
                      <a:srgbClr val="F2F4F7"/>
                    </a:solidFill>
                  </a:tcPr>
                </a:tc>
                <a:tc>
                  <a:txBody>
                    <a:bodyPr wrap="square"/>
                    <a:lstStyle/>
                    <a:p>
                      <a:pPr algn="l"/>
                      <a:r>
                        <a:rPr sz="1000" b="0">
                          <a:solidFill>
                            <a:srgbClr val="101828"/>
                          </a:solidFill>
                          <a:latin typeface="Calibri"/>
                        </a:rPr>
                        <a:t>Concurrent waves overload hypercare team</a:t>
                      </a:r>
                    </a:p>
                  </a:txBody>
                  <a:tcPr marL="45720" marR="45720" marT="18288" marB="18288">
                    <a:solidFill>
                      <a:srgbClr val="F2F4F7"/>
                    </a:solidFill>
                  </a:tcPr>
                </a:tc>
                <a:tc>
                  <a:txBody>
                    <a:bodyPr wrap="square"/>
                    <a:lstStyle/>
                    <a:p>
                      <a:pPr algn="l"/>
                      <a:r>
                        <a:rPr sz="1000" b="0">
                          <a:solidFill>
                            <a:srgbClr val="101828"/>
                          </a:solidFill>
                          <a:latin typeface="Calibri"/>
                        </a:rPr>
                        <a:t>Med</a:t>
                      </a:r>
                    </a:p>
                  </a:txBody>
                  <a:tcPr marL="45720" marR="45720" marT="18288" marB="18288">
                    <a:solidFill>
                      <a:srgbClr val="F2F4F7"/>
                    </a:solidFill>
                  </a:tcPr>
                </a:tc>
                <a:tc>
                  <a:txBody>
                    <a:bodyPr wrap="square"/>
                    <a:lstStyle/>
                    <a:p>
                      <a:pPr algn="l"/>
                      <a:r>
                        <a:rPr sz="1000" b="0">
                          <a:solidFill>
                            <a:srgbClr val="101828"/>
                          </a:solidFill>
                          <a:latin typeface="Calibri"/>
                        </a:rPr>
                        <a:t>Med</a:t>
                      </a:r>
                    </a:p>
                  </a:txBody>
                  <a:tcPr marL="45720" marR="45720" marT="18288" marB="18288">
                    <a:solidFill>
                      <a:srgbClr val="F2F4F7"/>
                    </a:solidFill>
                  </a:tcPr>
                </a:tc>
                <a:tc>
                  <a:txBody>
                    <a:bodyPr wrap="square"/>
                    <a:lstStyle/>
                    <a:p>
                      <a:pPr algn="l"/>
                      <a:r>
                        <a:rPr sz="1000" b="0">
                          <a:solidFill>
                            <a:srgbClr val="101828"/>
                          </a:solidFill>
                          <a:latin typeface="Calibri"/>
                        </a:rPr>
                        <a:t>Hard cap 2 waves concurrent</a:t>
                      </a:r>
                    </a:p>
                  </a:txBody>
                  <a:tcPr marL="45720" marR="45720" marT="18288" marB="18288">
                    <a:solidFill>
                      <a:srgbClr val="F2F4F7"/>
                    </a:solidFill>
                  </a:tcPr>
                </a:tc>
              </a:tr>
              <a:tr h="490450">
                <a:tc>
                  <a:txBody>
                    <a:bodyPr wrap="square"/>
                    <a:lstStyle/>
                    <a:p>
                      <a:pPr algn="l"/>
                      <a:r>
                        <a:rPr sz="1000" b="0">
                          <a:solidFill>
                            <a:srgbClr val="101828"/>
                          </a:solidFill>
                          <a:latin typeface="Calibri"/>
                        </a:rPr>
                        <a:t>R9</a:t>
                      </a:r>
                    </a:p>
                  </a:txBody>
                  <a:tcPr marL="45720" marR="45720" marT="18288" marB="18288">
                    <a:solidFill>
                      <a:srgbClr val="FFFFFF"/>
                    </a:solidFill>
                  </a:tcPr>
                </a:tc>
                <a:tc>
                  <a:txBody>
                    <a:bodyPr wrap="square"/>
                    <a:lstStyle/>
                    <a:p>
                      <a:pPr algn="l"/>
                      <a:r>
                        <a:rPr sz="1000" b="0">
                          <a:solidFill>
                            <a:srgbClr val="101828"/>
                          </a:solidFill>
                          <a:latin typeface="Calibri"/>
                        </a:rPr>
                        <a:t>Repo owners not available for smoke tests</a:t>
                      </a:r>
                    </a:p>
                  </a:txBody>
                  <a:tcPr marL="45720" marR="45720" marT="18288" marB="18288">
                    <a:solidFill>
                      <a:srgbClr val="FFFFFF"/>
                    </a:solidFill>
                  </a:tcPr>
                </a:tc>
                <a:tc>
                  <a:txBody>
                    <a:bodyPr wrap="square"/>
                    <a:lstStyle/>
                    <a:p>
                      <a:pPr algn="l"/>
                      <a:r>
                        <a:rPr sz="1000" b="0">
                          <a:solidFill>
                            <a:srgbClr val="101828"/>
                          </a:solidFill>
                          <a:latin typeface="Calibri"/>
                        </a:rPr>
                        <a:t>Med</a:t>
                      </a:r>
                    </a:p>
                  </a:txBody>
                  <a:tcPr marL="45720" marR="45720" marT="18288" marB="18288">
                    <a:solidFill>
                      <a:srgbClr val="FFFFFF"/>
                    </a:solidFill>
                  </a:tcPr>
                </a:tc>
                <a:tc>
                  <a:txBody>
                    <a:bodyPr wrap="square"/>
                    <a:lstStyle/>
                    <a:p>
                      <a:pPr algn="l"/>
                      <a:r>
                        <a:rPr sz="1000" b="0">
                          <a:solidFill>
                            <a:srgbClr val="101828"/>
                          </a:solidFill>
                          <a:latin typeface="Calibri"/>
                        </a:rPr>
                        <a:t>Med</a:t>
                      </a:r>
                    </a:p>
                  </a:txBody>
                  <a:tcPr marL="45720" marR="45720" marT="18288" marB="18288">
                    <a:solidFill>
                      <a:srgbClr val="FFFFFF"/>
                    </a:solidFill>
                  </a:tcPr>
                </a:tc>
                <a:tc>
                  <a:txBody>
                    <a:bodyPr wrap="square"/>
                    <a:lstStyle/>
                    <a:p>
                      <a:pPr algn="l"/>
                      <a:r>
                        <a:rPr sz="1000" b="0">
                          <a:solidFill>
                            <a:srgbClr val="101828"/>
                          </a:solidFill>
                          <a:latin typeface="Calibri"/>
                        </a:rPr>
                        <a:t>Confirm at T-10; escalation path</a:t>
                      </a:r>
                    </a:p>
                  </a:txBody>
                  <a:tcPr marL="45720" marR="45720" marT="18288" marB="18288">
                    <a:solidFill>
                      <a:srgbClr val="FFFFFF"/>
                    </a:solidFill>
                  </a:tcPr>
                </a:tc>
              </a:tr>
              <a:tr h="490460">
                <a:tc>
                  <a:txBody>
                    <a:bodyPr wrap="square"/>
                    <a:lstStyle/>
                    <a:p>
                      <a:pPr algn="l"/>
                      <a:r>
                        <a:rPr sz="1000" b="0">
                          <a:solidFill>
                            <a:srgbClr val="101828"/>
                          </a:solidFill>
                          <a:latin typeface="Calibri"/>
                        </a:rPr>
                        <a:t>R10</a:t>
                      </a:r>
                    </a:p>
                  </a:txBody>
                  <a:tcPr marL="45720" marR="45720" marT="18288" marB="18288">
                    <a:solidFill>
                      <a:srgbClr val="F2F4F7"/>
                    </a:solidFill>
                  </a:tcPr>
                </a:tc>
                <a:tc>
                  <a:txBody>
                    <a:bodyPr wrap="square"/>
                    <a:lstStyle/>
                    <a:p>
                      <a:pPr algn="l"/>
                      <a:r>
                        <a:rPr sz="1000" b="0">
                          <a:solidFill>
                            <a:srgbClr val="101828"/>
                          </a:solidFill>
                          <a:latin typeface="Calibri"/>
                        </a:rPr>
                        <a:t>Pipeline secrets recreation gaps</a:t>
                      </a:r>
                    </a:p>
                  </a:txBody>
                  <a:tcPr marL="45720" marR="45720" marT="18288" marB="18288">
                    <a:solidFill>
                      <a:srgbClr val="F2F4F7"/>
                    </a:solidFill>
                  </a:tcPr>
                </a:tc>
                <a:tc>
                  <a:txBody>
                    <a:bodyPr wrap="square"/>
                    <a:lstStyle/>
                    <a:p>
                      <a:pPr algn="l"/>
                      <a:r>
                        <a:rPr sz="1000" b="0">
                          <a:solidFill>
                            <a:srgbClr val="101828"/>
                          </a:solidFill>
                          <a:latin typeface="Calibri"/>
                        </a:rPr>
                        <a:t>Med</a:t>
                      </a:r>
                    </a:p>
                  </a:txBody>
                  <a:tcPr marL="45720" marR="45720" marT="18288" marB="18288">
                    <a:solidFill>
                      <a:srgbClr val="F2F4F7"/>
                    </a:solidFill>
                  </a:tcPr>
                </a:tc>
                <a:tc>
                  <a:txBody>
                    <a:bodyPr wrap="square"/>
                    <a:lstStyle/>
                    <a:p>
                      <a:pPr algn="l"/>
                      <a:r>
                        <a:rPr sz="1000" b="0">
                          <a:solidFill>
                            <a:srgbClr val="101828"/>
                          </a:solidFill>
                          <a:latin typeface="Calibri"/>
                        </a:rPr>
                        <a:t>High</a:t>
                      </a:r>
                    </a:p>
                  </a:txBody>
                  <a:tcPr marL="45720" marR="45720" marT="18288" marB="18288">
                    <a:solidFill>
                      <a:srgbClr val="F2F4F7"/>
                    </a:solidFill>
                  </a:tcPr>
                </a:tc>
                <a:tc>
                  <a:txBody>
                    <a:bodyPr wrap="square"/>
                    <a:lstStyle/>
                    <a:p>
                      <a:pPr algn="l"/>
                      <a:r>
                        <a:rPr sz="1000" b="0">
                          <a:solidFill>
                            <a:srgbClr val="101828"/>
                          </a:solidFill>
                          <a:latin typeface="Calibri"/>
                        </a:rPr>
                        <a:t>Secret inventory per pipeline; checklist</a:t>
                      </a:r>
                    </a:p>
                  </a:txBody>
                  <a:tcPr marL="45720" marR="45720" marT="18288" marB="18288">
                    <a:solidFill>
                      <a:srgbClr val="F2F4F7"/>
                    </a:solidFill>
                  </a:tcPr>
                </a:tc>
              </a:tr>
            </a:tbl>
          </a:graphicData>
        </a:graphic>
      </p:graphicFrame>
      <p:sp>
        <p:nvSpPr>
          <p:cNvPr id="8" name="TextBox 7"/>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9" name="TextBox 8"/>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Decisions Required at Mobilise</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Steering must close these in Week 1</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365760" y="1051560"/>
          <a:ext cx="11430000" cy="5349240"/>
        </p:xfrm>
        <a:graphic>
          <a:graphicData uri="http://schemas.openxmlformats.org/drawingml/2006/table">
            <a:tbl>
              <a:tblPr firstRow="1" bandRow="1">
                <a:tableStyleId>{5C22544A-7EE6-4342-B048-85BDC9FD1C3A}</a:tableStyleId>
              </a:tblPr>
              <a:tblGrid>
                <a:gridCol w="457200"/>
                <a:gridCol w="4114800"/>
                <a:gridCol w="5029200"/>
                <a:gridCol w="1828800"/>
              </a:tblGrid>
              <a:tr h="486294">
                <a:tc>
                  <a:txBody>
                    <a:bodyPr wrap="square"/>
                    <a:lstStyle/>
                    <a:p>
                      <a:pPr algn="l"/>
                      <a:r>
                        <a:rPr sz="1000" b="1">
                          <a:solidFill>
                            <a:srgbClr val="FFFFFF"/>
                          </a:solidFill>
                          <a:latin typeface="Calibri"/>
                        </a:rPr>
                        <a:t>#</a:t>
                      </a:r>
                    </a:p>
                  </a:txBody>
                  <a:tcPr marL="45720" marR="45720" marT="18288" marB="18288">
                    <a:solidFill>
                      <a:srgbClr val="1F4D42"/>
                    </a:solidFill>
                  </a:tcPr>
                </a:tc>
                <a:tc>
                  <a:txBody>
                    <a:bodyPr wrap="square"/>
                    <a:lstStyle/>
                    <a:p>
                      <a:pPr algn="l"/>
                      <a:r>
                        <a:rPr sz="1000" b="1">
                          <a:solidFill>
                            <a:srgbClr val="FFFFFF"/>
                          </a:solidFill>
                          <a:latin typeface="Calibri"/>
                        </a:rPr>
                        <a:t>Decision</a:t>
                      </a:r>
                    </a:p>
                  </a:txBody>
                  <a:tcPr marL="45720" marR="45720" marT="18288" marB="18288">
                    <a:solidFill>
                      <a:srgbClr val="1F4D42"/>
                    </a:solidFill>
                  </a:tcPr>
                </a:tc>
                <a:tc>
                  <a:txBody>
                    <a:bodyPr wrap="square"/>
                    <a:lstStyle/>
                    <a:p>
                      <a:pPr algn="l"/>
                      <a:r>
                        <a:rPr sz="1000" b="1">
                          <a:solidFill>
                            <a:srgbClr val="FFFFFF"/>
                          </a:solidFill>
                          <a:latin typeface="Calibri"/>
                        </a:rPr>
                        <a:t>Recommendation</a:t>
                      </a:r>
                    </a:p>
                  </a:txBody>
                  <a:tcPr marL="45720" marR="45720" marT="18288" marB="18288">
                    <a:solidFill>
                      <a:srgbClr val="1F4D42"/>
                    </a:solidFill>
                  </a:tcPr>
                </a:tc>
                <a:tc>
                  <a:txBody>
                    <a:bodyPr wrap="square"/>
                    <a:lstStyle/>
                    <a:p>
                      <a:pPr algn="l"/>
                      <a:r>
                        <a:rPr sz="1000" b="1">
                          <a:solidFill>
                            <a:srgbClr val="FFFFFF"/>
                          </a:solidFill>
                          <a:latin typeface="Calibri"/>
                        </a:rPr>
                        <a:t>Owner</a:t>
                      </a:r>
                    </a:p>
                  </a:txBody>
                  <a:tcPr marL="45720" marR="45720" marT="18288" marB="18288">
                    <a:solidFill>
                      <a:srgbClr val="1F4D42"/>
                    </a:solidFill>
                  </a:tcPr>
                </a:tc>
              </a:tr>
              <a:tr h="486294">
                <a:tc>
                  <a:txBody>
                    <a:bodyPr wrap="square"/>
                    <a:lstStyle/>
                    <a:p>
                      <a:pPr algn="l"/>
                      <a:r>
                        <a:rPr sz="1000" b="0">
                          <a:solidFill>
                            <a:srgbClr val="101828"/>
                          </a:solidFill>
                          <a:latin typeface="Calibri"/>
                        </a:rPr>
                        <a:t>D1</a:t>
                      </a:r>
                    </a:p>
                  </a:txBody>
                  <a:tcPr marL="45720" marR="45720" marT="18288" marB="18288">
                    <a:solidFill>
                      <a:srgbClr val="FFFFFF"/>
                    </a:solidFill>
                  </a:tcPr>
                </a:tc>
                <a:tc>
                  <a:txBody>
                    <a:bodyPr wrap="square"/>
                    <a:lstStyle/>
                    <a:p>
                      <a:pPr algn="l"/>
                      <a:r>
                        <a:rPr sz="1000" b="0">
                          <a:solidFill>
                            <a:srgbClr val="101828"/>
                          </a:solidFill>
                          <a:latin typeface="Calibri"/>
                        </a:rPr>
                        <a:t>Pilot wave repos (5)</a:t>
                      </a:r>
                    </a:p>
                  </a:txBody>
                  <a:tcPr marL="45720" marR="45720" marT="18288" marB="18288">
                    <a:solidFill>
                      <a:srgbClr val="FFFFFF"/>
                    </a:solidFill>
                  </a:tcPr>
                </a:tc>
                <a:tc>
                  <a:txBody>
                    <a:bodyPr wrap="square"/>
                    <a:lstStyle/>
                    <a:p>
                      <a:pPr algn="l"/>
                      <a:r>
                        <a:rPr sz="1000" b="0">
                          <a:solidFill>
                            <a:srgbClr val="101828"/>
                          </a:solidFill>
                          <a:latin typeface="Calibri"/>
                        </a:rPr>
                        <a:t>Low-risk, willing teams, mix of YAML + Classic pipelines</a:t>
                      </a:r>
                    </a:p>
                  </a:txBody>
                  <a:tcPr marL="45720" marR="45720" marT="18288" marB="18288">
                    <a:solidFill>
                      <a:srgbClr val="FFFFFF"/>
                    </a:solidFill>
                  </a:tcPr>
                </a:tc>
                <a:tc>
                  <a:txBody>
                    <a:bodyPr wrap="square"/>
                    <a:lstStyle/>
                    <a:p>
                      <a:pPr algn="l"/>
                      <a:r>
                        <a:rPr sz="1000" b="0">
                          <a:solidFill>
                            <a:srgbClr val="101828"/>
                          </a:solidFill>
                          <a:latin typeface="Calibri"/>
                        </a:rPr>
                        <a:t>Steering</a:t>
                      </a:r>
                    </a:p>
                  </a:txBody>
                  <a:tcPr marL="45720" marR="45720" marT="18288" marB="18288">
                    <a:solidFill>
                      <a:srgbClr val="FFFFFF"/>
                    </a:solidFill>
                  </a:tcPr>
                </a:tc>
              </a:tr>
              <a:tr h="486294">
                <a:tc>
                  <a:txBody>
                    <a:bodyPr wrap="square"/>
                    <a:lstStyle/>
                    <a:p>
                      <a:pPr algn="l"/>
                      <a:r>
                        <a:rPr sz="1000" b="0">
                          <a:solidFill>
                            <a:srgbClr val="101828"/>
                          </a:solidFill>
                          <a:latin typeface="Calibri"/>
                        </a:rPr>
                        <a:t>D2</a:t>
                      </a:r>
                    </a:p>
                  </a:txBody>
                  <a:tcPr marL="45720" marR="45720" marT="18288" marB="18288">
                    <a:solidFill>
                      <a:srgbClr val="F2F4F7"/>
                    </a:solidFill>
                  </a:tcPr>
                </a:tc>
                <a:tc>
                  <a:txBody>
                    <a:bodyPr wrap="square"/>
                    <a:lstStyle/>
                    <a:p>
                      <a:pPr algn="l"/>
                      <a:r>
                        <a:rPr sz="1000" b="0">
                          <a:solidFill>
                            <a:srgbClr val="101828"/>
                          </a:solidFill>
                          <a:latin typeface="Calibri"/>
                        </a:rPr>
                        <a:t>GHAS in scope for Phase 1?</a:t>
                      </a:r>
                    </a:p>
                  </a:txBody>
                  <a:tcPr marL="45720" marR="45720" marT="18288" marB="18288">
                    <a:solidFill>
                      <a:srgbClr val="F2F4F7"/>
                    </a:solidFill>
                  </a:tcPr>
                </a:tc>
                <a:tc>
                  <a:txBody>
                    <a:bodyPr wrap="square"/>
                    <a:lstStyle/>
                    <a:p>
                      <a:pPr algn="l"/>
                      <a:r>
                        <a:rPr sz="1000" b="0">
                          <a:solidFill>
                            <a:srgbClr val="101828"/>
                          </a:solidFill>
                          <a:latin typeface="Calibri"/>
                        </a:rPr>
                        <a:t>YES - code scanning + secret scanning + Dependabot baseline</a:t>
                      </a:r>
                    </a:p>
                  </a:txBody>
                  <a:tcPr marL="45720" marR="45720" marT="18288" marB="18288">
                    <a:solidFill>
                      <a:srgbClr val="F2F4F7"/>
                    </a:solidFill>
                  </a:tcPr>
                </a:tc>
                <a:tc>
                  <a:txBody>
                    <a:bodyPr wrap="square"/>
                    <a:lstStyle/>
                    <a:p>
                      <a:pPr algn="l"/>
                      <a:r>
                        <a:rPr sz="1000" b="0">
                          <a:solidFill>
                            <a:srgbClr val="101828"/>
                          </a:solidFill>
                          <a:latin typeface="Calibri"/>
                        </a:rPr>
                        <a:t>InfoSec + Sponsor</a:t>
                      </a:r>
                    </a:p>
                  </a:txBody>
                  <a:tcPr marL="45720" marR="45720" marT="18288" marB="18288">
                    <a:solidFill>
                      <a:srgbClr val="F2F4F7"/>
                    </a:solidFill>
                  </a:tcPr>
                </a:tc>
              </a:tr>
              <a:tr h="486294">
                <a:tc>
                  <a:txBody>
                    <a:bodyPr wrap="square"/>
                    <a:lstStyle/>
                    <a:p>
                      <a:pPr algn="l"/>
                      <a:r>
                        <a:rPr sz="1000" b="0">
                          <a:solidFill>
                            <a:srgbClr val="101828"/>
                          </a:solidFill>
                          <a:latin typeface="Calibri"/>
                        </a:rPr>
                        <a:t>D3</a:t>
                      </a:r>
                    </a:p>
                  </a:txBody>
                  <a:tcPr marL="45720" marR="45720" marT="18288" marB="18288">
                    <a:solidFill>
                      <a:srgbClr val="FFFFFF"/>
                    </a:solidFill>
                  </a:tcPr>
                </a:tc>
                <a:tc>
                  <a:txBody>
                    <a:bodyPr wrap="square"/>
                    <a:lstStyle/>
                    <a:p>
                      <a:pPr algn="l"/>
                      <a:r>
                        <a:rPr sz="1000" b="0">
                          <a:solidFill>
                            <a:srgbClr val="101828"/>
                          </a:solidFill>
                          <a:latin typeface="Calibri"/>
                        </a:rPr>
                        <a:t>Disable GitHub Issues per repo?</a:t>
                      </a:r>
                    </a:p>
                  </a:txBody>
                  <a:tcPr marL="45720" marR="45720" marT="18288" marB="18288">
                    <a:solidFill>
                      <a:srgbClr val="FFFFFF"/>
                    </a:solidFill>
                  </a:tcPr>
                </a:tc>
                <a:tc>
                  <a:txBody>
                    <a:bodyPr wrap="square"/>
                    <a:lstStyle/>
                    <a:p>
                      <a:pPr algn="l"/>
                      <a:r>
                        <a:rPr sz="1000" b="0">
                          <a:solidFill>
                            <a:srgbClr val="101828"/>
                          </a:solidFill>
                          <a:latin typeface="Calibri"/>
                        </a:rPr>
                        <a:t>YES - Boards stays in ADO; avoid drift</a:t>
                      </a:r>
                    </a:p>
                  </a:txBody>
                  <a:tcPr marL="45720" marR="45720" marT="18288" marB="18288">
                    <a:solidFill>
                      <a:srgbClr val="FFFFFF"/>
                    </a:solidFill>
                  </a:tcPr>
                </a:tc>
                <a:tc>
                  <a:txBody>
                    <a:bodyPr wrap="square"/>
                    <a:lstStyle/>
                    <a:p>
                      <a:pPr algn="l"/>
                      <a:r>
                        <a:rPr sz="1000" b="0">
                          <a:solidFill>
                            <a:srgbClr val="101828"/>
                          </a:solidFill>
                          <a:latin typeface="Calibri"/>
                        </a:rPr>
                        <a:t>Steering</a:t>
                      </a:r>
                    </a:p>
                  </a:txBody>
                  <a:tcPr marL="45720" marR="45720" marT="18288" marB="18288">
                    <a:solidFill>
                      <a:srgbClr val="FFFFFF"/>
                    </a:solidFill>
                  </a:tcPr>
                </a:tc>
              </a:tr>
              <a:tr h="486294">
                <a:tc>
                  <a:txBody>
                    <a:bodyPr wrap="square"/>
                    <a:lstStyle/>
                    <a:p>
                      <a:pPr algn="l"/>
                      <a:r>
                        <a:rPr sz="1000" b="0">
                          <a:solidFill>
                            <a:srgbClr val="101828"/>
                          </a:solidFill>
                          <a:latin typeface="Calibri"/>
                        </a:rPr>
                        <a:t>D4</a:t>
                      </a:r>
                    </a:p>
                  </a:txBody>
                  <a:tcPr marL="45720" marR="45720" marT="18288" marB="18288">
                    <a:solidFill>
                      <a:srgbClr val="F2F4F7"/>
                    </a:solidFill>
                  </a:tcPr>
                </a:tc>
                <a:tc>
                  <a:txBody>
                    <a:bodyPr wrap="square"/>
                    <a:lstStyle/>
                    <a:p>
                      <a:pPr algn="l"/>
                      <a:r>
                        <a:rPr sz="1000" b="0">
                          <a:solidFill>
                            <a:srgbClr val="101828"/>
                          </a:solidFill>
                          <a:latin typeface="Calibri"/>
                        </a:rPr>
                        <a:t>Mannequin policy for ex-staff</a:t>
                      </a:r>
                    </a:p>
                  </a:txBody>
                  <a:tcPr marL="45720" marR="45720" marT="18288" marB="18288">
                    <a:solidFill>
                      <a:srgbClr val="F2F4F7"/>
                    </a:solidFill>
                  </a:tcPr>
                </a:tc>
                <a:tc>
                  <a:txBody>
                    <a:bodyPr wrap="square"/>
                    <a:lstStyle/>
                    <a:p>
                      <a:pPr algn="l"/>
                      <a:r>
                        <a:rPr sz="1000" b="0">
                          <a:solidFill>
                            <a:srgbClr val="101828"/>
                          </a:solidFill>
                          <a:latin typeface="Calibri"/>
                        </a:rPr>
                        <a:t>Leave unreclaimed after 30 days; attribute to bot account</a:t>
                      </a:r>
                    </a:p>
                  </a:txBody>
                  <a:tcPr marL="45720" marR="45720" marT="18288" marB="18288">
                    <a:solidFill>
                      <a:srgbClr val="F2F4F7"/>
                    </a:solidFill>
                  </a:tcPr>
                </a:tc>
                <a:tc>
                  <a:txBody>
                    <a:bodyPr wrap="square"/>
                    <a:lstStyle/>
                    <a:p>
                      <a:pPr algn="l"/>
                      <a:r>
                        <a:rPr sz="1000" b="0">
                          <a:solidFill>
                            <a:srgbClr val="101828"/>
                          </a:solidFill>
                          <a:latin typeface="Calibri"/>
                        </a:rPr>
                        <a:t>InfoSec + IAM</a:t>
                      </a:r>
                    </a:p>
                  </a:txBody>
                  <a:tcPr marL="45720" marR="45720" marT="18288" marB="18288">
                    <a:solidFill>
                      <a:srgbClr val="F2F4F7"/>
                    </a:solidFill>
                  </a:tcPr>
                </a:tc>
              </a:tr>
              <a:tr h="486294">
                <a:tc>
                  <a:txBody>
                    <a:bodyPr wrap="square"/>
                    <a:lstStyle/>
                    <a:p>
                      <a:pPr algn="l"/>
                      <a:r>
                        <a:rPr sz="1000" b="0">
                          <a:solidFill>
                            <a:srgbClr val="101828"/>
                          </a:solidFill>
                          <a:latin typeface="Calibri"/>
                        </a:rPr>
                        <a:t>D5</a:t>
                      </a:r>
                    </a:p>
                  </a:txBody>
                  <a:tcPr marL="45720" marR="45720" marT="18288" marB="18288">
                    <a:solidFill>
                      <a:srgbClr val="FFFFFF"/>
                    </a:solidFill>
                  </a:tcPr>
                </a:tc>
                <a:tc>
                  <a:txBody>
                    <a:bodyPr wrap="square"/>
                    <a:lstStyle/>
                    <a:p>
                      <a:pPr algn="l"/>
                      <a:r>
                        <a:rPr sz="1000" b="0">
                          <a:solidFill>
                            <a:srgbClr val="101828"/>
                          </a:solidFill>
                          <a:latin typeface="Calibri"/>
                        </a:rPr>
                        <a:t>Auto-state-transition rules per work item type</a:t>
                      </a:r>
                    </a:p>
                  </a:txBody>
                  <a:tcPr marL="45720" marR="45720" marT="18288" marB="18288">
                    <a:solidFill>
                      <a:srgbClr val="FFFFFF"/>
                    </a:solidFill>
                  </a:tcPr>
                </a:tc>
                <a:tc>
                  <a:txBody>
                    <a:bodyPr wrap="square"/>
                    <a:lstStyle/>
                    <a:p>
                      <a:pPr algn="l"/>
                      <a:r>
                        <a:rPr sz="1000" b="0">
                          <a:solidFill>
                            <a:srgbClr val="101828"/>
                          </a:solidFill>
                          <a:latin typeface="Calibri"/>
                        </a:rPr>
                        <a:t>Use ADO defaults; document per project</a:t>
                      </a:r>
                    </a:p>
                  </a:txBody>
                  <a:tcPr marL="45720" marR="45720" marT="18288" marB="18288">
                    <a:solidFill>
                      <a:srgbClr val="FFFFFF"/>
                    </a:solidFill>
                  </a:tcPr>
                </a:tc>
                <a:tc>
                  <a:txBody>
                    <a:bodyPr wrap="square"/>
                    <a:lstStyle/>
                    <a:p>
                      <a:pPr algn="l"/>
                      <a:r>
                        <a:rPr sz="1000" b="0">
                          <a:solidFill>
                            <a:srgbClr val="101828"/>
                          </a:solidFill>
                          <a:latin typeface="Calibri"/>
                        </a:rPr>
                        <a:t>Apps SMEs</a:t>
                      </a:r>
                    </a:p>
                  </a:txBody>
                  <a:tcPr marL="45720" marR="45720" marT="18288" marB="18288">
                    <a:solidFill>
                      <a:srgbClr val="FFFFFF"/>
                    </a:solidFill>
                  </a:tcPr>
                </a:tc>
              </a:tr>
              <a:tr h="486294">
                <a:tc>
                  <a:txBody>
                    <a:bodyPr wrap="square"/>
                    <a:lstStyle/>
                    <a:p>
                      <a:pPr algn="l"/>
                      <a:r>
                        <a:rPr sz="1000" b="0">
                          <a:solidFill>
                            <a:srgbClr val="101828"/>
                          </a:solidFill>
                          <a:latin typeface="Calibri"/>
                        </a:rPr>
                        <a:t>D6</a:t>
                      </a:r>
                    </a:p>
                  </a:txBody>
                  <a:tcPr marL="45720" marR="45720" marT="18288" marB="18288">
                    <a:solidFill>
                      <a:srgbClr val="F2F4F7"/>
                    </a:solidFill>
                  </a:tcPr>
                </a:tc>
                <a:tc>
                  <a:txBody>
                    <a:bodyPr wrap="square"/>
                    <a:lstStyle/>
                    <a:p>
                      <a:pPr algn="l"/>
                      <a:r>
                        <a:rPr sz="1000" b="0">
                          <a:solidFill>
                            <a:srgbClr val="101828"/>
                          </a:solidFill>
                          <a:latin typeface="Calibri"/>
                        </a:rPr>
                        <a:t>ADO retention window post-archive</a:t>
                      </a:r>
                    </a:p>
                  </a:txBody>
                  <a:tcPr marL="45720" marR="45720" marT="18288" marB="18288">
                    <a:solidFill>
                      <a:srgbClr val="F2F4F7"/>
                    </a:solidFill>
                  </a:tcPr>
                </a:tc>
                <a:tc>
                  <a:txBody>
                    <a:bodyPr wrap="square"/>
                    <a:lstStyle/>
                    <a:p>
                      <a:pPr algn="l"/>
                      <a:r>
                        <a:rPr sz="1000" b="0">
                          <a:solidFill>
                            <a:srgbClr val="101828"/>
                          </a:solidFill>
                          <a:latin typeface="Calibri"/>
                        </a:rPr>
                        <a:t>90 days read-only, then delete</a:t>
                      </a:r>
                    </a:p>
                  </a:txBody>
                  <a:tcPr marL="45720" marR="45720" marT="18288" marB="18288">
                    <a:solidFill>
                      <a:srgbClr val="F2F4F7"/>
                    </a:solidFill>
                  </a:tcPr>
                </a:tc>
                <a:tc>
                  <a:txBody>
                    <a:bodyPr wrap="square"/>
                    <a:lstStyle/>
                    <a:p>
                      <a:pPr algn="l"/>
                      <a:r>
                        <a:rPr sz="1000" b="0">
                          <a:solidFill>
                            <a:srgbClr val="101828"/>
                          </a:solidFill>
                          <a:latin typeface="Calibri"/>
                        </a:rPr>
                        <a:t>Sponsor + InfoSec</a:t>
                      </a:r>
                    </a:p>
                  </a:txBody>
                  <a:tcPr marL="45720" marR="45720" marT="18288" marB="18288">
                    <a:solidFill>
                      <a:srgbClr val="F2F4F7"/>
                    </a:solidFill>
                  </a:tcPr>
                </a:tc>
              </a:tr>
              <a:tr h="486294">
                <a:tc>
                  <a:txBody>
                    <a:bodyPr wrap="square"/>
                    <a:lstStyle/>
                    <a:p>
                      <a:pPr algn="l"/>
                      <a:r>
                        <a:rPr sz="1000" b="0">
                          <a:solidFill>
                            <a:srgbClr val="101828"/>
                          </a:solidFill>
                          <a:latin typeface="Calibri"/>
                        </a:rPr>
                        <a:t>D7</a:t>
                      </a:r>
                    </a:p>
                  </a:txBody>
                  <a:tcPr marL="45720" marR="45720" marT="18288" marB="18288">
                    <a:solidFill>
                      <a:srgbClr val="FFFFFF"/>
                    </a:solidFill>
                  </a:tcPr>
                </a:tc>
                <a:tc>
                  <a:txBody>
                    <a:bodyPr wrap="square"/>
                    <a:lstStyle/>
                    <a:p>
                      <a:pPr algn="l"/>
                      <a:r>
                        <a:rPr sz="1000" b="0">
                          <a:solidFill>
                            <a:srgbClr val="101828"/>
                          </a:solidFill>
                          <a:latin typeface="Calibri"/>
                        </a:rPr>
                        <a:t>Concurrent wave cap</a:t>
                      </a:r>
                    </a:p>
                  </a:txBody>
                  <a:tcPr marL="45720" marR="45720" marT="18288" marB="18288">
                    <a:solidFill>
                      <a:srgbClr val="FFFFFF"/>
                    </a:solidFill>
                  </a:tcPr>
                </a:tc>
                <a:tc>
                  <a:txBody>
                    <a:bodyPr wrap="square"/>
                    <a:lstStyle/>
                    <a:p>
                      <a:pPr algn="l"/>
                      <a:r>
                        <a:rPr sz="1000" b="0">
                          <a:solidFill>
                            <a:srgbClr val="101828"/>
                          </a:solidFill>
                          <a:latin typeface="Calibri"/>
                        </a:rPr>
                        <a:t>2 waves max in flight</a:t>
                      </a:r>
                    </a:p>
                  </a:txBody>
                  <a:tcPr marL="45720" marR="45720" marT="18288" marB="18288">
                    <a:solidFill>
                      <a:srgbClr val="FFFFFF"/>
                    </a:solidFill>
                  </a:tcPr>
                </a:tc>
                <a:tc>
                  <a:txBody>
                    <a:bodyPr wrap="square"/>
                    <a:lstStyle/>
                    <a:p>
                      <a:pPr algn="l"/>
                      <a:r>
                        <a:rPr sz="1000" b="0">
                          <a:solidFill>
                            <a:srgbClr val="101828"/>
                          </a:solidFill>
                          <a:latin typeface="Calibri"/>
                        </a:rPr>
                        <a:t>Steering</a:t>
                      </a:r>
                    </a:p>
                  </a:txBody>
                  <a:tcPr marL="45720" marR="45720" marT="18288" marB="18288">
                    <a:solidFill>
                      <a:srgbClr val="FFFFFF"/>
                    </a:solidFill>
                  </a:tcPr>
                </a:tc>
              </a:tr>
              <a:tr h="486294">
                <a:tc>
                  <a:txBody>
                    <a:bodyPr wrap="square"/>
                    <a:lstStyle/>
                    <a:p>
                      <a:pPr algn="l"/>
                      <a:r>
                        <a:rPr sz="1000" b="0">
                          <a:solidFill>
                            <a:srgbClr val="101828"/>
                          </a:solidFill>
                          <a:latin typeface="Calibri"/>
                        </a:rPr>
                        <a:t>D8</a:t>
                      </a:r>
                    </a:p>
                  </a:txBody>
                  <a:tcPr marL="45720" marR="45720" marT="18288" marB="18288">
                    <a:solidFill>
                      <a:srgbClr val="F2F4F7"/>
                    </a:solidFill>
                  </a:tcPr>
                </a:tc>
                <a:tc>
                  <a:txBody>
                    <a:bodyPr wrap="square"/>
                    <a:lstStyle/>
                    <a:p>
                      <a:pPr algn="l"/>
                      <a:r>
                        <a:rPr sz="1000" b="0">
                          <a:solidFill>
                            <a:srgbClr val="101828"/>
                          </a:solidFill>
                          <a:latin typeface="Calibri"/>
                        </a:rPr>
                        <a:t>Backup IAM resource for SAML / SCIM peak</a:t>
                      </a:r>
                    </a:p>
                  </a:txBody>
                  <a:tcPr marL="45720" marR="45720" marT="18288" marB="18288">
                    <a:solidFill>
                      <a:srgbClr val="F2F4F7"/>
                    </a:solidFill>
                  </a:tcPr>
                </a:tc>
                <a:tc>
                  <a:txBody>
                    <a:bodyPr wrap="square"/>
                    <a:lstStyle/>
                    <a:p>
                      <a:pPr algn="l"/>
                      <a:r>
                        <a:rPr sz="1000" b="0">
                          <a:solidFill>
                            <a:srgbClr val="101828"/>
                          </a:solidFill>
                          <a:latin typeface="Calibri"/>
                        </a:rPr>
                        <a:t>Identify named backup before Week 3</a:t>
                      </a:r>
                    </a:p>
                  </a:txBody>
                  <a:tcPr marL="45720" marR="45720" marT="18288" marB="18288">
                    <a:solidFill>
                      <a:srgbClr val="F2F4F7"/>
                    </a:solidFill>
                  </a:tcPr>
                </a:tc>
                <a:tc>
                  <a:txBody>
                    <a:bodyPr wrap="square"/>
                    <a:lstStyle/>
                    <a:p>
                      <a:pPr algn="l"/>
                      <a:r>
                        <a:rPr sz="1000" b="0">
                          <a:solidFill>
                            <a:srgbClr val="101828"/>
                          </a:solidFill>
                          <a:latin typeface="Calibri"/>
                        </a:rPr>
                        <a:t>Sponsor</a:t>
                      </a:r>
                    </a:p>
                  </a:txBody>
                  <a:tcPr marL="45720" marR="45720" marT="18288" marB="18288">
                    <a:solidFill>
                      <a:srgbClr val="F2F4F7"/>
                    </a:solidFill>
                  </a:tcPr>
                </a:tc>
              </a:tr>
              <a:tr h="486294">
                <a:tc>
                  <a:txBody>
                    <a:bodyPr wrap="square"/>
                    <a:lstStyle/>
                    <a:p>
                      <a:pPr algn="l"/>
                      <a:r>
                        <a:rPr sz="1000" b="0">
                          <a:solidFill>
                            <a:srgbClr val="101828"/>
                          </a:solidFill>
                          <a:latin typeface="Calibri"/>
                        </a:rPr>
                        <a:t>D9</a:t>
                      </a:r>
                    </a:p>
                  </a:txBody>
                  <a:tcPr marL="45720" marR="45720" marT="18288" marB="18288">
                    <a:solidFill>
                      <a:srgbClr val="FFFFFF"/>
                    </a:solidFill>
                  </a:tcPr>
                </a:tc>
                <a:tc>
                  <a:txBody>
                    <a:bodyPr wrap="square"/>
                    <a:lstStyle/>
                    <a:p>
                      <a:pPr algn="l"/>
                      <a:r>
                        <a:rPr sz="1000" b="0">
                          <a:solidFill>
                            <a:srgbClr val="101828"/>
                          </a:solidFill>
                          <a:latin typeface="Calibri"/>
                        </a:rPr>
                        <a:t>Hypercare on-call rota across waves</a:t>
                      </a:r>
                    </a:p>
                  </a:txBody>
                  <a:tcPr marL="45720" marR="45720" marT="18288" marB="18288">
                    <a:solidFill>
                      <a:srgbClr val="FFFFFF"/>
                    </a:solidFill>
                  </a:tcPr>
                </a:tc>
                <a:tc>
                  <a:txBody>
                    <a:bodyPr wrap="square"/>
                    <a:lstStyle/>
                    <a:p>
                      <a:pPr algn="l"/>
                      <a:r>
                        <a:rPr sz="1000" b="0">
                          <a:solidFill>
                            <a:srgbClr val="101828"/>
                          </a:solidFill>
                          <a:latin typeface="Calibri"/>
                        </a:rPr>
                        <a:t>Dedicated rota; no double-booking with delivery work</a:t>
                      </a:r>
                    </a:p>
                  </a:txBody>
                  <a:tcPr marL="45720" marR="45720" marT="18288" marB="18288">
                    <a:solidFill>
                      <a:srgbClr val="FFFFFF"/>
                    </a:solidFill>
                  </a:tcPr>
                </a:tc>
                <a:tc>
                  <a:txBody>
                    <a:bodyPr wrap="square"/>
                    <a:lstStyle/>
                    <a:p>
                      <a:pPr algn="l"/>
                      <a:r>
                        <a:rPr sz="1000" b="0">
                          <a:solidFill>
                            <a:srgbClr val="101828"/>
                          </a:solidFill>
                          <a:latin typeface="Calibri"/>
                        </a:rPr>
                        <a:t>PM</a:t>
                      </a:r>
                    </a:p>
                  </a:txBody>
                  <a:tcPr marL="45720" marR="45720" marT="18288" marB="18288">
                    <a:solidFill>
                      <a:srgbClr val="FFFFFF"/>
                    </a:solidFill>
                  </a:tcPr>
                </a:tc>
              </a:tr>
              <a:tr h="486300">
                <a:tc>
                  <a:txBody>
                    <a:bodyPr wrap="square"/>
                    <a:lstStyle/>
                    <a:p>
                      <a:pPr algn="l"/>
                      <a:r>
                        <a:rPr sz="1000" b="0">
                          <a:solidFill>
                            <a:srgbClr val="101828"/>
                          </a:solidFill>
                          <a:latin typeface="Calibri"/>
                        </a:rPr>
                        <a:t>D10</a:t>
                      </a:r>
                    </a:p>
                  </a:txBody>
                  <a:tcPr marL="45720" marR="45720" marT="18288" marB="18288">
                    <a:solidFill>
                      <a:srgbClr val="F2F4F7"/>
                    </a:solidFill>
                  </a:tcPr>
                </a:tc>
                <a:tc>
                  <a:txBody>
                    <a:bodyPr wrap="square"/>
                    <a:lstStyle/>
                    <a:p>
                      <a:pPr algn="l"/>
                      <a:r>
                        <a:rPr sz="1000" b="0">
                          <a:solidFill>
                            <a:srgbClr val="101828"/>
                          </a:solidFill>
                          <a:latin typeface="Calibri"/>
                        </a:rPr>
                        <a:t>Branch protection enforcement on day one?</a:t>
                      </a:r>
                    </a:p>
                  </a:txBody>
                  <a:tcPr marL="45720" marR="45720" marT="18288" marB="18288">
                    <a:solidFill>
                      <a:srgbClr val="F2F4F7"/>
                    </a:solidFill>
                  </a:tcPr>
                </a:tc>
                <a:tc>
                  <a:txBody>
                    <a:bodyPr wrap="square"/>
                    <a:lstStyle/>
                    <a:p>
                      <a:pPr algn="l"/>
                      <a:r>
                        <a:rPr sz="1000" b="0">
                          <a:solidFill>
                            <a:srgbClr val="101828"/>
                          </a:solidFill>
                          <a:latin typeface="Calibri"/>
                        </a:rPr>
                        <a:t>YES - block non-compliant pushes from cutover</a:t>
                      </a:r>
                    </a:p>
                  </a:txBody>
                  <a:tcPr marL="45720" marR="45720" marT="18288" marB="18288">
                    <a:solidFill>
                      <a:srgbClr val="F2F4F7"/>
                    </a:solidFill>
                  </a:tcPr>
                </a:tc>
                <a:tc>
                  <a:txBody>
                    <a:bodyPr wrap="square"/>
                    <a:lstStyle/>
                    <a:p>
                      <a:pPr algn="l"/>
                      <a:r>
                        <a:rPr sz="1000" b="0">
                          <a:solidFill>
                            <a:srgbClr val="101828"/>
                          </a:solidFill>
                          <a:latin typeface="Calibri"/>
                        </a:rPr>
                        <a:t>InfoSec</a:t>
                      </a:r>
                    </a:p>
                  </a:txBody>
                  <a:tcPr marL="45720" marR="45720" marT="18288" marB="18288">
                    <a:solidFill>
                      <a:srgbClr val="F2F4F7"/>
                    </a:solidFill>
                  </a:tcPr>
                </a:tc>
              </a:tr>
            </a:tbl>
          </a:graphicData>
        </a:graphic>
      </p:graphicFrame>
      <p:sp>
        <p:nvSpPr>
          <p:cNvPr id="8" name="TextBox 7"/>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9" name="TextBox 8"/>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Phase 2 Preview (Not in this estimate)</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Migrate CI/CD to GitHub Actions after Phase 1 close</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097280"/>
            <a:ext cx="5669280" cy="2743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097280"/>
            <a:ext cx="5669280" cy="4114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97280"/>
            <a:ext cx="5669280" cy="411480"/>
          </a:xfrm>
          <a:prstGeom prst="rect">
            <a:avLst/>
          </a:prstGeom>
          <a:noFill/>
        </p:spPr>
        <p:txBody>
          <a:bodyPr wrap="square" lIns="45720" rIns="45720" tIns="18288" bIns="18288" anchor="ctr">
            <a:spAutoFit/>
          </a:bodyPr>
          <a:lstStyle/>
          <a:p>
            <a:pPr algn="ctr"/>
            <a:r>
              <a:rPr sz="1300" b="1">
                <a:solidFill>
                  <a:srgbClr val="FFFFFF"/>
                </a:solidFill>
                <a:latin typeface="Calibri"/>
              </a:rPr>
              <a:t>Phase 2 Scope</a:t>
            </a:r>
          </a:p>
        </p:txBody>
      </p:sp>
      <p:sp>
        <p:nvSpPr>
          <p:cNvPr id="10" name="TextBox 9"/>
          <p:cNvSpPr txBox="1"/>
          <p:nvPr/>
        </p:nvSpPr>
        <p:spPr>
          <a:xfrm>
            <a:off x="502920" y="1645920"/>
            <a:ext cx="5486400" cy="2103120"/>
          </a:xfrm>
          <a:prstGeom prst="rect">
            <a:avLst/>
          </a:prstGeom>
          <a:noFill/>
        </p:spPr>
        <p:txBody>
          <a:bodyPr wrap="square" lIns="45720" rIns="45720" tIns="18288" bIns="18288" anchor="t">
            <a:spAutoFit/>
          </a:bodyPr>
          <a:lstStyle/>
          <a:p>
            <a:pPr algn="l"/>
            <a:r>
              <a:rPr sz="1100" b="0">
                <a:solidFill>
                  <a:srgbClr val="101828"/>
                </a:solidFill>
                <a:latin typeface="Calibri"/>
              </a:rPr>
              <a:t>- Convert Azure Pipelines -&gt; GitHub Actions</a:t>
            </a:r>
          </a:p>
          <a:p>
            <a:pPr algn="l"/>
            <a:r>
              <a:rPr sz="1100" b="0">
                <a:solidFill>
                  <a:srgbClr val="101828"/>
                </a:solidFill>
                <a:latin typeface="Calibri"/>
              </a:rPr>
              <a:t>  workflows (use gh actions-importer)</a:t>
            </a:r>
          </a:p>
          <a:p>
            <a:pPr algn="l"/>
            <a:r>
              <a:rPr sz="1100" b="0">
                <a:solidFill>
                  <a:srgbClr val="101828"/>
                </a:solidFill>
                <a:latin typeface="Calibri"/>
              </a:rPr>
              <a:t/>
            </a:r>
          </a:p>
          <a:p>
            <a:pPr algn="l"/>
            <a:r>
              <a:rPr sz="1100" b="0">
                <a:solidFill>
                  <a:srgbClr val="101828"/>
                </a:solidFill>
                <a:latin typeface="Calibri"/>
              </a:rPr>
              <a:t>- Re-platform Release pipelines to GitHub</a:t>
            </a:r>
          </a:p>
          <a:p>
            <a:pPr algn="l"/>
            <a:r>
              <a:rPr sz="1100" b="0">
                <a:solidFill>
                  <a:srgbClr val="101828"/>
                </a:solidFill>
                <a:latin typeface="Calibri"/>
              </a:rPr>
              <a:t>  Actions Environments + approvals + gates</a:t>
            </a:r>
          </a:p>
          <a:p>
            <a:pPr algn="l"/>
            <a:r>
              <a:rPr sz="1100" b="0">
                <a:solidFill>
                  <a:srgbClr val="101828"/>
                </a:solidFill>
                <a:latin typeface="Calibri"/>
              </a:rPr>
              <a:t/>
            </a:r>
          </a:p>
          <a:p>
            <a:pPr algn="l"/>
            <a:r>
              <a:rPr sz="1100" b="0">
                <a:solidFill>
                  <a:srgbClr val="101828"/>
                </a:solidFill>
                <a:latin typeface="Calibri"/>
              </a:rPr>
              <a:t>- Stand up self-hosted runners on Azure VMSS</a:t>
            </a:r>
          </a:p>
          <a:p>
            <a:pPr algn="l"/>
            <a:r>
              <a:rPr sz="1100" b="0">
                <a:solidFill>
                  <a:srgbClr val="101828"/>
                </a:solidFill>
                <a:latin typeface="Calibri"/>
              </a:rPr>
              <a:t/>
            </a:r>
          </a:p>
          <a:p>
            <a:pPr algn="l"/>
            <a:r>
              <a:rPr sz="1100" b="0">
                <a:solidFill>
                  <a:srgbClr val="101828"/>
                </a:solidFill>
                <a:latin typeface="Calibri"/>
              </a:rPr>
              <a:t>- OIDC federation to Azure subscriptions</a:t>
            </a:r>
          </a:p>
          <a:p>
            <a:pPr algn="l"/>
            <a:r>
              <a:rPr sz="1100" b="0">
                <a:solidFill>
                  <a:srgbClr val="101828"/>
                </a:solidFill>
                <a:latin typeface="Calibri"/>
              </a:rPr>
              <a:t>  (eliminate service-connection secrets)</a:t>
            </a:r>
          </a:p>
          <a:p>
            <a:pPr algn="l"/>
            <a:r>
              <a:rPr sz="1100" b="0">
                <a:solidFill>
                  <a:srgbClr val="101828"/>
                </a:solidFill>
                <a:latin typeface="Calibri"/>
              </a:rPr>
              <a:t/>
            </a:r>
          </a:p>
          <a:p>
            <a:pPr algn="l"/>
            <a:r>
              <a:rPr sz="1100" b="0">
                <a:solidFill>
                  <a:srgbClr val="101828"/>
                </a:solidFill>
                <a:latin typeface="Calibri"/>
              </a:rPr>
              <a:t>- Decommission Azure Pipelines / Releases</a:t>
            </a:r>
          </a:p>
        </p:txBody>
      </p:sp>
      <p:sp>
        <p:nvSpPr>
          <p:cNvPr id="11" name="Rectangle 10"/>
          <p:cNvSpPr/>
          <p:nvPr/>
        </p:nvSpPr>
        <p:spPr>
          <a:xfrm>
            <a:off x="6217920" y="1097280"/>
            <a:ext cx="5669280" cy="2743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097280"/>
            <a:ext cx="5669280" cy="41148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097280"/>
            <a:ext cx="5669280" cy="411480"/>
          </a:xfrm>
          <a:prstGeom prst="rect">
            <a:avLst/>
          </a:prstGeom>
          <a:noFill/>
        </p:spPr>
        <p:txBody>
          <a:bodyPr wrap="square" lIns="45720" rIns="45720" tIns="18288" bIns="18288" anchor="ctr">
            <a:spAutoFit/>
          </a:bodyPr>
          <a:lstStyle/>
          <a:p>
            <a:pPr algn="ctr"/>
            <a:r>
              <a:rPr sz="1300" b="1">
                <a:solidFill>
                  <a:srgbClr val="FFFFFF"/>
                </a:solidFill>
                <a:latin typeface="Calibri"/>
              </a:rPr>
              <a:t>Indicative Effort</a:t>
            </a:r>
          </a:p>
        </p:txBody>
      </p:sp>
      <p:graphicFrame>
        <p:nvGraphicFramePr>
          <p:cNvPr id="14" name="Table 13"/>
          <p:cNvGraphicFramePr>
            <a:graphicFrameLocks noGrp="1"/>
          </p:cNvGraphicFramePr>
          <p:nvPr/>
        </p:nvGraphicFramePr>
        <p:xfrm>
          <a:off x="6355080" y="1600200"/>
          <a:ext cx="5394958" cy="2103120"/>
        </p:xfrm>
        <a:graphic>
          <a:graphicData uri="http://schemas.openxmlformats.org/drawingml/2006/table">
            <a:tbl>
              <a:tblPr firstRow="1" bandRow="1">
                <a:tableStyleId>{5C22544A-7EE6-4342-B048-85BDC9FD1C3A}</a:tableStyleId>
              </a:tblPr>
              <a:tblGrid>
                <a:gridCol w="4114799"/>
                <a:gridCol w="1280159"/>
              </a:tblGrid>
              <a:tr h="300445">
                <a:tc>
                  <a:txBody>
                    <a:bodyPr wrap="square"/>
                    <a:lstStyle/>
                    <a:p>
                      <a:pPr algn="l"/>
                      <a:r>
                        <a:rPr sz="1100" b="1">
                          <a:solidFill>
                            <a:srgbClr val="FFFFFF"/>
                          </a:solidFill>
                          <a:latin typeface="Calibri"/>
                        </a:rPr>
                        <a:t>Theme</a:t>
                      </a:r>
                    </a:p>
                  </a:txBody>
                  <a:tcPr marL="45720" marR="45720" marT="18288" marB="18288">
                    <a:solidFill>
                      <a:srgbClr val="1F4D42"/>
                    </a:solidFill>
                  </a:tcPr>
                </a:tc>
                <a:tc>
                  <a:txBody>
                    <a:bodyPr wrap="square"/>
                    <a:lstStyle/>
                    <a:p>
                      <a:pPr algn="l"/>
                      <a:r>
                        <a:rPr sz="1100" b="1">
                          <a:solidFill>
                            <a:srgbClr val="FFFFFF"/>
                          </a:solidFill>
                          <a:latin typeface="Calibri"/>
                        </a:rPr>
                        <a:t>Effort</a:t>
                      </a:r>
                    </a:p>
                  </a:txBody>
                  <a:tcPr marL="45720" marR="45720" marT="18288" marB="18288">
                    <a:solidFill>
                      <a:srgbClr val="1F4D42"/>
                    </a:solidFill>
                  </a:tcPr>
                </a:tc>
              </a:tr>
              <a:tr h="300445">
                <a:tc>
                  <a:txBody>
                    <a:bodyPr wrap="square"/>
                    <a:lstStyle/>
                    <a:p>
                      <a:pPr algn="l"/>
                      <a:r>
                        <a:rPr sz="1100" b="0">
                          <a:solidFill>
                            <a:srgbClr val="101828"/>
                          </a:solidFill>
                          <a:latin typeface="Calibri"/>
                        </a:rPr>
                        <a:t>Actions Importer setup &amp; audit</a:t>
                      </a:r>
                    </a:p>
                  </a:txBody>
                  <a:tcPr marL="45720" marR="45720" marT="18288" marB="18288">
                    <a:solidFill>
                      <a:srgbClr val="FFFFFF"/>
                    </a:solidFill>
                  </a:tcPr>
                </a:tc>
                <a:tc>
                  <a:txBody>
                    <a:bodyPr wrap="square"/>
                    <a:lstStyle/>
                    <a:p>
                      <a:pPr algn="l"/>
                      <a:r>
                        <a:rPr sz="1100" b="0">
                          <a:solidFill>
                            <a:srgbClr val="101828"/>
                          </a:solidFill>
                          <a:latin typeface="Calibri"/>
                        </a:rPr>
                        <a:t>5 p-days</a:t>
                      </a:r>
                    </a:p>
                  </a:txBody>
                  <a:tcPr marL="45720" marR="45720" marT="18288" marB="18288">
                    <a:solidFill>
                      <a:srgbClr val="FFFFFF"/>
                    </a:solidFill>
                  </a:tcPr>
                </a:tc>
              </a:tr>
              <a:tr h="300445">
                <a:tc>
                  <a:txBody>
                    <a:bodyPr wrap="square"/>
                    <a:lstStyle/>
                    <a:p>
                      <a:pPr algn="l"/>
                      <a:r>
                        <a:rPr sz="1100" b="0">
                          <a:solidFill>
                            <a:srgbClr val="101828"/>
                          </a:solidFill>
                          <a:latin typeface="Calibri"/>
                        </a:rPr>
                        <a:t>Self-hosted runners (VMSS)</a:t>
                      </a:r>
                    </a:p>
                  </a:txBody>
                  <a:tcPr marL="45720" marR="45720" marT="18288" marB="18288">
                    <a:solidFill>
                      <a:srgbClr val="F2F4F7"/>
                    </a:solidFill>
                  </a:tcPr>
                </a:tc>
                <a:tc>
                  <a:txBody>
                    <a:bodyPr wrap="square"/>
                    <a:lstStyle/>
                    <a:p>
                      <a:pPr algn="l"/>
                      <a:r>
                        <a:rPr sz="1100" b="0">
                          <a:solidFill>
                            <a:srgbClr val="101828"/>
                          </a:solidFill>
                          <a:latin typeface="Calibri"/>
                        </a:rPr>
                        <a:t>8 p-days</a:t>
                      </a:r>
                    </a:p>
                  </a:txBody>
                  <a:tcPr marL="45720" marR="45720" marT="18288" marB="18288">
                    <a:solidFill>
                      <a:srgbClr val="F2F4F7"/>
                    </a:solidFill>
                  </a:tcPr>
                </a:tc>
              </a:tr>
              <a:tr h="300445">
                <a:tc>
                  <a:txBody>
                    <a:bodyPr wrap="square"/>
                    <a:lstStyle/>
                    <a:p>
                      <a:pPr algn="l"/>
                      <a:r>
                        <a:rPr sz="1100" b="0">
                          <a:solidFill>
                            <a:srgbClr val="101828"/>
                          </a:solidFill>
                          <a:latin typeface="Calibri"/>
                        </a:rPr>
                        <a:t>OIDC federation to Azure</a:t>
                      </a:r>
                    </a:p>
                  </a:txBody>
                  <a:tcPr marL="45720" marR="45720" marT="18288" marB="18288">
                    <a:solidFill>
                      <a:srgbClr val="FFFFFF"/>
                    </a:solidFill>
                  </a:tcPr>
                </a:tc>
                <a:tc>
                  <a:txBody>
                    <a:bodyPr wrap="square"/>
                    <a:lstStyle/>
                    <a:p>
                      <a:pPr algn="l"/>
                      <a:r>
                        <a:rPr sz="1100" b="0">
                          <a:solidFill>
                            <a:srgbClr val="101828"/>
                          </a:solidFill>
                          <a:latin typeface="Calibri"/>
                        </a:rPr>
                        <a:t>3 p-days</a:t>
                      </a:r>
                    </a:p>
                  </a:txBody>
                  <a:tcPr marL="45720" marR="45720" marT="18288" marB="18288">
                    <a:solidFill>
                      <a:srgbClr val="FFFFFF"/>
                    </a:solidFill>
                  </a:tcPr>
                </a:tc>
              </a:tr>
              <a:tr h="300445">
                <a:tc>
                  <a:txBody>
                    <a:bodyPr wrap="square"/>
                    <a:lstStyle/>
                    <a:p>
                      <a:pPr algn="l"/>
                      <a:r>
                        <a:rPr sz="1100" b="0">
                          <a:solidFill>
                            <a:srgbClr val="101828"/>
                          </a:solidFill>
                          <a:latin typeface="Calibri"/>
                        </a:rPr>
                        <a:t>Pipeline conversion (avg per pipeline)</a:t>
                      </a:r>
                    </a:p>
                  </a:txBody>
                  <a:tcPr marL="45720" marR="45720" marT="18288" marB="18288">
                    <a:solidFill>
                      <a:srgbClr val="F2F4F7"/>
                    </a:solidFill>
                  </a:tcPr>
                </a:tc>
                <a:tc>
                  <a:txBody>
                    <a:bodyPr wrap="square"/>
                    <a:lstStyle/>
                    <a:p>
                      <a:pPr algn="l"/>
                      <a:r>
                        <a:rPr sz="1100" b="0">
                          <a:solidFill>
                            <a:srgbClr val="101828"/>
                          </a:solidFill>
                          <a:latin typeface="Calibri"/>
                        </a:rPr>
                        <a:t>0.5-2 p-days</a:t>
                      </a:r>
                    </a:p>
                  </a:txBody>
                  <a:tcPr marL="45720" marR="45720" marT="18288" marB="18288">
                    <a:solidFill>
                      <a:srgbClr val="F2F4F7"/>
                    </a:solidFill>
                  </a:tcPr>
                </a:tc>
              </a:tr>
              <a:tr h="300445">
                <a:tc>
                  <a:txBody>
                    <a:bodyPr wrap="square"/>
                    <a:lstStyle/>
                    <a:p>
                      <a:pPr algn="l"/>
                      <a:r>
                        <a:rPr sz="1100" b="0">
                          <a:solidFill>
                            <a:srgbClr val="101828"/>
                          </a:solidFill>
                          <a:latin typeface="Calibri"/>
                        </a:rPr>
                        <a:t>Release pipeline conversion (per release)</a:t>
                      </a:r>
                    </a:p>
                  </a:txBody>
                  <a:tcPr marL="45720" marR="45720" marT="18288" marB="18288">
                    <a:solidFill>
                      <a:srgbClr val="FFFFFF"/>
                    </a:solidFill>
                  </a:tcPr>
                </a:tc>
                <a:tc>
                  <a:txBody>
                    <a:bodyPr wrap="square"/>
                    <a:lstStyle/>
                    <a:p>
                      <a:pPr algn="l"/>
                      <a:r>
                        <a:rPr sz="1100" b="0">
                          <a:solidFill>
                            <a:srgbClr val="101828"/>
                          </a:solidFill>
                          <a:latin typeface="Calibri"/>
                        </a:rPr>
                        <a:t>1-3 p-days</a:t>
                      </a:r>
                    </a:p>
                  </a:txBody>
                  <a:tcPr marL="45720" marR="45720" marT="18288" marB="18288">
                    <a:solidFill>
                      <a:srgbClr val="FFFFFF"/>
                    </a:solidFill>
                  </a:tcPr>
                </a:tc>
              </a:tr>
              <a:tr h="300450">
                <a:tc>
                  <a:txBody>
                    <a:bodyPr wrap="square"/>
                    <a:lstStyle/>
                    <a:p>
                      <a:pPr algn="l"/>
                      <a:r>
                        <a:rPr sz="1100" b="0">
                          <a:solidFill>
                            <a:srgbClr val="101828"/>
                          </a:solidFill>
                          <a:latin typeface="Calibri"/>
                        </a:rPr>
                        <a:t>Hypercare + cutover per wave</a:t>
                      </a:r>
                    </a:p>
                  </a:txBody>
                  <a:tcPr marL="45720" marR="45720" marT="18288" marB="18288">
                    <a:solidFill>
                      <a:srgbClr val="F2F4F7"/>
                    </a:solidFill>
                  </a:tcPr>
                </a:tc>
                <a:tc>
                  <a:txBody>
                    <a:bodyPr wrap="square"/>
                    <a:lstStyle/>
                    <a:p>
                      <a:pPr algn="l"/>
                      <a:r>
                        <a:rPr sz="1100" b="0">
                          <a:solidFill>
                            <a:srgbClr val="101828"/>
                          </a:solidFill>
                          <a:latin typeface="Calibri"/>
                        </a:rPr>
                        <a:t>3 p-days</a:t>
                      </a:r>
                    </a:p>
                  </a:txBody>
                  <a:tcPr marL="45720" marR="45720" marT="18288" marB="18288">
                    <a:solidFill>
                      <a:srgbClr val="F2F4F7"/>
                    </a:solidFill>
                  </a:tcPr>
                </a:tc>
              </a:tr>
            </a:tbl>
          </a:graphicData>
        </a:graphic>
      </p:graphicFrame>
      <p:sp>
        <p:nvSpPr>
          <p:cNvPr id="15" name="Rectangle 14"/>
          <p:cNvSpPr/>
          <p:nvPr/>
        </p:nvSpPr>
        <p:spPr>
          <a:xfrm>
            <a:off x="365760" y="4114800"/>
            <a:ext cx="11430000" cy="914400"/>
          </a:xfrm>
          <a:prstGeom prst="rect">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4114800"/>
            <a:ext cx="11430000" cy="914400"/>
          </a:xfrm>
          <a:prstGeom prst="rect">
            <a:avLst/>
          </a:prstGeom>
          <a:noFill/>
        </p:spPr>
        <p:txBody>
          <a:bodyPr wrap="square" lIns="45720" rIns="45720" tIns="18288" bIns="18288" anchor="ctr">
            <a:spAutoFit/>
          </a:bodyPr>
          <a:lstStyle/>
          <a:p>
            <a:pPr algn="ctr"/>
            <a:r>
              <a:rPr sz="2000" b="1">
                <a:solidFill>
                  <a:srgbClr val="101828"/>
                </a:solidFill>
                <a:latin typeface="Calibri"/>
              </a:rPr>
              <a:t>Indicative Phase 2 duration: 12-16 weeks   |   Effort: 200-250 person-days</a:t>
            </a:r>
          </a:p>
        </p:txBody>
      </p:sp>
      <p:sp>
        <p:nvSpPr>
          <p:cNvPr id="17" name="Rectangle 16"/>
          <p:cNvSpPr/>
          <p:nvPr/>
        </p:nvSpPr>
        <p:spPr>
          <a:xfrm>
            <a:off x="365760" y="5212080"/>
            <a:ext cx="11430000"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5257800"/>
            <a:ext cx="11155680" cy="274320"/>
          </a:xfrm>
          <a:prstGeom prst="rect">
            <a:avLst/>
          </a:prstGeom>
          <a:noFill/>
        </p:spPr>
        <p:txBody>
          <a:bodyPr wrap="square" lIns="45720" rIns="45720" tIns="18288" bIns="18288" anchor="t">
            <a:spAutoFit/>
          </a:bodyPr>
          <a:lstStyle/>
          <a:p>
            <a:pPr algn="l"/>
            <a:r>
              <a:rPr sz="1200" b="1">
                <a:solidFill>
                  <a:srgbClr val="1F4D42"/>
                </a:solidFill>
                <a:latin typeface="Calibri"/>
              </a:rPr>
              <a:t>Note</a:t>
            </a:r>
          </a:p>
        </p:txBody>
      </p:sp>
      <p:sp>
        <p:nvSpPr>
          <p:cNvPr id="19" name="TextBox 18"/>
          <p:cNvSpPr txBox="1"/>
          <p:nvPr/>
        </p:nvSpPr>
        <p:spPr>
          <a:xfrm>
            <a:off x="502920" y="5532120"/>
            <a:ext cx="11155680" cy="914400"/>
          </a:xfrm>
          <a:prstGeom prst="rect">
            <a:avLst/>
          </a:prstGeom>
          <a:noFill/>
        </p:spPr>
        <p:txBody>
          <a:bodyPr wrap="square" lIns="45720" rIns="45720" tIns="18288" bIns="18288" anchor="t">
            <a:spAutoFit/>
          </a:bodyPr>
          <a:lstStyle/>
          <a:p>
            <a:pPr algn="l"/>
            <a:r>
              <a:rPr sz="1100" b="0">
                <a:solidFill>
                  <a:srgbClr val="101828"/>
                </a:solidFill>
                <a:latin typeface="Calibri"/>
              </a:rPr>
              <a:t>A detailed Phase 2 estimate should be produced at Phase 1 close (M5)</a:t>
            </a:r>
          </a:p>
          <a:p>
            <a:pPr algn="l"/>
            <a:r>
              <a:rPr sz="1100" b="0">
                <a:solidFill>
                  <a:srgbClr val="101828"/>
                </a:solidFill>
                <a:latin typeface="Calibri"/>
              </a:rPr>
              <a:t>when actual pipeline counts, Classic vs YAML ratio, and per-environment release complexity are known.</a:t>
            </a:r>
          </a:p>
          <a:p>
            <a:pPr algn="l"/>
            <a:r>
              <a:rPr sz="1100" b="0">
                <a:solidFill>
                  <a:srgbClr val="101828"/>
                </a:solidFill>
                <a:latin typeface="Calibri"/>
              </a:rPr>
              <a:t>Phase 2 is dependent on a successful Phase 1 hypercare exit -- it is not initiated in parallel.</a:t>
            </a:r>
          </a:p>
        </p:txBody>
      </p:sp>
      <p:sp>
        <p:nvSpPr>
          <p:cNvPr id="20" name="TextBox 19"/>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21" name="TextBox 20"/>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j-logo.png"/>
          <p:cNvPicPr>
            <a:picLocks noChangeAspect="1"/>
          </p:cNvPicPr>
          <p:nvPr/>
        </p:nvPicPr>
        <p:blipFill>
          <a:blip r:embed="rId2"/>
          <a:stretch>
            <a:fillRect/>
          </a:stretch>
        </p:blipFill>
        <p:spPr>
          <a:xfrm>
            <a:off x="137160" y="91440"/>
            <a:ext cx="1640205" cy="640080"/>
          </a:xfrm>
          <a:prstGeom prst="rect">
            <a:avLst/>
          </a:prstGeom>
        </p:spPr>
      </p:pic>
      <p:sp>
        <p:nvSpPr>
          <p:cNvPr id="4" name="TextBox 3"/>
          <p:cNvSpPr txBox="1"/>
          <p:nvPr/>
        </p:nvSpPr>
        <p:spPr>
          <a:xfrm>
            <a:off x="2103120" y="109728"/>
            <a:ext cx="9784080" cy="457200"/>
          </a:xfrm>
          <a:prstGeom prst="rect">
            <a:avLst/>
          </a:prstGeom>
          <a:noFill/>
        </p:spPr>
        <p:txBody>
          <a:bodyPr wrap="square" lIns="45720" rIns="45720" tIns="18288" bIns="18288" anchor="ctr">
            <a:spAutoFit/>
          </a:bodyPr>
          <a:lstStyle/>
          <a:p>
            <a:pPr algn="l"/>
            <a:r>
              <a:rPr sz="2400" b="1">
                <a:solidFill>
                  <a:srgbClr val="FFFFFF"/>
                </a:solidFill>
                <a:latin typeface="Calibri"/>
              </a:rPr>
              <a:t>Next Steps</a:t>
            </a:r>
          </a:p>
        </p:txBody>
      </p:sp>
      <p:sp>
        <p:nvSpPr>
          <p:cNvPr id="5" name="TextBox 4"/>
          <p:cNvSpPr txBox="1"/>
          <p:nvPr/>
        </p:nvSpPr>
        <p:spPr>
          <a:xfrm>
            <a:off x="2103120" y="502920"/>
            <a:ext cx="9784080" cy="274320"/>
          </a:xfrm>
          <a:prstGeom prst="rect">
            <a:avLst/>
          </a:prstGeom>
          <a:noFill/>
        </p:spPr>
        <p:txBody>
          <a:bodyPr wrap="square" lIns="45720" rIns="45720" tIns="18288" bIns="18288" anchor="ctr">
            <a:spAutoFit/>
          </a:bodyPr>
          <a:lstStyle/>
          <a:p>
            <a:pPr algn="l"/>
            <a:r>
              <a:rPr sz="1200" b="0">
                <a:solidFill>
                  <a:srgbClr val="CBD2D9"/>
                </a:solidFill>
                <a:latin typeface="Calibri"/>
              </a:rPr>
              <a:t>Decisions and actions to authorise Week 1</a:t>
            </a:r>
          </a:p>
        </p:txBody>
      </p:sp>
      <p:sp>
        <p:nvSpPr>
          <p:cNvPr id="6" name="Rectangle 5"/>
          <p:cNvSpPr/>
          <p:nvPr/>
        </p:nvSpPr>
        <p:spPr>
          <a:xfrm>
            <a:off x="0" y="822960"/>
            <a:ext cx="12191695" cy="45720"/>
          </a:xfrm>
          <a:prstGeom prst="rect">
            <a:avLst/>
          </a:prstGeom>
          <a:solidFill>
            <a:srgbClr val="387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097280"/>
            <a:ext cx="548640" cy="6400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97280"/>
            <a:ext cx="548640" cy="640080"/>
          </a:xfrm>
          <a:prstGeom prst="rect">
            <a:avLst/>
          </a:prstGeom>
          <a:noFill/>
        </p:spPr>
        <p:txBody>
          <a:bodyPr wrap="square" lIns="45720" rIns="45720" tIns="18288" bIns="18288" anchor="ctr">
            <a:spAutoFit/>
          </a:bodyPr>
          <a:lstStyle/>
          <a:p>
            <a:pPr algn="ctr"/>
            <a:r>
              <a:rPr sz="2000" b="1">
                <a:solidFill>
                  <a:srgbClr val="D4A84B"/>
                </a:solidFill>
                <a:latin typeface="Calibri"/>
              </a:rPr>
              <a:t>1</a:t>
            </a:r>
          </a:p>
        </p:txBody>
      </p:sp>
      <p:sp>
        <p:nvSpPr>
          <p:cNvPr id="9" name="Rectangle 8"/>
          <p:cNvSpPr/>
          <p:nvPr/>
        </p:nvSpPr>
        <p:spPr>
          <a:xfrm>
            <a:off x="960120" y="1097280"/>
            <a:ext cx="10835640" cy="6400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1143000"/>
            <a:ext cx="10607040" cy="274320"/>
          </a:xfrm>
          <a:prstGeom prst="rect">
            <a:avLst/>
          </a:prstGeom>
          <a:noFill/>
        </p:spPr>
        <p:txBody>
          <a:bodyPr wrap="square" lIns="45720" rIns="45720" tIns="18288" bIns="18288" anchor="t">
            <a:spAutoFit/>
          </a:bodyPr>
          <a:lstStyle/>
          <a:p>
            <a:pPr algn="l"/>
            <a:r>
              <a:rPr sz="1200" b="1">
                <a:solidFill>
                  <a:srgbClr val="1F4D42"/>
                </a:solidFill>
                <a:latin typeface="Calibri"/>
              </a:rPr>
              <a:t>Confirm Phase 1 scope and approach</a:t>
            </a:r>
          </a:p>
        </p:txBody>
      </p:sp>
      <p:sp>
        <p:nvSpPr>
          <p:cNvPr id="11" name="TextBox 10"/>
          <p:cNvSpPr txBox="1"/>
          <p:nvPr/>
        </p:nvSpPr>
        <p:spPr>
          <a:xfrm>
            <a:off x="1097280" y="1417320"/>
            <a:ext cx="10607040" cy="320040"/>
          </a:xfrm>
          <a:prstGeom prst="rect">
            <a:avLst/>
          </a:prstGeom>
          <a:noFill/>
        </p:spPr>
        <p:txBody>
          <a:bodyPr wrap="square" lIns="45720" rIns="45720" tIns="18288" bIns="18288" anchor="t">
            <a:spAutoFit/>
          </a:bodyPr>
          <a:lstStyle/>
          <a:p>
            <a:pPr algn="l"/>
            <a:r>
              <a:rPr sz="1000" b="0">
                <a:solidFill>
                  <a:srgbClr val="101828"/>
                </a:solidFill>
                <a:latin typeface="Calibri"/>
              </a:rPr>
              <a:t>Steering signs off this deck. Locks the hybrid model: code in GHE, work items + releases in ADO.</a:t>
            </a:r>
          </a:p>
        </p:txBody>
      </p:sp>
      <p:sp>
        <p:nvSpPr>
          <p:cNvPr id="12" name="Rectangle 11"/>
          <p:cNvSpPr/>
          <p:nvPr/>
        </p:nvSpPr>
        <p:spPr>
          <a:xfrm>
            <a:off x="365760" y="1783080"/>
            <a:ext cx="548640" cy="6400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783080"/>
            <a:ext cx="548640" cy="640080"/>
          </a:xfrm>
          <a:prstGeom prst="rect">
            <a:avLst/>
          </a:prstGeom>
          <a:noFill/>
        </p:spPr>
        <p:txBody>
          <a:bodyPr wrap="square" lIns="45720" rIns="45720" tIns="18288" bIns="18288" anchor="ctr">
            <a:spAutoFit/>
          </a:bodyPr>
          <a:lstStyle/>
          <a:p>
            <a:pPr algn="ctr"/>
            <a:r>
              <a:rPr sz="2000" b="1">
                <a:solidFill>
                  <a:srgbClr val="D4A84B"/>
                </a:solidFill>
                <a:latin typeface="Calibri"/>
              </a:rPr>
              <a:t>2</a:t>
            </a:r>
          </a:p>
        </p:txBody>
      </p:sp>
      <p:sp>
        <p:nvSpPr>
          <p:cNvPr id="14" name="Rectangle 13"/>
          <p:cNvSpPr/>
          <p:nvPr/>
        </p:nvSpPr>
        <p:spPr>
          <a:xfrm>
            <a:off x="960120" y="1783080"/>
            <a:ext cx="10835640" cy="6400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1828800"/>
            <a:ext cx="10607040" cy="274320"/>
          </a:xfrm>
          <a:prstGeom prst="rect">
            <a:avLst/>
          </a:prstGeom>
          <a:noFill/>
        </p:spPr>
        <p:txBody>
          <a:bodyPr wrap="square" lIns="45720" rIns="45720" tIns="18288" bIns="18288" anchor="t">
            <a:spAutoFit/>
          </a:bodyPr>
          <a:lstStyle/>
          <a:p>
            <a:pPr algn="l"/>
            <a:r>
              <a:rPr sz="1200" b="1">
                <a:solidFill>
                  <a:srgbClr val="1F4D42"/>
                </a:solidFill>
                <a:latin typeface="Calibri"/>
              </a:rPr>
              <a:t>Close the 10 mobilise decisions (D1-D10)</a:t>
            </a:r>
          </a:p>
        </p:txBody>
      </p:sp>
      <p:sp>
        <p:nvSpPr>
          <p:cNvPr id="16" name="TextBox 15"/>
          <p:cNvSpPr txBox="1"/>
          <p:nvPr/>
        </p:nvSpPr>
        <p:spPr>
          <a:xfrm>
            <a:off x="1097280" y="2103120"/>
            <a:ext cx="10607040" cy="320040"/>
          </a:xfrm>
          <a:prstGeom prst="rect">
            <a:avLst/>
          </a:prstGeom>
          <a:noFill/>
        </p:spPr>
        <p:txBody>
          <a:bodyPr wrap="square" lIns="45720" rIns="45720" tIns="18288" bIns="18288" anchor="t">
            <a:spAutoFit/>
          </a:bodyPr>
          <a:lstStyle/>
          <a:p>
            <a:pPr algn="l"/>
            <a:r>
              <a:rPr sz="1000" b="0">
                <a:solidFill>
                  <a:srgbClr val="101828"/>
                </a:solidFill>
                <a:latin typeface="Calibri"/>
              </a:rPr>
              <a:t>Especially: pilot 5 repos, GHAS in/out, mannequin policy, backup IAM resource.</a:t>
            </a:r>
          </a:p>
        </p:txBody>
      </p:sp>
      <p:sp>
        <p:nvSpPr>
          <p:cNvPr id="17" name="Rectangle 16"/>
          <p:cNvSpPr/>
          <p:nvPr/>
        </p:nvSpPr>
        <p:spPr>
          <a:xfrm>
            <a:off x="365760" y="2468880"/>
            <a:ext cx="548640" cy="6400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2468880"/>
            <a:ext cx="548640" cy="640080"/>
          </a:xfrm>
          <a:prstGeom prst="rect">
            <a:avLst/>
          </a:prstGeom>
          <a:noFill/>
        </p:spPr>
        <p:txBody>
          <a:bodyPr wrap="square" lIns="45720" rIns="45720" tIns="18288" bIns="18288" anchor="ctr">
            <a:spAutoFit/>
          </a:bodyPr>
          <a:lstStyle/>
          <a:p>
            <a:pPr algn="ctr"/>
            <a:r>
              <a:rPr sz="2000" b="1">
                <a:solidFill>
                  <a:srgbClr val="D4A84B"/>
                </a:solidFill>
                <a:latin typeface="Calibri"/>
              </a:rPr>
              <a:t>3</a:t>
            </a:r>
          </a:p>
        </p:txBody>
      </p:sp>
      <p:sp>
        <p:nvSpPr>
          <p:cNvPr id="19" name="Rectangle 18"/>
          <p:cNvSpPr/>
          <p:nvPr/>
        </p:nvSpPr>
        <p:spPr>
          <a:xfrm>
            <a:off x="960120" y="2468880"/>
            <a:ext cx="10835640" cy="6400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2514600"/>
            <a:ext cx="10607040" cy="274320"/>
          </a:xfrm>
          <a:prstGeom prst="rect">
            <a:avLst/>
          </a:prstGeom>
          <a:noFill/>
        </p:spPr>
        <p:txBody>
          <a:bodyPr wrap="square" lIns="45720" rIns="45720" tIns="18288" bIns="18288" anchor="t">
            <a:spAutoFit/>
          </a:bodyPr>
          <a:lstStyle/>
          <a:p>
            <a:pPr algn="l"/>
            <a:r>
              <a:rPr sz="1200" b="1">
                <a:solidFill>
                  <a:srgbClr val="1F4D42"/>
                </a:solidFill>
                <a:latin typeface="Calibri"/>
              </a:rPr>
              <a:t>Confirm GHE Enterprise (EMU) procurement and tenant</a:t>
            </a:r>
          </a:p>
        </p:txBody>
      </p:sp>
      <p:sp>
        <p:nvSpPr>
          <p:cNvPr id="21" name="TextBox 20"/>
          <p:cNvSpPr txBox="1"/>
          <p:nvPr/>
        </p:nvSpPr>
        <p:spPr>
          <a:xfrm>
            <a:off x="1097280" y="2788920"/>
            <a:ext cx="10607040" cy="320040"/>
          </a:xfrm>
          <a:prstGeom prst="rect">
            <a:avLst/>
          </a:prstGeom>
          <a:noFill/>
        </p:spPr>
        <p:txBody>
          <a:bodyPr wrap="square" lIns="45720" rIns="45720" tIns="18288" bIns="18288" anchor="t">
            <a:spAutoFit/>
          </a:bodyPr>
          <a:lstStyle/>
          <a:p>
            <a:pPr algn="l"/>
            <a:r>
              <a:rPr sz="1000" b="0">
                <a:solidFill>
                  <a:srgbClr val="101828"/>
                </a:solidFill>
                <a:latin typeface="Calibri"/>
              </a:rPr>
              <a:t>Procurement and licensing in place before Week 1.</a:t>
            </a:r>
          </a:p>
        </p:txBody>
      </p:sp>
      <p:sp>
        <p:nvSpPr>
          <p:cNvPr id="22" name="Rectangle 21"/>
          <p:cNvSpPr/>
          <p:nvPr/>
        </p:nvSpPr>
        <p:spPr>
          <a:xfrm>
            <a:off x="365760" y="3154680"/>
            <a:ext cx="548640" cy="6400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3154680"/>
            <a:ext cx="548640" cy="640080"/>
          </a:xfrm>
          <a:prstGeom prst="rect">
            <a:avLst/>
          </a:prstGeom>
          <a:noFill/>
        </p:spPr>
        <p:txBody>
          <a:bodyPr wrap="square" lIns="45720" rIns="45720" tIns="18288" bIns="18288" anchor="ctr">
            <a:spAutoFit/>
          </a:bodyPr>
          <a:lstStyle/>
          <a:p>
            <a:pPr algn="ctr"/>
            <a:r>
              <a:rPr sz="2000" b="1">
                <a:solidFill>
                  <a:srgbClr val="D4A84B"/>
                </a:solidFill>
                <a:latin typeface="Calibri"/>
              </a:rPr>
              <a:t>4</a:t>
            </a:r>
          </a:p>
        </p:txBody>
      </p:sp>
      <p:sp>
        <p:nvSpPr>
          <p:cNvPr id="24" name="Rectangle 23"/>
          <p:cNvSpPr/>
          <p:nvPr/>
        </p:nvSpPr>
        <p:spPr>
          <a:xfrm>
            <a:off x="960120" y="3154680"/>
            <a:ext cx="10835640" cy="6400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3200400"/>
            <a:ext cx="10607040" cy="274320"/>
          </a:xfrm>
          <a:prstGeom prst="rect">
            <a:avLst/>
          </a:prstGeom>
          <a:noFill/>
        </p:spPr>
        <p:txBody>
          <a:bodyPr wrap="square" lIns="45720" rIns="45720" tIns="18288" bIns="18288" anchor="t">
            <a:spAutoFit/>
          </a:bodyPr>
          <a:lstStyle/>
          <a:p>
            <a:pPr algn="l"/>
            <a:r>
              <a:rPr sz="1200" b="1">
                <a:solidFill>
                  <a:srgbClr val="1F4D42"/>
                </a:solidFill>
                <a:latin typeface="Calibri"/>
              </a:rPr>
              <a:t>Confirm team composition (8 roles)</a:t>
            </a:r>
          </a:p>
        </p:txBody>
      </p:sp>
      <p:sp>
        <p:nvSpPr>
          <p:cNvPr id="26" name="TextBox 25"/>
          <p:cNvSpPr txBox="1"/>
          <p:nvPr/>
        </p:nvSpPr>
        <p:spPr>
          <a:xfrm>
            <a:off x="1097280" y="3474720"/>
            <a:ext cx="10607040" cy="320040"/>
          </a:xfrm>
          <a:prstGeom prst="rect">
            <a:avLst/>
          </a:prstGeom>
          <a:noFill/>
        </p:spPr>
        <p:txBody>
          <a:bodyPr wrap="square" lIns="45720" rIns="45720" tIns="18288" bIns="18288" anchor="t">
            <a:spAutoFit/>
          </a:bodyPr>
          <a:lstStyle/>
          <a:p>
            <a:pPr algn="l"/>
            <a:r>
              <a:rPr sz="1000" b="0">
                <a:solidFill>
                  <a:srgbClr val="101828"/>
                </a:solidFill>
                <a:latin typeface="Calibri"/>
              </a:rPr>
              <a:t>Named individuals across PM, Tech Lead, IAM, 2x Platform, DevEx, InfoSec, Change.</a:t>
            </a:r>
          </a:p>
        </p:txBody>
      </p:sp>
      <p:sp>
        <p:nvSpPr>
          <p:cNvPr id="27" name="Rectangle 26"/>
          <p:cNvSpPr/>
          <p:nvPr/>
        </p:nvSpPr>
        <p:spPr>
          <a:xfrm>
            <a:off x="365760" y="3840480"/>
            <a:ext cx="548640" cy="6400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3840480"/>
            <a:ext cx="548640" cy="640080"/>
          </a:xfrm>
          <a:prstGeom prst="rect">
            <a:avLst/>
          </a:prstGeom>
          <a:noFill/>
        </p:spPr>
        <p:txBody>
          <a:bodyPr wrap="square" lIns="45720" rIns="45720" tIns="18288" bIns="18288" anchor="ctr">
            <a:spAutoFit/>
          </a:bodyPr>
          <a:lstStyle/>
          <a:p>
            <a:pPr algn="ctr"/>
            <a:r>
              <a:rPr sz="2000" b="1">
                <a:solidFill>
                  <a:srgbClr val="D4A84B"/>
                </a:solidFill>
                <a:latin typeface="Calibri"/>
              </a:rPr>
              <a:t>5</a:t>
            </a:r>
          </a:p>
        </p:txBody>
      </p:sp>
      <p:sp>
        <p:nvSpPr>
          <p:cNvPr id="29" name="Rectangle 28"/>
          <p:cNvSpPr/>
          <p:nvPr/>
        </p:nvSpPr>
        <p:spPr>
          <a:xfrm>
            <a:off x="960120" y="3840480"/>
            <a:ext cx="10835640" cy="6400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 y="3886200"/>
            <a:ext cx="10607040" cy="274320"/>
          </a:xfrm>
          <a:prstGeom prst="rect">
            <a:avLst/>
          </a:prstGeom>
          <a:noFill/>
        </p:spPr>
        <p:txBody>
          <a:bodyPr wrap="square" lIns="45720" rIns="45720" tIns="18288" bIns="18288" anchor="t">
            <a:spAutoFit/>
          </a:bodyPr>
          <a:lstStyle/>
          <a:p>
            <a:pPr algn="l"/>
            <a:r>
              <a:rPr sz="1200" b="1">
                <a:solidFill>
                  <a:srgbClr val="1F4D42"/>
                </a:solidFill>
                <a:latin typeface="Calibri"/>
              </a:rPr>
              <a:t>Book MoJ Entra ID admin for SAML + SCIM in Weeks 3-4</a:t>
            </a:r>
          </a:p>
        </p:txBody>
      </p:sp>
      <p:sp>
        <p:nvSpPr>
          <p:cNvPr id="31" name="TextBox 30"/>
          <p:cNvSpPr txBox="1"/>
          <p:nvPr/>
        </p:nvSpPr>
        <p:spPr>
          <a:xfrm>
            <a:off x="1097280" y="4160520"/>
            <a:ext cx="10607040" cy="320040"/>
          </a:xfrm>
          <a:prstGeom prst="rect">
            <a:avLst/>
          </a:prstGeom>
          <a:noFill/>
        </p:spPr>
        <p:txBody>
          <a:bodyPr wrap="square" lIns="45720" rIns="45720" tIns="18288" bIns="18288" anchor="t">
            <a:spAutoFit/>
          </a:bodyPr>
          <a:lstStyle/>
          <a:p>
            <a:pPr algn="l"/>
            <a:r>
              <a:rPr sz="1000" b="0">
                <a:solidFill>
                  <a:srgbClr val="101828"/>
                </a:solidFill>
                <a:latin typeface="Calibri"/>
              </a:rPr>
              <a:t>Highest-risk dependency. Must be booked at kick-off, not later.</a:t>
            </a:r>
          </a:p>
        </p:txBody>
      </p:sp>
      <p:sp>
        <p:nvSpPr>
          <p:cNvPr id="32" name="Rectangle 31"/>
          <p:cNvSpPr/>
          <p:nvPr/>
        </p:nvSpPr>
        <p:spPr>
          <a:xfrm>
            <a:off x="365760" y="4526280"/>
            <a:ext cx="548640" cy="6400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4526280"/>
            <a:ext cx="548640" cy="640080"/>
          </a:xfrm>
          <a:prstGeom prst="rect">
            <a:avLst/>
          </a:prstGeom>
          <a:noFill/>
        </p:spPr>
        <p:txBody>
          <a:bodyPr wrap="square" lIns="45720" rIns="45720" tIns="18288" bIns="18288" anchor="ctr">
            <a:spAutoFit/>
          </a:bodyPr>
          <a:lstStyle/>
          <a:p>
            <a:pPr algn="ctr"/>
            <a:r>
              <a:rPr sz="2000" b="1">
                <a:solidFill>
                  <a:srgbClr val="D4A84B"/>
                </a:solidFill>
                <a:latin typeface="Calibri"/>
              </a:rPr>
              <a:t>6</a:t>
            </a:r>
          </a:p>
        </p:txBody>
      </p:sp>
      <p:sp>
        <p:nvSpPr>
          <p:cNvPr id="34" name="Rectangle 33"/>
          <p:cNvSpPr/>
          <p:nvPr/>
        </p:nvSpPr>
        <p:spPr>
          <a:xfrm>
            <a:off x="960120" y="4526280"/>
            <a:ext cx="10835640" cy="6400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4572000"/>
            <a:ext cx="10607040" cy="274320"/>
          </a:xfrm>
          <a:prstGeom prst="rect">
            <a:avLst/>
          </a:prstGeom>
          <a:noFill/>
        </p:spPr>
        <p:txBody>
          <a:bodyPr wrap="square" lIns="45720" rIns="45720" tIns="18288" bIns="18288" anchor="t">
            <a:spAutoFit/>
          </a:bodyPr>
          <a:lstStyle/>
          <a:p>
            <a:pPr algn="l"/>
            <a:r>
              <a:rPr sz="1200" b="1">
                <a:solidFill>
                  <a:srgbClr val="1F4D42"/>
                </a:solidFill>
                <a:latin typeface="Calibri"/>
              </a:rPr>
              <a:t>Issue ADO PAT for migration service identity and vault it</a:t>
            </a:r>
          </a:p>
        </p:txBody>
      </p:sp>
      <p:sp>
        <p:nvSpPr>
          <p:cNvPr id="36" name="TextBox 35"/>
          <p:cNvSpPr txBox="1"/>
          <p:nvPr/>
        </p:nvSpPr>
        <p:spPr>
          <a:xfrm>
            <a:off x="1097280" y="4846320"/>
            <a:ext cx="10607040" cy="320040"/>
          </a:xfrm>
          <a:prstGeom prst="rect">
            <a:avLst/>
          </a:prstGeom>
          <a:noFill/>
        </p:spPr>
        <p:txBody>
          <a:bodyPr wrap="square" lIns="45720" rIns="45720" tIns="18288" bIns="18288" anchor="t">
            <a:spAutoFit/>
          </a:bodyPr>
          <a:lstStyle/>
          <a:p>
            <a:pPr algn="l"/>
            <a:r>
              <a:rPr sz="1000" b="0">
                <a:solidFill>
                  <a:srgbClr val="101828"/>
                </a:solidFill>
                <a:latin typeface="Calibri"/>
              </a:rPr>
              <a:t>Required by Platform team in Week 2 for inventory + dry-runs.</a:t>
            </a:r>
          </a:p>
        </p:txBody>
      </p:sp>
      <p:sp>
        <p:nvSpPr>
          <p:cNvPr id="37" name="Rectangle 36"/>
          <p:cNvSpPr/>
          <p:nvPr/>
        </p:nvSpPr>
        <p:spPr>
          <a:xfrm>
            <a:off x="365760" y="5212080"/>
            <a:ext cx="548640" cy="640080"/>
          </a:xfrm>
          <a:prstGeom prst="rect">
            <a:avLst/>
          </a:prstGeom>
          <a:solidFill>
            <a:srgbClr val="1F4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5212080"/>
            <a:ext cx="548640" cy="640080"/>
          </a:xfrm>
          <a:prstGeom prst="rect">
            <a:avLst/>
          </a:prstGeom>
          <a:noFill/>
        </p:spPr>
        <p:txBody>
          <a:bodyPr wrap="square" lIns="45720" rIns="45720" tIns="18288" bIns="18288" anchor="ctr">
            <a:spAutoFit/>
          </a:bodyPr>
          <a:lstStyle/>
          <a:p>
            <a:pPr algn="ctr"/>
            <a:r>
              <a:rPr sz="2000" b="1">
                <a:solidFill>
                  <a:srgbClr val="D4A84B"/>
                </a:solidFill>
                <a:latin typeface="Calibri"/>
              </a:rPr>
              <a:t>7</a:t>
            </a:r>
          </a:p>
        </p:txBody>
      </p:sp>
      <p:sp>
        <p:nvSpPr>
          <p:cNvPr id="39" name="Rectangle 38"/>
          <p:cNvSpPr/>
          <p:nvPr/>
        </p:nvSpPr>
        <p:spPr>
          <a:xfrm>
            <a:off x="960120" y="5212080"/>
            <a:ext cx="10835640" cy="6400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 y="5257800"/>
            <a:ext cx="10607040" cy="274320"/>
          </a:xfrm>
          <a:prstGeom prst="rect">
            <a:avLst/>
          </a:prstGeom>
          <a:noFill/>
        </p:spPr>
        <p:txBody>
          <a:bodyPr wrap="square" lIns="45720" rIns="45720" tIns="18288" bIns="18288" anchor="t">
            <a:spAutoFit/>
          </a:bodyPr>
          <a:lstStyle/>
          <a:p>
            <a:pPr algn="l"/>
            <a:r>
              <a:rPr sz="1200" b="1">
                <a:solidFill>
                  <a:srgbClr val="1F4D42"/>
                </a:solidFill>
                <a:latin typeface="Calibri"/>
              </a:rPr>
              <a:t>Kick off Stage 0 - Mobilise &amp; Discovery</a:t>
            </a:r>
          </a:p>
        </p:txBody>
      </p:sp>
      <p:sp>
        <p:nvSpPr>
          <p:cNvPr id="41" name="TextBox 40"/>
          <p:cNvSpPr txBox="1"/>
          <p:nvPr/>
        </p:nvSpPr>
        <p:spPr>
          <a:xfrm>
            <a:off x="1097280" y="5532120"/>
            <a:ext cx="10607040" cy="320040"/>
          </a:xfrm>
          <a:prstGeom prst="rect">
            <a:avLst/>
          </a:prstGeom>
          <a:noFill/>
        </p:spPr>
        <p:txBody>
          <a:bodyPr wrap="square" lIns="45720" rIns="45720" tIns="18288" bIns="18288" anchor="t">
            <a:spAutoFit/>
          </a:bodyPr>
          <a:lstStyle/>
          <a:p>
            <a:pPr algn="l"/>
            <a:r>
              <a:rPr sz="1000" b="0">
                <a:solidFill>
                  <a:srgbClr val="101828"/>
                </a:solidFill>
                <a:latin typeface="Calibri"/>
              </a:rPr>
              <a:t>Week 1 starts. Inventory of 100 repos begins. M1 gate at end of Week 2.</a:t>
            </a:r>
          </a:p>
        </p:txBody>
      </p:sp>
      <p:sp>
        <p:nvSpPr>
          <p:cNvPr id="42" name="TextBox 41"/>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a:solidFill>
                  <a:srgbClr val="4A5568"/>
                </a:solidFill>
                <a:latin typeface="Calibri"/>
              </a:rPr>
              <a:t>Saudi MoJ  |  ADO -&gt; GHE  |  Phase 1 Plan</a:t>
            </a:r>
          </a:p>
        </p:txBody>
      </p:sp>
      <p:sp>
        <p:nvSpPr>
          <p:cNvPr id="43" name="TextBox 42"/>
          <p:cNvSpPr txBox="1"/>
          <p:nvPr/>
        </p:nvSpPr>
        <p:spPr>
          <a:xfrm>
            <a:off x="10972800" y="6537960"/>
            <a:ext cx="1097280" cy="274320"/>
          </a:xfrm>
          <a:prstGeom prst="rect">
            <a:avLst/>
          </a:prstGeom>
          <a:noFill/>
        </p:spPr>
        <p:txBody>
          <a:bodyPr wrap="square" lIns="45720" rIns="45720" tIns="18288" bIns="18288" anchor="t">
            <a:spAutoFit/>
          </a:bodyPr>
          <a:lstStyle/>
          <a:p>
            <a:pPr algn="r"/>
            <a:r>
              <a:rPr sz="900" b="0">
                <a:solidFill>
                  <a:srgbClr val="4A5568"/>
                </a:solidFill>
                <a:latin typeface="Calibri"/>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